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8" r:id="rId5"/>
  </p:sldMasterIdLst>
  <p:sldIdLst>
    <p:sldId id="315" r:id="rId12"/>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1" r:id="rId29"/>
    <p:sldId id="332" r:id="rId30"/>
    <p:sldId id="333" r:id="rId31"/>
    <p:sldId id="334" r:id="rId32"/>
    <p:sldId id="335" r:id="rId33"/>
    <p:sldId id="336" r:id="rId34"/>
    <p:sldId id="337" r:id="rId35"/>
    <p:sldId id="338" r:id="rId36"/>
    <p:sldId id="339" r:id="rId37"/>
    <p:sldId id="340" r:id="rId38"/>
    <p:sldId id="341" r:id="rId39"/>
    <p:sldId id="342" r:id="rId40"/>
    <p:sldId id="343" r:id="rId41"/>
    <p:sldId id="344" r:id="rId42"/>
    <p:sldId id="345" r:id="rId43"/>
    <p:sldId id="346" r:id="rId44"/>
    <p:sldId id="347" r:id="rId45"/>
    <p:sldId id="348" r:id="rId46"/>
    <p:sldId id="349" r:id="rId47"/>
    <p:sldId id="350" r:id="rId48"/>
    <p:sldId id="351" r:id="rId49"/>
    <p:sldId id="31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49887D-4FC9-410D-9A07-46A0CF493F28}" v="1" dt="2026-05-04T12:30:37.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7" Type="http://schemas.openxmlformats.org/officeDocument/2006/relationships/slide" Target="slides/slide38.xml"/><Relationship Id="rId12" Type="http://schemas.openxmlformats.org/officeDocument/2006/relationships/slide" Target="slides/slide1.xml"/><Relationship Id="rId13" Type="http://schemas.openxmlformats.org/officeDocument/2006/relationships/notesMaster" Target="notesMasters/notesMaster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both interns. Today is about confidence: by 13:00 everyone has written, compiled and run real Java code. Intern B (CS/.NET) will find the first hour familiar; ask them to watch for the Java-vs-C# differences noted on the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hours with one 10-minute break at 10:20. The afternoon (14:00-16:45) is lab time on today's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aloud and come back to them at 12:50 for a quick self-check.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minutes for section 01 including the course map and how we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a recipe for a person tolerates vagueness ('a pinch of salt'). A computer does not. It does exactly what you write, in order, no more. Most beginner bugs are the computer doing what you wrote, not what you meant.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is compiled to bytecode, not to machine code. The JVM translates bytecode for each operating system. That is why the same .class file runs on Windows, macOS and Linux. Intern B: same idea as C# -&gt; IL -&gt; CLR.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Nested boxes: the JDK contains everything. Developers install the JDK. JRE is the runtime part; since Java 11 there is no separate JRE download, but the term still appears in interviews. Classic interview question: 'Difference between JDK, JRE and JVM?'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one real example: booking a doctor in an app. The phone sends a request, the backend checks rules and saves it, the database stores it. This course trains you to build the middle 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booking app again. Each card maps to a course week: APIs (W5), data (W6), rules (W1-6), security and tests (W7).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where today sits. Weeks 1-4 are Java and data foundations; weeks 5-8 build real backends. Intern B moves faster in weeks 1-4 on their own track.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now. Two rules matter most: ask after 45 minutes stuck, and push code every day (Git starts Wednesday; until then, save locally).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minutes. If setup clinic went well this is a quick verification. Fix problems now, not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intern runs the three commands and shows you the output. Common fixes are in the course doc's setup table (PATH, JAVA_HOME, old JDK).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live, then both interns repeat. Name the project session-01. Show Shift+F10 / Ctrl+R and where the Run window appears.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minutes: compact form, classic form, terminal, reading errors.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25 lets beginners skip 'public static' and the class for the first program (JEP 512). Type it, run it, then change the message. This only works on JDK 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company codebase, tutorial and interview uses this form, so from now on we write it. Explain each word briefly; 'static' and 'String[] args' get real explanations in weeks 2-3. Intern B: like C#'s static void Main.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 hides these steps; seeing them once removes the magic. Open the IntelliJ terminal (Alt+F12) in the src folder and run each 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this live: introduce each error on purpose, run, read the message top line, fix. Habit to build: the first error line tells you the file and line number.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minutes, the core of today. Keep switching between slides and IntelliJ.</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has a type (what kind of box), a name (the label) and a value (what is inside). The type cannot change; the value can. Ask: what happens if we write age = "twenty"? (compile error)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 and double cover 90% of beginner programs. Mention: long needs the L suffix; char uses single quotes; String uses double quotes and is a class, not a primitive.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Naming conventions are not optional at work; code review will flag them. var only works for local variables with an initial value. Intern B: var and final behave like C#'s var and readonly/const respectively (roughly).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quickly through comparison and logical; they get real use on Wednesday with if/else. Spend time on % (remainder): it is used everywhere (even/odd, wrap-around).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them to predict each line before running. Real bug example: average of grades computed with ints loses the decimals.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Widening is safe and automatic. Narrowing can lose data, so Java forces you to write the cast. (int) truncates; it does not round. Math.round exists for rounding.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last two lines and let them explain the difference: Java evaluates left to right; once a String appears, + means 'join'. == on Strings comes in week 2 with stack vs heap; for now always use .equals().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minutes. Live coding is the most valuable part of the session: narrate your thinking, make and fix mistakes.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it live. Point out the import line, creating one Scanner, print vs println, and the parentheses in (age + 1). Ask: what happens without the parentheses? (string concatenation: "221")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bug live: city comes out empty. Explain that nextInt reads '22' but leaves the Enter key in the input. Every Java beginner hits this once.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it step by step: read inputs first, print them back, then compute. Use printf with %.2f for money. Then ask: what if people is 0? (division by zero: ArithmeticException for ints, Infinity for doubles; we handle it with if on Wednesday).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A) 2   B) 2   C) Sum: 23   D) 9. Each intern answers on paper first, then run to check. Discuss C: string joining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Exercises 1-5 for everyone; 6 is a stretch. Intern B: do all six quickly, then start the Java-for-C#-developers sheet. Save in the session-01 project; we push to GitHub on Wednesday. Starter files and solutions are in the code pack.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 code pack and the course document link at the start of the lab. Release lab/solutions only after 16:45.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link is clickable in slideshow mode. Arabic first for understanding, English for exact details. The same list is in the course document.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Tuesday is a full internship day: lab completion, study and practice. Intern B has a separate track. Session 1B on Wednesday covers conditions, loops, the debugger and Git.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intern to say one thing they learned and one thing that is still unclear. Note the unclear items for Wednesday's recap.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time. Remind: lab starts at 14:00; post the daily log at 16:45.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svg"/><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10.jpeg"/><Relationship Id="rId4"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A3277D6-61D2-6AFC-65EC-88AA842228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413" y="-65988"/>
            <a:ext cx="12349112" cy="6969720"/>
          </a:xfrm>
          <a:prstGeom prst="rect">
            <a:avLst/>
          </a:prstGeom>
        </p:spPr>
      </p:pic>
      <p:pic>
        <p:nvPicPr>
          <p:cNvPr id="8" name="Graphic 7">
            <a:extLst>
              <a:ext uri="{FF2B5EF4-FFF2-40B4-BE49-F238E27FC236}">
                <a16:creationId xmlns:a16="http://schemas.microsoft.com/office/drawing/2014/main" id="{8CC7D7DC-0F2E-2B62-710B-701F131C89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23380" y="0"/>
            <a:ext cx="5553585" cy="5611908"/>
          </a:xfrm>
          <a:prstGeom prst="rect">
            <a:avLst/>
          </a:prstGeom>
        </p:spPr>
      </p:pic>
      <p:sp>
        <p:nvSpPr>
          <p:cNvPr id="10" name="Picture Placeholder 70">
            <a:extLst>
              <a:ext uri="{FF2B5EF4-FFF2-40B4-BE49-F238E27FC236}">
                <a16:creationId xmlns:a16="http://schemas.microsoft.com/office/drawing/2014/main" id="{33C6576E-AA77-204E-BAA1-F6ACD6022681}"/>
              </a:ext>
            </a:extLst>
          </p:cNvPr>
          <p:cNvSpPr>
            <a:spLocks noGrp="1"/>
          </p:cNvSpPr>
          <p:nvPr>
            <p:ph type="pic" sz="quarter" idx="10"/>
          </p:nvPr>
        </p:nvSpPr>
        <p:spPr>
          <a:xfrm>
            <a:off x="6063006" y="1443699"/>
            <a:ext cx="4504697" cy="4553736"/>
          </a:xfrm>
          <a:custGeom>
            <a:avLst/>
            <a:gdLst>
              <a:gd name="connsiteX0" fmla="*/ 2659033 w 3998174"/>
              <a:gd name="connsiteY0" fmla="*/ 0 h 4041699"/>
              <a:gd name="connsiteX1" fmla="*/ 3998174 w 3998174"/>
              <a:gd name="connsiteY1" fmla="*/ 0 h 4041699"/>
              <a:gd name="connsiteX2" fmla="*/ 3998174 w 3998174"/>
              <a:gd name="connsiteY2" fmla="*/ 4041699 h 4041699"/>
              <a:gd name="connsiteX3" fmla="*/ 1090763 w 3998174"/>
              <a:gd name="connsiteY3" fmla="*/ 4041699 h 4041699"/>
              <a:gd name="connsiteX4" fmla="*/ 1085848 w 3998174"/>
              <a:gd name="connsiteY4" fmla="*/ 3822541 h 4041699"/>
              <a:gd name="connsiteX5" fmla="*/ 238552 w 3998174"/>
              <a:gd name="connsiteY5" fmla="*/ 1328646 h 4041699"/>
              <a:gd name="connsiteX6" fmla="*/ 0 w 3998174"/>
              <a:gd name="connsiteY6" fmla="*/ 998002 h 4041699"/>
              <a:gd name="connsiteX7" fmla="*/ 0 w 3998174"/>
              <a:gd name="connsiteY7" fmla="*/ 997999 h 4041699"/>
              <a:gd name="connsiteX8" fmla="*/ 276566 w 3998174"/>
              <a:gd name="connsiteY8" fmla="*/ 776711 h 4041699"/>
              <a:gd name="connsiteX9" fmla="*/ 2659033 w 3998174"/>
              <a:gd name="connsiteY9" fmla="*/ 0 h 404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8174" h="4041699">
                <a:moveTo>
                  <a:pt x="2659033" y="0"/>
                </a:moveTo>
                <a:lnTo>
                  <a:pt x="3998174" y="0"/>
                </a:lnTo>
                <a:lnTo>
                  <a:pt x="3998174" y="4041699"/>
                </a:lnTo>
                <a:lnTo>
                  <a:pt x="1090763" y="4041699"/>
                </a:lnTo>
                <a:lnTo>
                  <a:pt x="1085848" y="3822541"/>
                </a:lnTo>
                <a:cubicBezTo>
                  <a:pt x="1043441" y="2881956"/>
                  <a:pt x="729072" y="2059070"/>
                  <a:pt x="238552" y="1328646"/>
                </a:cubicBezTo>
                <a:lnTo>
                  <a:pt x="0" y="998002"/>
                </a:lnTo>
                <a:lnTo>
                  <a:pt x="0" y="997999"/>
                </a:lnTo>
                <a:lnTo>
                  <a:pt x="276566" y="776711"/>
                </a:lnTo>
                <a:cubicBezTo>
                  <a:pt x="944682" y="288344"/>
                  <a:pt x="1768167" y="0"/>
                  <a:pt x="2659033" y="0"/>
                </a:cubicBez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83964930-A986-5A1B-B9ED-C10FCF2BBCA3}"/>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2554948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E70DFD6-7FCD-6AAB-D023-01BF81F148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0"/>
            <a:ext cx="12257988" cy="6897461"/>
          </a:xfrm>
          <a:prstGeom prst="rect">
            <a:avLst/>
          </a:prstGeom>
        </p:spPr>
      </p:pic>
      <p:sp>
        <p:nvSpPr>
          <p:cNvPr id="13" name="Picture Placeholder 59">
            <a:extLst>
              <a:ext uri="{FF2B5EF4-FFF2-40B4-BE49-F238E27FC236}">
                <a16:creationId xmlns:a16="http://schemas.microsoft.com/office/drawing/2014/main" id="{C17C03D7-BFB3-0407-ABDF-E8A9FD6264B9}"/>
              </a:ext>
            </a:extLst>
          </p:cNvPr>
          <p:cNvSpPr>
            <a:spLocks noGrp="1"/>
          </p:cNvSpPr>
          <p:nvPr>
            <p:ph type="pic" sz="quarter" idx="10"/>
          </p:nvPr>
        </p:nvSpPr>
        <p:spPr>
          <a:xfrm>
            <a:off x="6305387" y="0"/>
            <a:ext cx="5264150" cy="5872423"/>
          </a:xfrm>
          <a:custGeom>
            <a:avLst/>
            <a:gdLst>
              <a:gd name="connsiteX0" fmla="*/ 0 w 5264150"/>
              <a:gd name="connsiteY0" fmla="*/ 2948796 h 5872423"/>
              <a:gd name="connsiteX1" fmla="*/ 2645418 w 5264150"/>
              <a:gd name="connsiteY1" fmla="*/ 2948796 h 5872423"/>
              <a:gd name="connsiteX2" fmla="*/ 5261511 w 5264150"/>
              <a:gd name="connsiteY2" fmla="*/ 2948796 h 5872423"/>
              <a:gd name="connsiteX3" fmla="*/ 5264150 w 5264150"/>
              <a:gd name="connsiteY3" fmla="*/ 2948796 h 5872423"/>
              <a:gd name="connsiteX4" fmla="*/ 5264150 w 5264150"/>
              <a:gd name="connsiteY4" fmla="*/ 5872423 h 5872423"/>
              <a:gd name="connsiteX5" fmla="*/ 4980322 w 5264150"/>
              <a:gd name="connsiteY5" fmla="*/ 5872423 h 5872423"/>
              <a:gd name="connsiteX6" fmla="*/ 2657464 w 5264150"/>
              <a:gd name="connsiteY6" fmla="*/ 3775313 h 5872423"/>
              <a:gd name="connsiteX7" fmla="*/ 2645418 w 5264150"/>
              <a:gd name="connsiteY7" fmla="*/ 3538785 h 5872423"/>
              <a:gd name="connsiteX8" fmla="*/ 2645418 w 5264150"/>
              <a:gd name="connsiteY8" fmla="*/ 5872423 h 5872423"/>
              <a:gd name="connsiteX9" fmla="*/ 2334516 w 5264150"/>
              <a:gd name="connsiteY9" fmla="*/ 5872423 h 5872423"/>
              <a:gd name="connsiteX10" fmla="*/ 11726 w 5264150"/>
              <a:gd name="connsiteY10" fmla="*/ 3775370 h 5872423"/>
              <a:gd name="connsiteX11" fmla="*/ 0 w 5264150"/>
              <a:gd name="connsiteY11" fmla="*/ 3545136 h 5872423"/>
              <a:gd name="connsiteX12" fmla="*/ 0 w 5264150"/>
              <a:gd name="connsiteY12" fmla="*/ 0 h 5872423"/>
              <a:gd name="connsiteX13" fmla="*/ 2645418 w 5264150"/>
              <a:gd name="connsiteY13" fmla="*/ 0 h 5872423"/>
              <a:gd name="connsiteX14" fmla="*/ 2653008 w 5264150"/>
              <a:gd name="connsiteY14" fmla="*/ 0 h 5872423"/>
              <a:gd name="connsiteX15" fmla="*/ 2675132 w 5264150"/>
              <a:gd name="connsiteY15" fmla="*/ 0 h 5872423"/>
              <a:gd name="connsiteX16" fmla="*/ 2710820 w 5264150"/>
              <a:gd name="connsiteY16" fmla="*/ 0 h 5872423"/>
              <a:gd name="connsiteX17" fmla="*/ 2759105 w 5264150"/>
              <a:gd name="connsiteY17" fmla="*/ 0 h 5872423"/>
              <a:gd name="connsiteX18" fmla="*/ 2819017 w 5264150"/>
              <a:gd name="connsiteY18" fmla="*/ 0 h 5872423"/>
              <a:gd name="connsiteX19" fmla="*/ 2889587 w 5264150"/>
              <a:gd name="connsiteY19" fmla="*/ 0 h 5872423"/>
              <a:gd name="connsiteX20" fmla="*/ 2969846 w 5264150"/>
              <a:gd name="connsiteY20" fmla="*/ 0 h 5872423"/>
              <a:gd name="connsiteX21" fmla="*/ 3058825 w 5264150"/>
              <a:gd name="connsiteY21" fmla="*/ 0 h 5872423"/>
              <a:gd name="connsiteX22" fmla="*/ 3155556 w 5264150"/>
              <a:gd name="connsiteY22" fmla="*/ 0 h 5872423"/>
              <a:gd name="connsiteX23" fmla="*/ 3259070 w 5264150"/>
              <a:gd name="connsiteY23" fmla="*/ 0 h 5872423"/>
              <a:gd name="connsiteX24" fmla="*/ 3482568 w 5264150"/>
              <a:gd name="connsiteY24" fmla="*/ 0 h 5872423"/>
              <a:gd name="connsiteX25" fmla="*/ 3721569 w 5264150"/>
              <a:gd name="connsiteY25" fmla="*/ 0 h 5872423"/>
              <a:gd name="connsiteX26" fmla="*/ 3968322 w 5264150"/>
              <a:gd name="connsiteY26" fmla="*/ 0 h 5872423"/>
              <a:gd name="connsiteX27" fmla="*/ 4215074 w 5264150"/>
              <a:gd name="connsiteY27" fmla="*/ 0 h 5872423"/>
              <a:gd name="connsiteX28" fmla="*/ 4454075 w 5264150"/>
              <a:gd name="connsiteY28" fmla="*/ 0 h 5872423"/>
              <a:gd name="connsiteX29" fmla="*/ 4677574 w 5264150"/>
              <a:gd name="connsiteY29" fmla="*/ 0 h 5872423"/>
              <a:gd name="connsiteX30" fmla="*/ 4781087 w 5264150"/>
              <a:gd name="connsiteY30" fmla="*/ 0 h 5872423"/>
              <a:gd name="connsiteX31" fmla="*/ 4877818 w 5264150"/>
              <a:gd name="connsiteY31" fmla="*/ 0 h 5872423"/>
              <a:gd name="connsiteX32" fmla="*/ 4966797 w 5264150"/>
              <a:gd name="connsiteY32" fmla="*/ 0 h 5872423"/>
              <a:gd name="connsiteX33" fmla="*/ 5047056 w 5264150"/>
              <a:gd name="connsiteY33" fmla="*/ 0 h 5872423"/>
              <a:gd name="connsiteX34" fmla="*/ 5117626 w 5264150"/>
              <a:gd name="connsiteY34" fmla="*/ 0 h 5872423"/>
              <a:gd name="connsiteX35" fmla="*/ 5177538 w 5264150"/>
              <a:gd name="connsiteY35" fmla="*/ 0 h 5872423"/>
              <a:gd name="connsiteX36" fmla="*/ 5225823 w 5264150"/>
              <a:gd name="connsiteY36" fmla="*/ 0 h 5872423"/>
              <a:gd name="connsiteX37" fmla="*/ 5261511 w 5264150"/>
              <a:gd name="connsiteY37" fmla="*/ 0 h 5872423"/>
              <a:gd name="connsiteX38" fmla="*/ 5264150 w 5264150"/>
              <a:gd name="connsiteY38" fmla="*/ 0 h 5872423"/>
              <a:gd name="connsiteX39" fmla="*/ 5264150 w 5264150"/>
              <a:gd name="connsiteY39" fmla="*/ 2923627 h 5872423"/>
              <a:gd name="connsiteX40" fmla="*/ 4980322 w 5264150"/>
              <a:gd name="connsiteY40" fmla="*/ 2923627 h 5872423"/>
              <a:gd name="connsiteX41" fmla="*/ 2657464 w 5264150"/>
              <a:gd name="connsiteY41" fmla="*/ 826517 h 5872423"/>
              <a:gd name="connsiteX42" fmla="*/ 2645418 w 5264150"/>
              <a:gd name="connsiteY42" fmla="*/ 589989 h 5872423"/>
              <a:gd name="connsiteX43" fmla="*/ 2645418 w 5264150"/>
              <a:gd name="connsiteY43" fmla="*/ 2923627 h 5872423"/>
              <a:gd name="connsiteX44" fmla="*/ 2334516 w 5264150"/>
              <a:gd name="connsiteY44" fmla="*/ 2923627 h 5872423"/>
              <a:gd name="connsiteX45" fmla="*/ 11726 w 5264150"/>
              <a:gd name="connsiteY45" fmla="*/ 826573 h 5872423"/>
              <a:gd name="connsiteX46" fmla="*/ 0 w 5264150"/>
              <a:gd name="connsiteY46" fmla="*/ 596340 h 587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264150" h="5872423">
                <a:moveTo>
                  <a:pt x="0" y="2948796"/>
                </a:moveTo>
                <a:lnTo>
                  <a:pt x="2645418" y="2948796"/>
                </a:lnTo>
                <a:cubicBezTo>
                  <a:pt x="2645418" y="2948796"/>
                  <a:pt x="4970834" y="2948796"/>
                  <a:pt x="5261511" y="2948796"/>
                </a:cubicBezTo>
                <a:lnTo>
                  <a:pt x="5264150" y="2948796"/>
                </a:lnTo>
                <a:lnTo>
                  <a:pt x="5264150" y="5872423"/>
                </a:lnTo>
                <a:lnTo>
                  <a:pt x="4980322" y="5872423"/>
                </a:lnTo>
                <a:cubicBezTo>
                  <a:pt x="3776390" y="5872423"/>
                  <a:pt x="2777609" y="4948947"/>
                  <a:pt x="2657464" y="3775313"/>
                </a:cubicBezTo>
                <a:lnTo>
                  <a:pt x="2645418" y="3538785"/>
                </a:lnTo>
                <a:lnTo>
                  <a:pt x="2645418" y="5872423"/>
                </a:lnTo>
                <a:lnTo>
                  <a:pt x="2334516" y="5872423"/>
                </a:lnTo>
                <a:cubicBezTo>
                  <a:pt x="1130584" y="5872487"/>
                  <a:pt x="131863" y="4948955"/>
                  <a:pt x="11726" y="3775370"/>
                </a:cubicBezTo>
                <a:lnTo>
                  <a:pt x="0" y="3545136"/>
                </a:lnTo>
                <a:close/>
                <a:moveTo>
                  <a:pt x="0" y="0"/>
                </a:moveTo>
                <a:lnTo>
                  <a:pt x="2645418" y="0"/>
                </a:lnTo>
                <a:lnTo>
                  <a:pt x="2653008" y="0"/>
                </a:lnTo>
                <a:lnTo>
                  <a:pt x="2675132" y="0"/>
                </a:lnTo>
                <a:lnTo>
                  <a:pt x="2710820" y="0"/>
                </a:lnTo>
                <a:lnTo>
                  <a:pt x="2759105" y="0"/>
                </a:lnTo>
                <a:lnTo>
                  <a:pt x="2819017" y="0"/>
                </a:lnTo>
                <a:lnTo>
                  <a:pt x="2889587" y="0"/>
                </a:lnTo>
                <a:lnTo>
                  <a:pt x="2969846" y="0"/>
                </a:lnTo>
                <a:lnTo>
                  <a:pt x="3058825" y="0"/>
                </a:lnTo>
                <a:lnTo>
                  <a:pt x="3155556" y="0"/>
                </a:lnTo>
                <a:lnTo>
                  <a:pt x="3259070" y="0"/>
                </a:lnTo>
                <a:lnTo>
                  <a:pt x="3482568" y="0"/>
                </a:lnTo>
                <a:lnTo>
                  <a:pt x="3721569" y="0"/>
                </a:lnTo>
                <a:lnTo>
                  <a:pt x="3968322" y="0"/>
                </a:lnTo>
                <a:lnTo>
                  <a:pt x="4215074" y="0"/>
                </a:lnTo>
                <a:lnTo>
                  <a:pt x="4454075" y="0"/>
                </a:lnTo>
                <a:lnTo>
                  <a:pt x="4677574" y="0"/>
                </a:lnTo>
                <a:lnTo>
                  <a:pt x="4781087" y="0"/>
                </a:lnTo>
                <a:lnTo>
                  <a:pt x="4877818" y="0"/>
                </a:lnTo>
                <a:lnTo>
                  <a:pt x="4966797" y="0"/>
                </a:lnTo>
                <a:lnTo>
                  <a:pt x="5047056" y="0"/>
                </a:lnTo>
                <a:lnTo>
                  <a:pt x="5117626" y="0"/>
                </a:lnTo>
                <a:lnTo>
                  <a:pt x="5177538" y="0"/>
                </a:lnTo>
                <a:lnTo>
                  <a:pt x="5225823" y="0"/>
                </a:lnTo>
                <a:lnTo>
                  <a:pt x="5261511" y="0"/>
                </a:lnTo>
                <a:lnTo>
                  <a:pt x="5264150" y="0"/>
                </a:lnTo>
                <a:lnTo>
                  <a:pt x="5264150" y="2923627"/>
                </a:lnTo>
                <a:lnTo>
                  <a:pt x="4980322" y="2923627"/>
                </a:lnTo>
                <a:cubicBezTo>
                  <a:pt x="3776390" y="2923627"/>
                  <a:pt x="2777609" y="2000151"/>
                  <a:pt x="2657464" y="826517"/>
                </a:cubicBezTo>
                <a:lnTo>
                  <a:pt x="2645418" y="589989"/>
                </a:lnTo>
                <a:lnTo>
                  <a:pt x="2645418" y="2923627"/>
                </a:lnTo>
                <a:lnTo>
                  <a:pt x="2334516" y="2923627"/>
                </a:lnTo>
                <a:cubicBezTo>
                  <a:pt x="1130584" y="2923627"/>
                  <a:pt x="131863" y="2000151"/>
                  <a:pt x="11726" y="826573"/>
                </a:cubicBezTo>
                <a:lnTo>
                  <a:pt x="0" y="596340"/>
                </a:lnTo>
                <a:close/>
              </a:path>
            </a:pathLst>
          </a:custGeom>
        </p:spPr>
        <p:txBody>
          <a:bodyPr wrap="square">
            <a:noAutofit/>
          </a:bodyPr>
          <a:lstStyle/>
          <a:p>
            <a:endParaRPr lang="en-US"/>
          </a:p>
        </p:txBody>
      </p:sp>
      <p:sp>
        <p:nvSpPr>
          <p:cNvPr id="18" name="Title 1">
            <a:extLst>
              <a:ext uri="{FF2B5EF4-FFF2-40B4-BE49-F238E27FC236}">
                <a16:creationId xmlns:a16="http://schemas.microsoft.com/office/drawing/2014/main" id="{5F9B7A9F-0150-5A4A-DF4E-BB51497EE18A}"/>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
        <p:nvSpPr>
          <p:cNvPr id="14" name="Freeform: Shape 13">
            <a:extLst>
              <a:ext uri="{FF2B5EF4-FFF2-40B4-BE49-F238E27FC236}">
                <a16:creationId xmlns:a16="http://schemas.microsoft.com/office/drawing/2014/main" id="{13102D45-6656-5362-E45D-93BF18999A6C}"/>
              </a:ext>
            </a:extLst>
          </p:cNvPr>
          <p:cNvSpPr/>
          <p:nvPr userDrawn="1"/>
        </p:nvSpPr>
        <p:spPr>
          <a:xfrm>
            <a:off x="6285353" y="2948796"/>
            <a:ext cx="2645806" cy="2923626"/>
          </a:xfrm>
          <a:custGeom>
            <a:avLst/>
            <a:gdLst>
              <a:gd name="connsiteX0" fmla="*/ 0 w 2645806"/>
              <a:gd name="connsiteY0" fmla="*/ 588722 h 2923626"/>
              <a:gd name="connsiteX1" fmla="*/ 0 w 2645806"/>
              <a:gd name="connsiteY1" fmla="*/ 0 h 2923626"/>
              <a:gd name="connsiteX2" fmla="*/ 2645806 w 2645806"/>
              <a:gd name="connsiteY2" fmla="*/ 0 h 2923626"/>
              <a:gd name="connsiteX3" fmla="*/ 2645806 w 2645806"/>
              <a:gd name="connsiteY3" fmla="*/ 2923627 h 2923626"/>
              <a:gd name="connsiteX4" fmla="*/ 2334904 w 2645806"/>
              <a:gd name="connsiteY4" fmla="*/ 2923627 h 2923626"/>
              <a:gd name="connsiteX5" fmla="*/ 0 w 2645806"/>
              <a:gd name="connsiteY5" fmla="*/ 588722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06" h="2923626">
                <a:moveTo>
                  <a:pt x="0" y="588722"/>
                </a:moveTo>
                <a:lnTo>
                  <a:pt x="0" y="0"/>
                </a:lnTo>
                <a:lnTo>
                  <a:pt x="2645806" y="0"/>
                </a:lnTo>
                <a:lnTo>
                  <a:pt x="2645806" y="2923627"/>
                </a:lnTo>
                <a:lnTo>
                  <a:pt x="2334904" y="2923627"/>
                </a:lnTo>
                <a:cubicBezTo>
                  <a:pt x="1050710" y="2923695"/>
                  <a:pt x="0" y="1872916"/>
                  <a:pt x="0" y="588722"/>
                </a:cubicBezTo>
                <a:close/>
              </a:path>
            </a:pathLst>
          </a:custGeom>
          <a:solidFill>
            <a:srgbClr val="8C4FF4">
              <a:alpha val="40000"/>
            </a:srgb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55E16BA-4DD0-FB4A-DB15-246E75CAC060}"/>
              </a:ext>
            </a:extLst>
          </p:cNvPr>
          <p:cNvSpPr/>
          <p:nvPr userDrawn="1"/>
        </p:nvSpPr>
        <p:spPr>
          <a:xfrm>
            <a:off x="8931091" y="2948796"/>
            <a:ext cx="2645874" cy="2923626"/>
          </a:xfrm>
          <a:custGeom>
            <a:avLst/>
            <a:gdLst>
              <a:gd name="connsiteX0" fmla="*/ 68 w 2645874"/>
              <a:gd name="connsiteY0" fmla="*/ 588722 h 2923626"/>
              <a:gd name="connsiteX1" fmla="*/ 68 w 2645874"/>
              <a:gd name="connsiteY1" fmla="*/ 0 h 2923626"/>
              <a:gd name="connsiteX2" fmla="*/ 2645875 w 2645874"/>
              <a:gd name="connsiteY2" fmla="*/ 0 h 2923626"/>
              <a:gd name="connsiteX3" fmla="*/ 2645875 w 2645874"/>
              <a:gd name="connsiteY3" fmla="*/ 2923627 h 2923626"/>
              <a:gd name="connsiteX4" fmla="*/ 2334972 w 2645874"/>
              <a:gd name="connsiteY4" fmla="*/ 2923627 h 2923626"/>
              <a:gd name="connsiteX5" fmla="*/ 0 w 2645874"/>
              <a:gd name="connsiteY5" fmla="*/ 588654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74" h="2923626">
                <a:moveTo>
                  <a:pt x="68" y="588722"/>
                </a:moveTo>
                <a:lnTo>
                  <a:pt x="68" y="0"/>
                </a:lnTo>
                <a:cubicBezTo>
                  <a:pt x="68" y="0"/>
                  <a:pt x="2645875" y="0"/>
                  <a:pt x="2645875" y="0"/>
                </a:cubicBezTo>
                <a:lnTo>
                  <a:pt x="2645875" y="2923627"/>
                </a:lnTo>
                <a:lnTo>
                  <a:pt x="2334972" y="2923627"/>
                </a:lnTo>
                <a:cubicBezTo>
                  <a:pt x="1050778" y="2923627"/>
                  <a:pt x="0" y="1872916"/>
                  <a:pt x="0" y="588654"/>
                </a:cubicBezTo>
                <a:close/>
              </a:path>
            </a:pathLst>
          </a:custGeom>
          <a:solidFill>
            <a:srgbClr val="B9B9FC">
              <a:alpha val="40000"/>
            </a:srgbClr>
          </a:solid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575A453-E756-D1D8-0B17-E9A4133E8BBD}"/>
              </a:ext>
            </a:extLst>
          </p:cNvPr>
          <p:cNvSpPr/>
          <p:nvPr userDrawn="1"/>
        </p:nvSpPr>
        <p:spPr>
          <a:xfrm>
            <a:off x="6285353" y="0"/>
            <a:ext cx="2645806" cy="2923626"/>
          </a:xfrm>
          <a:custGeom>
            <a:avLst/>
            <a:gdLst>
              <a:gd name="connsiteX0" fmla="*/ 0 w 2645806"/>
              <a:gd name="connsiteY0" fmla="*/ 588722 h 2923626"/>
              <a:gd name="connsiteX1" fmla="*/ 0 w 2645806"/>
              <a:gd name="connsiteY1" fmla="*/ 0 h 2923626"/>
              <a:gd name="connsiteX2" fmla="*/ 2645806 w 2645806"/>
              <a:gd name="connsiteY2" fmla="*/ 0 h 2923626"/>
              <a:gd name="connsiteX3" fmla="*/ 2645806 w 2645806"/>
              <a:gd name="connsiteY3" fmla="*/ 2923627 h 2923626"/>
              <a:gd name="connsiteX4" fmla="*/ 2334904 w 2645806"/>
              <a:gd name="connsiteY4" fmla="*/ 2923627 h 2923626"/>
              <a:gd name="connsiteX5" fmla="*/ 0 w 2645806"/>
              <a:gd name="connsiteY5" fmla="*/ 588722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06" h="2923626">
                <a:moveTo>
                  <a:pt x="0" y="588722"/>
                </a:moveTo>
                <a:lnTo>
                  <a:pt x="0" y="0"/>
                </a:lnTo>
                <a:lnTo>
                  <a:pt x="2645806" y="0"/>
                </a:lnTo>
                <a:lnTo>
                  <a:pt x="2645806" y="2923627"/>
                </a:lnTo>
                <a:lnTo>
                  <a:pt x="2334904" y="2923627"/>
                </a:lnTo>
                <a:cubicBezTo>
                  <a:pt x="1050710" y="2923627"/>
                  <a:pt x="0" y="1872916"/>
                  <a:pt x="0" y="588722"/>
                </a:cubicBezTo>
                <a:close/>
              </a:path>
            </a:pathLst>
          </a:custGeom>
          <a:solidFill>
            <a:srgbClr val="B9B9FC">
              <a:alpha val="40000"/>
            </a:srgbClr>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ED83FEC-2FAC-1044-ADB0-FB8101097D84}"/>
              </a:ext>
            </a:extLst>
          </p:cNvPr>
          <p:cNvSpPr/>
          <p:nvPr userDrawn="1"/>
        </p:nvSpPr>
        <p:spPr>
          <a:xfrm>
            <a:off x="8931091" y="0"/>
            <a:ext cx="2645874" cy="2923626"/>
          </a:xfrm>
          <a:custGeom>
            <a:avLst/>
            <a:gdLst>
              <a:gd name="connsiteX0" fmla="*/ 68 w 2645874"/>
              <a:gd name="connsiteY0" fmla="*/ 588722 h 2923626"/>
              <a:gd name="connsiteX1" fmla="*/ 68 w 2645874"/>
              <a:gd name="connsiteY1" fmla="*/ 0 h 2923626"/>
              <a:gd name="connsiteX2" fmla="*/ 2645875 w 2645874"/>
              <a:gd name="connsiteY2" fmla="*/ 0 h 2923626"/>
              <a:gd name="connsiteX3" fmla="*/ 2645875 w 2645874"/>
              <a:gd name="connsiteY3" fmla="*/ 2923627 h 2923626"/>
              <a:gd name="connsiteX4" fmla="*/ 2334972 w 2645874"/>
              <a:gd name="connsiteY4" fmla="*/ 2923627 h 2923626"/>
              <a:gd name="connsiteX5" fmla="*/ 0 w 2645874"/>
              <a:gd name="connsiteY5" fmla="*/ 588654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74" h="2923626">
                <a:moveTo>
                  <a:pt x="68" y="588722"/>
                </a:moveTo>
                <a:lnTo>
                  <a:pt x="68" y="0"/>
                </a:lnTo>
                <a:cubicBezTo>
                  <a:pt x="68" y="0"/>
                  <a:pt x="2645875" y="0"/>
                  <a:pt x="2645875" y="0"/>
                </a:cubicBezTo>
                <a:lnTo>
                  <a:pt x="2645875" y="2923627"/>
                </a:lnTo>
                <a:lnTo>
                  <a:pt x="2334972" y="2923627"/>
                </a:lnTo>
                <a:cubicBezTo>
                  <a:pt x="1050778" y="2923627"/>
                  <a:pt x="0" y="1872916"/>
                  <a:pt x="0" y="588654"/>
                </a:cubicBezTo>
                <a:close/>
              </a:path>
            </a:pathLst>
          </a:custGeom>
          <a:solidFill>
            <a:srgbClr val="0366FF">
              <a:alpha val="40000"/>
            </a:srgbClr>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70619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9_Blank">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E70DFD6-7FCD-6AAB-D023-01BF81F148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0"/>
            <a:ext cx="12257988" cy="6897461"/>
          </a:xfrm>
          <a:prstGeom prst="rect">
            <a:avLst/>
          </a:prstGeom>
        </p:spPr>
      </p:pic>
      <p:sp>
        <p:nvSpPr>
          <p:cNvPr id="18" name="Title 1">
            <a:extLst>
              <a:ext uri="{FF2B5EF4-FFF2-40B4-BE49-F238E27FC236}">
                <a16:creationId xmlns:a16="http://schemas.microsoft.com/office/drawing/2014/main" id="{5F9B7A9F-0150-5A4A-DF4E-BB51497EE18A}"/>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
        <p:nvSpPr>
          <p:cNvPr id="2" name="Rectangle: Rounded Corners 1">
            <a:extLst>
              <a:ext uri="{FF2B5EF4-FFF2-40B4-BE49-F238E27FC236}">
                <a16:creationId xmlns:a16="http://schemas.microsoft.com/office/drawing/2014/main" id="{FCBF3523-E514-2685-CF6F-5F33EB5D2737}"/>
              </a:ext>
            </a:extLst>
          </p:cNvPr>
          <p:cNvSpPr/>
          <p:nvPr userDrawn="1"/>
        </p:nvSpPr>
        <p:spPr>
          <a:xfrm>
            <a:off x="6695388" y="635372"/>
            <a:ext cx="4713402" cy="380842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A2652C24-7E8B-B9ED-272A-43B71A20D14B}"/>
              </a:ext>
            </a:extLst>
          </p:cNvPr>
          <p:cNvSpPr>
            <a:spLocks noGrp="1"/>
          </p:cNvSpPr>
          <p:nvPr>
            <p:ph type="pic" sz="quarter" idx="10"/>
          </p:nvPr>
        </p:nvSpPr>
        <p:spPr>
          <a:xfrm>
            <a:off x="6096000" y="1707464"/>
            <a:ext cx="4707024" cy="3790437"/>
          </a:xfrm>
          <a:custGeom>
            <a:avLst/>
            <a:gdLst>
              <a:gd name="connsiteX0" fmla="*/ 490410 w 4707024"/>
              <a:gd name="connsiteY0" fmla="*/ 0 h 3790437"/>
              <a:gd name="connsiteX1" fmla="*/ 4222993 w 4707024"/>
              <a:gd name="connsiteY1" fmla="*/ 0 h 3790437"/>
              <a:gd name="connsiteX2" fmla="*/ 4325725 w 4707024"/>
              <a:gd name="connsiteY2" fmla="*/ 31890 h 3790437"/>
              <a:gd name="connsiteX3" fmla="*/ 4700506 w 4707024"/>
              <a:gd name="connsiteY3" fmla="*/ 488835 h 3790437"/>
              <a:gd name="connsiteX4" fmla="*/ 4707024 w 4707024"/>
              <a:gd name="connsiteY4" fmla="*/ 553491 h 3790437"/>
              <a:gd name="connsiteX5" fmla="*/ 4707024 w 4707024"/>
              <a:gd name="connsiteY5" fmla="*/ 3218955 h 3790437"/>
              <a:gd name="connsiteX6" fmla="*/ 4700506 w 4707024"/>
              <a:gd name="connsiteY6" fmla="*/ 3283610 h 3790437"/>
              <a:gd name="connsiteX7" fmla="*/ 4078651 w 4707024"/>
              <a:gd name="connsiteY7" fmla="*/ 3790437 h 3790437"/>
              <a:gd name="connsiteX8" fmla="*/ 634751 w 4707024"/>
              <a:gd name="connsiteY8" fmla="*/ 3790437 h 3790437"/>
              <a:gd name="connsiteX9" fmla="*/ 0 w 4707024"/>
              <a:gd name="connsiteY9" fmla="*/ 3155686 h 3790437"/>
              <a:gd name="connsiteX10" fmla="*/ 0 w 4707024"/>
              <a:gd name="connsiteY10" fmla="*/ 616759 h 3790437"/>
              <a:gd name="connsiteX11" fmla="*/ 387678 w 4707024"/>
              <a:gd name="connsiteY11" fmla="*/ 31890 h 37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7024" h="3790437">
                <a:moveTo>
                  <a:pt x="490410" y="0"/>
                </a:moveTo>
                <a:lnTo>
                  <a:pt x="4222993" y="0"/>
                </a:lnTo>
                <a:lnTo>
                  <a:pt x="4325725" y="31890"/>
                </a:lnTo>
                <a:cubicBezTo>
                  <a:pt x="4515576" y="112190"/>
                  <a:pt x="4658229" y="282231"/>
                  <a:pt x="4700506" y="488835"/>
                </a:cubicBezTo>
                <a:lnTo>
                  <a:pt x="4707024" y="553491"/>
                </a:lnTo>
                <a:lnTo>
                  <a:pt x="4707024" y="3218955"/>
                </a:lnTo>
                <a:lnTo>
                  <a:pt x="4700506" y="3283610"/>
                </a:lnTo>
                <a:cubicBezTo>
                  <a:pt x="4641318" y="3572856"/>
                  <a:pt x="4385394" y="3790437"/>
                  <a:pt x="4078651" y="3790437"/>
                </a:cubicBezTo>
                <a:lnTo>
                  <a:pt x="634751" y="3790437"/>
                </a:lnTo>
                <a:cubicBezTo>
                  <a:pt x="284188" y="3790437"/>
                  <a:pt x="0" y="3506249"/>
                  <a:pt x="0" y="3155686"/>
                </a:cubicBezTo>
                <a:lnTo>
                  <a:pt x="0" y="616759"/>
                </a:lnTo>
                <a:cubicBezTo>
                  <a:pt x="0" y="353837"/>
                  <a:pt x="159856" y="128251"/>
                  <a:pt x="387678" y="31890"/>
                </a:cubicBezTo>
                <a:close/>
              </a:path>
            </a:pathLst>
          </a:custGeom>
        </p:spPr>
        <p:txBody>
          <a:bodyPr wrap="square">
            <a:noAutofit/>
          </a:bodyPr>
          <a:lstStyle/>
          <a:p>
            <a:endParaRPr lang="en-US"/>
          </a:p>
        </p:txBody>
      </p:sp>
    </p:spTree>
    <p:extLst>
      <p:ext uri="{BB962C8B-B14F-4D97-AF65-F5344CB8AC3E}">
        <p14:creationId xmlns:p14="http://schemas.microsoft.com/office/powerpoint/2010/main" val="42172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A3BC47C-99B6-20BF-D68B-A66F46B7A5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113122"/>
            <a:ext cx="12334974" cy="7010583"/>
          </a:xfrm>
          <a:prstGeom prst="rect">
            <a:avLst/>
          </a:prstGeom>
        </p:spPr>
      </p:pic>
      <p:sp>
        <p:nvSpPr>
          <p:cNvPr id="3" name="Picture Placeholder 12">
            <a:extLst>
              <a:ext uri="{FF2B5EF4-FFF2-40B4-BE49-F238E27FC236}">
                <a16:creationId xmlns:a16="http://schemas.microsoft.com/office/drawing/2014/main" id="{9EF7A263-0527-9E4C-94C9-B2AB772A4184}"/>
              </a:ext>
            </a:extLst>
          </p:cNvPr>
          <p:cNvSpPr>
            <a:spLocks noGrp="1"/>
          </p:cNvSpPr>
          <p:nvPr>
            <p:ph type="pic" sz="quarter" idx="12"/>
          </p:nvPr>
        </p:nvSpPr>
        <p:spPr>
          <a:xfrm>
            <a:off x="8058148"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AE6C945C-7127-3582-1911-80FBD40D1BDB}"/>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pic>
        <p:nvPicPr>
          <p:cNvPr id="5" name="Graphic 4">
            <a:extLst>
              <a:ext uri="{FF2B5EF4-FFF2-40B4-BE49-F238E27FC236}">
                <a16:creationId xmlns:a16="http://schemas.microsoft.com/office/drawing/2014/main" id="{D78C6700-8060-24F9-DC2F-AE22C6C88B7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43362" y="441491"/>
            <a:ext cx="3185230" cy="5773230"/>
          </a:xfrm>
          <a:prstGeom prst="rect">
            <a:avLst/>
          </a:prstGeom>
        </p:spPr>
      </p:pic>
    </p:spTree>
    <p:extLst>
      <p:ext uri="{BB962C8B-B14F-4D97-AF65-F5344CB8AC3E}">
        <p14:creationId xmlns:p14="http://schemas.microsoft.com/office/powerpoint/2010/main" val="3182513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2E3F2709-2A59-D5BA-77B4-FD75FE7371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4841" y="-199717"/>
            <a:ext cx="12367967" cy="7085998"/>
          </a:xfrm>
          <a:prstGeom prst="rect">
            <a:avLst/>
          </a:prstGeom>
        </p:spPr>
      </p:pic>
      <p:sp>
        <p:nvSpPr>
          <p:cNvPr id="3" name="Picture Placeholder 7">
            <a:extLst>
              <a:ext uri="{FF2B5EF4-FFF2-40B4-BE49-F238E27FC236}">
                <a16:creationId xmlns:a16="http://schemas.microsoft.com/office/drawing/2014/main" id="{8C654080-D3CC-4B13-1F27-F4787DC9CBF7}"/>
              </a:ext>
            </a:extLst>
          </p:cNvPr>
          <p:cNvSpPr>
            <a:spLocks noGrp="1"/>
          </p:cNvSpPr>
          <p:nvPr>
            <p:ph type="pic" sz="quarter" idx="12"/>
          </p:nvPr>
        </p:nvSpPr>
        <p:spPr>
          <a:xfrm>
            <a:off x="6096000" y="329939"/>
            <a:ext cx="5547845" cy="5704028"/>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2C7D827F-A890-DEEA-4C50-C529607FA301}"/>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4170783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2BC4D355-D07A-C443-FE67-FC51A3D22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5" y="-113122"/>
            <a:ext cx="12459025" cy="7010583"/>
          </a:xfrm>
          <a:prstGeom prst="rect">
            <a:avLst/>
          </a:prstGeom>
        </p:spPr>
      </p:pic>
      <p:sp>
        <p:nvSpPr>
          <p:cNvPr id="3" name="Picture Placeholder 7">
            <a:extLst>
              <a:ext uri="{FF2B5EF4-FFF2-40B4-BE49-F238E27FC236}">
                <a16:creationId xmlns:a16="http://schemas.microsoft.com/office/drawing/2014/main" id="{64448553-4F90-3088-4944-11C66514BE39}"/>
              </a:ext>
            </a:extLst>
          </p:cNvPr>
          <p:cNvSpPr>
            <a:spLocks noGrp="1"/>
          </p:cNvSpPr>
          <p:nvPr>
            <p:ph type="pic" sz="quarter" idx="12"/>
          </p:nvPr>
        </p:nvSpPr>
        <p:spPr>
          <a:xfrm>
            <a:off x="6312819" y="565607"/>
            <a:ext cx="5037054" cy="5468359"/>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21B4C912-1FCD-8D8B-21E2-7747A951037C}"/>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320722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E7EFE18-FED0-FDAE-5670-7615BB1536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988" y="0"/>
            <a:ext cx="12330260" cy="6938128"/>
          </a:xfrm>
          <a:prstGeom prst="rect">
            <a:avLst/>
          </a:prstGeom>
        </p:spPr>
      </p:pic>
      <p:sp>
        <p:nvSpPr>
          <p:cNvPr id="9" name="Rectangle 8">
            <a:extLst>
              <a:ext uri="{FF2B5EF4-FFF2-40B4-BE49-F238E27FC236}">
                <a16:creationId xmlns:a16="http://schemas.microsoft.com/office/drawing/2014/main" id="{4C7121F9-03BE-C8DA-B22C-FD5C2DDC182D}"/>
              </a:ext>
            </a:extLst>
          </p:cNvPr>
          <p:cNvSpPr/>
          <p:nvPr userDrawn="1"/>
        </p:nvSpPr>
        <p:spPr>
          <a:xfrm>
            <a:off x="7899662" y="0"/>
            <a:ext cx="2988297" cy="6938128"/>
          </a:xfrm>
          <a:prstGeom prst="rect">
            <a:avLst/>
          </a:prstGeom>
          <a:solidFill>
            <a:srgbClr val="B9B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C90CAEFC-B65C-032B-DFB8-E941811AA2BC}"/>
              </a:ext>
            </a:extLst>
          </p:cNvPr>
          <p:cNvSpPr>
            <a:spLocks noGrp="1"/>
          </p:cNvSpPr>
          <p:nvPr>
            <p:ph type="title"/>
          </p:nvPr>
        </p:nvSpPr>
        <p:spPr>
          <a:xfrm>
            <a:off x="838200" y="365125"/>
            <a:ext cx="5345784" cy="1325563"/>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48165F00-7FAA-6193-FE34-3C59CAE7AAE2}"/>
              </a:ext>
            </a:extLst>
          </p:cNvPr>
          <p:cNvSpPr>
            <a:spLocks noGrp="1"/>
          </p:cNvSpPr>
          <p:nvPr>
            <p:ph type="pic" sz="quarter" idx="12"/>
          </p:nvPr>
        </p:nvSpPr>
        <p:spPr>
          <a:xfrm>
            <a:off x="7334054" y="1442301"/>
            <a:ext cx="4019746" cy="4626852"/>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pic>
        <p:nvPicPr>
          <p:cNvPr id="12" name="Graphic 11">
            <a:extLst>
              <a:ext uri="{FF2B5EF4-FFF2-40B4-BE49-F238E27FC236}">
                <a16:creationId xmlns:a16="http://schemas.microsoft.com/office/drawing/2014/main" id="{ABB12FD6-7B0A-BF80-BFF7-81C7E7234A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89961" y="2807812"/>
            <a:ext cx="974006" cy="1322503"/>
          </a:xfrm>
          <a:prstGeom prst="rect">
            <a:avLst/>
          </a:prstGeom>
        </p:spPr>
      </p:pic>
    </p:spTree>
    <p:extLst>
      <p:ext uri="{BB962C8B-B14F-4D97-AF65-F5344CB8AC3E}">
        <p14:creationId xmlns:p14="http://schemas.microsoft.com/office/powerpoint/2010/main" val="33069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55ADADA-7206-710F-41F6-660194BFB8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988" y="-207390"/>
            <a:ext cx="12330260" cy="7145518"/>
          </a:xfrm>
          <a:prstGeom prst="rect">
            <a:avLst/>
          </a:prstGeom>
        </p:spPr>
      </p:pic>
      <p:sp>
        <p:nvSpPr>
          <p:cNvPr id="3" name="Title 1">
            <a:extLst>
              <a:ext uri="{FF2B5EF4-FFF2-40B4-BE49-F238E27FC236}">
                <a16:creationId xmlns:a16="http://schemas.microsoft.com/office/drawing/2014/main" id="{9EA12D95-43DB-3799-A16F-9B17CF3A0A15}"/>
              </a:ext>
            </a:extLst>
          </p:cNvPr>
          <p:cNvSpPr>
            <a:spLocks noGrp="1"/>
          </p:cNvSpPr>
          <p:nvPr>
            <p:ph type="title"/>
          </p:nvPr>
        </p:nvSpPr>
        <p:spPr>
          <a:xfrm>
            <a:off x="831850" y="441491"/>
            <a:ext cx="5795193" cy="2852737"/>
          </a:xfrm>
        </p:spPr>
        <p:txBody>
          <a:bodyPr anchor="b"/>
          <a:lstStyle>
            <a:lvl1pPr>
              <a:defRPr sz="6000"/>
            </a:lvl1pPr>
          </a:lstStyle>
          <a:p>
            <a:r>
              <a:rPr lang="en-US"/>
              <a:t>Click to edit Master title style</a:t>
            </a:r>
          </a:p>
        </p:txBody>
      </p:sp>
      <p:sp>
        <p:nvSpPr>
          <p:cNvPr id="4" name="Text Placeholder 2">
            <a:extLst>
              <a:ext uri="{FF2B5EF4-FFF2-40B4-BE49-F238E27FC236}">
                <a16:creationId xmlns:a16="http://schemas.microsoft.com/office/drawing/2014/main" id="{AD91F24F-8A5B-5730-704E-3D3A4BCE5AA3}"/>
              </a:ext>
            </a:extLst>
          </p:cNvPr>
          <p:cNvSpPr>
            <a:spLocks noGrp="1"/>
          </p:cNvSpPr>
          <p:nvPr>
            <p:ph type="body" idx="1"/>
          </p:nvPr>
        </p:nvSpPr>
        <p:spPr>
          <a:xfrm>
            <a:off x="831850" y="4589463"/>
            <a:ext cx="3985247"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Graphic 4">
            <a:extLst>
              <a:ext uri="{FF2B5EF4-FFF2-40B4-BE49-F238E27FC236}">
                <a16:creationId xmlns:a16="http://schemas.microsoft.com/office/drawing/2014/main" id="{A4D9DD47-7DB4-5925-2826-2DF8CA13CF6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0998" y="441491"/>
            <a:ext cx="3185230" cy="5773230"/>
          </a:xfrm>
          <a:prstGeom prst="rect">
            <a:avLst/>
          </a:prstGeom>
        </p:spPr>
      </p:pic>
      <p:sp>
        <p:nvSpPr>
          <p:cNvPr id="6" name="Picture Placeholder 12">
            <a:extLst>
              <a:ext uri="{FF2B5EF4-FFF2-40B4-BE49-F238E27FC236}">
                <a16:creationId xmlns:a16="http://schemas.microsoft.com/office/drawing/2014/main" id="{4B7E1533-AD56-6B22-5E91-601A2195A943}"/>
              </a:ext>
            </a:extLst>
          </p:cNvPr>
          <p:cNvSpPr>
            <a:spLocks noGrp="1"/>
          </p:cNvSpPr>
          <p:nvPr>
            <p:ph type="pic" sz="quarter" idx="12"/>
          </p:nvPr>
        </p:nvSpPr>
        <p:spPr>
          <a:xfrm>
            <a:off x="8058148"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Tree>
    <p:extLst>
      <p:ext uri="{BB962C8B-B14F-4D97-AF65-F5344CB8AC3E}">
        <p14:creationId xmlns:p14="http://schemas.microsoft.com/office/powerpoint/2010/main" val="3487925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A85556-F773-FF45-9EB7-E8695758FD2A}"/>
              </a:ext>
            </a:extLst>
          </p:cNvPr>
          <p:cNvSpPr/>
          <p:nvPr userDrawn="1"/>
        </p:nvSpPr>
        <p:spPr>
          <a:xfrm>
            <a:off x="0" y="0"/>
            <a:ext cx="12192000" cy="68580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EB4D7551-AD66-CA46-4CE5-C93FF0C39C1A}"/>
              </a:ext>
            </a:extLst>
          </p:cNvPr>
          <p:cNvSpPr>
            <a:spLocks noGrp="1"/>
          </p:cNvSpPr>
          <p:nvPr>
            <p:ph type="title" hasCustomPrompt="1"/>
          </p:nvPr>
        </p:nvSpPr>
        <p:spPr>
          <a:xfrm>
            <a:off x="831850" y="876300"/>
            <a:ext cx="5795193" cy="1141578"/>
          </a:xfrm>
        </p:spPr>
        <p:txBody>
          <a:bodyPr anchor="b"/>
          <a:lstStyle>
            <a:lvl1pPr>
              <a:defRPr sz="6000">
                <a:solidFill>
                  <a:schemeClr val="bg1"/>
                </a:solidFill>
              </a:defRPr>
            </a:lvl1pPr>
          </a:lstStyle>
          <a:p>
            <a:r>
              <a:rPr lang="en-US"/>
              <a:t>Agenda</a:t>
            </a:r>
          </a:p>
        </p:txBody>
      </p:sp>
      <p:pic>
        <p:nvPicPr>
          <p:cNvPr id="4" name="Graphic 3">
            <a:extLst>
              <a:ext uri="{FF2B5EF4-FFF2-40B4-BE49-F238E27FC236}">
                <a16:creationId xmlns:a16="http://schemas.microsoft.com/office/drawing/2014/main" id="{12F4A152-11CA-8B2C-21AE-D5766A8794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5" name="Picture Placeholder 15">
            <a:extLst>
              <a:ext uri="{FF2B5EF4-FFF2-40B4-BE49-F238E27FC236}">
                <a16:creationId xmlns:a16="http://schemas.microsoft.com/office/drawing/2014/main" id="{E2DFB00C-A418-E60B-ACB1-DBB9AF0C7776}"/>
              </a:ext>
            </a:extLst>
          </p:cNvPr>
          <p:cNvSpPr>
            <a:spLocks noGrp="1"/>
          </p:cNvSpPr>
          <p:nvPr>
            <p:ph type="pic" sz="quarter" idx="10"/>
          </p:nvPr>
        </p:nvSpPr>
        <p:spPr>
          <a:xfrm>
            <a:off x="6297228" y="1498862"/>
            <a:ext cx="4940697" cy="4565877"/>
          </a:xfrm>
          <a:custGeom>
            <a:avLst/>
            <a:gdLst>
              <a:gd name="connsiteX0" fmla="*/ 1831111 w 5564187"/>
              <a:gd name="connsiteY0" fmla="*/ 0 h 5142067"/>
              <a:gd name="connsiteX1" fmla="*/ 5106263 w 5564187"/>
              <a:gd name="connsiteY1" fmla="*/ 0 h 5142067"/>
              <a:gd name="connsiteX2" fmla="*/ 5193803 w 5564187"/>
              <a:gd name="connsiteY2" fmla="*/ 27174 h 5142067"/>
              <a:gd name="connsiteX3" fmla="*/ 5564187 w 5564187"/>
              <a:gd name="connsiteY3" fmla="*/ 585954 h 5142067"/>
              <a:gd name="connsiteX4" fmla="*/ 5564187 w 5564187"/>
              <a:gd name="connsiteY4" fmla="*/ 3011630 h 5142067"/>
              <a:gd name="connsiteX5" fmla="*/ 4957750 w 5564187"/>
              <a:gd name="connsiteY5" fmla="*/ 3618067 h 5142067"/>
              <a:gd name="connsiteX6" fmla="*/ 2554287 w 5564187"/>
              <a:gd name="connsiteY6" fmla="*/ 3618067 h 5142067"/>
              <a:gd name="connsiteX7" fmla="*/ 2554287 w 5564187"/>
              <a:gd name="connsiteY7" fmla="*/ 4725897 h 5142067"/>
              <a:gd name="connsiteX8" fmla="*/ 2138117 w 5564187"/>
              <a:gd name="connsiteY8" fmla="*/ 5142067 h 5142067"/>
              <a:gd name="connsiteX9" fmla="*/ 415400 w 5564187"/>
              <a:gd name="connsiteY9" fmla="*/ 5142067 h 5142067"/>
              <a:gd name="connsiteX10" fmla="*/ 7685 w 5564187"/>
              <a:gd name="connsiteY10" fmla="*/ 4809770 h 5142067"/>
              <a:gd name="connsiteX11" fmla="*/ 0 w 5564187"/>
              <a:gd name="connsiteY11" fmla="*/ 4733536 h 5142067"/>
              <a:gd name="connsiteX12" fmla="*/ 0 w 5564187"/>
              <a:gd name="connsiteY12" fmla="*/ 3053627 h 5142067"/>
              <a:gd name="connsiteX13" fmla="*/ 7685 w 5564187"/>
              <a:gd name="connsiteY13" fmla="*/ 2977392 h 5142067"/>
              <a:gd name="connsiteX14" fmla="*/ 415400 w 5564187"/>
              <a:gd name="connsiteY14" fmla="*/ 2645095 h 5142067"/>
              <a:gd name="connsiteX15" fmla="*/ 1373187 w 5564187"/>
              <a:gd name="connsiteY15" fmla="*/ 2645095 h 5142067"/>
              <a:gd name="connsiteX16" fmla="*/ 1373187 w 5564187"/>
              <a:gd name="connsiteY16" fmla="*/ 585954 h 5142067"/>
              <a:gd name="connsiteX17" fmla="*/ 1743572 w 5564187"/>
              <a:gd name="connsiteY17" fmla="*/ 27174 h 514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64187" h="5142067">
                <a:moveTo>
                  <a:pt x="1831111" y="0"/>
                </a:moveTo>
                <a:lnTo>
                  <a:pt x="5106263" y="0"/>
                </a:lnTo>
                <a:lnTo>
                  <a:pt x="5193803" y="27174"/>
                </a:lnTo>
                <a:cubicBezTo>
                  <a:pt x="5411462" y="119236"/>
                  <a:pt x="5564187" y="334760"/>
                  <a:pt x="5564187" y="585954"/>
                </a:cubicBezTo>
                <a:lnTo>
                  <a:pt x="5564187" y="3011630"/>
                </a:lnTo>
                <a:cubicBezTo>
                  <a:pt x="5564187" y="3346556"/>
                  <a:pt x="5292676" y="3618067"/>
                  <a:pt x="4957750" y="3618067"/>
                </a:cubicBezTo>
                <a:lnTo>
                  <a:pt x="2554287" y="3618067"/>
                </a:lnTo>
                <a:lnTo>
                  <a:pt x="2554287" y="4725897"/>
                </a:lnTo>
                <a:cubicBezTo>
                  <a:pt x="2554287" y="4955741"/>
                  <a:pt x="2367961" y="5142067"/>
                  <a:pt x="2138117" y="5142067"/>
                </a:cubicBezTo>
                <a:lnTo>
                  <a:pt x="415400" y="5142067"/>
                </a:lnTo>
                <a:cubicBezTo>
                  <a:pt x="214287" y="5142067"/>
                  <a:pt x="46492" y="4999411"/>
                  <a:pt x="7685" y="4809770"/>
                </a:cubicBezTo>
                <a:lnTo>
                  <a:pt x="0" y="4733536"/>
                </a:lnTo>
                <a:lnTo>
                  <a:pt x="0" y="3053627"/>
                </a:lnTo>
                <a:lnTo>
                  <a:pt x="7685" y="2977392"/>
                </a:lnTo>
                <a:cubicBezTo>
                  <a:pt x="46492" y="2787751"/>
                  <a:pt x="214287" y="2645095"/>
                  <a:pt x="415400" y="2645095"/>
                </a:cubicBezTo>
                <a:lnTo>
                  <a:pt x="1373187" y="2645095"/>
                </a:lnTo>
                <a:lnTo>
                  <a:pt x="1373187" y="585954"/>
                </a:lnTo>
                <a:cubicBezTo>
                  <a:pt x="1373187" y="334760"/>
                  <a:pt x="1525912" y="119236"/>
                  <a:pt x="1743572" y="27174"/>
                </a:cubicBezTo>
                <a:close/>
              </a:path>
            </a:pathLst>
          </a:custGeom>
        </p:spPr>
        <p:txBody>
          <a:bodyPr wrap="square">
            <a:noAutofit/>
          </a:bodyPr>
          <a:lstStyle/>
          <a:p>
            <a:endParaRPr lang="en-US"/>
          </a:p>
        </p:txBody>
      </p:sp>
      <p:sp>
        <p:nvSpPr>
          <p:cNvPr id="7" name="Rectangle: Rounded Corners 6">
            <a:extLst>
              <a:ext uri="{FF2B5EF4-FFF2-40B4-BE49-F238E27FC236}">
                <a16:creationId xmlns:a16="http://schemas.microsoft.com/office/drawing/2014/main" id="{F33A7269-8DC1-4503-DBB5-478A0C5F8F16}"/>
              </a:ext>
            </a:extLst>
          </p:cNvPr>
          <p:cNvSpPr/>
          <p:nvPr userDrawn="1"/>
        </p:nvSpPr>
        <p:spPr>
          <a:xfrm>
            <a:off x="831850" y="2210539"/>
            <a:ext cx="5054046" cy="431454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7">
            <a:extLst>
              <a:ext uri="{FF2B5EF4-FFF2-40B4-BE49-F238E27FC236}">
                <a16:creationId xmlns:a16="http://schemas.microsoft.com/office/drawing/2014/main" id="{B267085C-1D9C-A051-B73E-A1AFC00E7753}"/>
              </a:ext>
            </a:extLst>
          </p:cNvPr>
          <p:cNvSpPr>
            <a:spLocks noGrp="1"/>
          </p:cNvSpPr>
          <p:nvPr>
            <p:ph type="body" sz="quarter" idx="11"/>
          </p:nvPr>
        </p:nvSpPr>
        <p:spPr>
          <a:xfrm>
            <a:off x="1144588" y="2387600"/>
            <a:ext cx="4419600" cy="3879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3C9CE9D9-084F-688F-FC93-64A3593A4D1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cxnSp>
        <p:nvCxnSpPr>
          <p:cNvPr id="10" name="Straight Connector 9">
            <a:extLst>
              <a:ext uri="{FF2B5EF4-FFF2-40B4-BE49-F238E27FC236}">
                <a16:creationId xmlns:a16="http://schemas.microsoft.com/office/drawing/2014/main" id="{AFEAD411-6B23-6947-CBA9-2CE4E1A19A6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8213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4D7551-AD66-CA46-4CE5-C93FF0C39C1A}"/>
              </a:ext>
            </a:extLst>
          </p:cNvPr>
          <p:cNvSpPr>
            <a:spLocks noGrp="1"/>
          </p:cNvSpPr>
          <p:nvPr>
            <p:ph type="title" hasCustomPrompt="1"/>
          </p:nvPr>
        </p:nvSpPr>
        <p:spPr>
          <a:xfrm>
            <a:off x="831850" y="876300"/>
            <a:ext cx="5795193" cy="1141578"/>
          </a:xfrm>
        </p:spPr>
        <p:txBody>
          <a:bodyPr anchor="b"/>
          <a:lstStyle>
            <a:lvl1pPr>
              <a:defRPr sz="6000">
                <a:solidFill>
                  <a:schemeClr val="accent1"/>
                </a:solidFill>
              </a:defRPr>
            </a:lvl1pPr>
          </a:lstStyle>
          <a:p>
            <a:r>
              <a:rPr lang="en-US"/>
              <a:t>Agenda</a:t>
            </a:r>
          </a:p>
        </p:txBody>
      </p:sp>
      <p:pic>
        <p:nvPicPr>
          <p:cNvPr id="4" name="Graphic 3">
            <a:extLst>
              <a:ext uri="{FF2B5EF4-FFF2-40B4-BE49-F238E27FC236}">
                <a16:creationId xmlns:a16="http://schemas.microsoft.com/office/drawing/2014/main" id="{12F4A152-11CA-8B2C-21AE-D5766A8794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5" name="Picture Placeholder 15">
            <a:extLst>
              <a:ext uri="{FF2B5EF4-FFF2-40B4-BE49-F238E27FC236}">
                <a16:creationId xmlns:a16="http://schemas.microsoft.com/office/drawing/2014/main" id="{E2DFB00C-A418-E60B-ACB1-DBB9AF0C7776}"/>
              </a:ext>
            </a:extLst>
          </p:cNvPr>
          <p:cNvSpPr>
            <a:spLocks noGrp="1"/>
          </p:cNvSpPr>
          <p:nvPr>
            <p:ph type="pic" sz="quarter" idx="10"/>
          </p:nvPr>
        </p:nvSpPr>
        <p:spPr>
          <a:xfrm>
            <a:off x="6297228" y="1498862"/>
            <a:ext cx="4940697" cy="4565877"/>
          </a:xfrm>
          <a:custGeom>
            <a:avLst/>
            <a:gdLst>
              <a:gd name="connsiteX0" fmla="*/ 1831111 w 5564187"/>
              <a:gd name="connsiteY0" fmla="*/ 0 h 5142067"/>
              <a:gd name="connsiteX1" fmla="*/ 5106263 w 5564187"/>
              <a:gd name="connsiteY1" fmla="*/ 0 h 5142067"/>
              <a:gd name="connsiteX2" fmla="*/ 5193803 w 5564187"/>
              <a:gd name="connsiteY2" fmla="*/ 27174 h 5142067"/>
              <a:gd name="connsiteX3" fmla="*/ 5564187 w 5564187"/>
              <a:gd name="connsiteY3" fmla="*/ 585954 h 5142067"/>
              <a:gd name="connsiteX4" fmla="*/ 5564187 w 5564187"/>
              <a:gd name="connsiteY4" fmla="*/ 3011630 h 5142067"/>
              <a:gd name="connsiteX5" fmla="*/ 4957750 w 5564187"/>
              <a:gd name="connsiteY5" fmla="*/ 3618067 h 5142067"/>
              <a:gd name="connsiteX6" fmla="*/ 2554287 w 5564187"/>
              <a:gd name="connsiteY6" fmla="*/ 3618067 h 5142067"/>
              <a:gd name="connsiteX7" fmla="*/ 2554287 w 5564187"/>
              <a:gd name="connsiteY7" fmla="*/ 4725897 h 5142067"/>
              <a:gd name="connsiteX8" fmla="*/ 2138117 w 5564187"/>
              <a:gd name="connsiteY8" fmla="*/ 5142067 h 5142067"/>
              <a:gd name="connsiteX9" fmla="*/ 415400 w 5564187"/>
              <a:gd name="connsiteY9" fmla="*/ 5142067 h 5142067"/>
              <a:gd name="connsiteX10" fmla="*/ 7685 w 5564187"/>
              <a:gd name="connsiteY10" fmla="*/ 4809770 h 5142067"/>
              <a:gd name="connsiteX11" fmla="*/ 0 w 5564187"/>
              <a:gd name="connsiteY11" fmla="*/ 4733536 h 5142067"/>
              <a:gd name="connsiteX12" fmla="*/ 0 w 5564187"/>
              <a:gd name="connsiteY12" fmla="*/ 3053627 h 5142067"/>
              <a:gd name="connsiteX13" fmla="*/ 7685 w 5564187"/>
              <a:gd name="connsiteY13" fmla="*/ 2977392 h 5142067"/>
              <a:gd name="connsiteX14" fmla="*/ 415400 w 5564187"/>
              <a:gd name="connsiteY14" fmla="*/ 2645095 h 5142067"/>
              <a:gd name="connsiteX15" fmla="*/ 1373187 w 5564187"/>
              <a:gd name="connsiteY15" fmla="*/ 2645095 h 5142067"/>
              <a:gd name="connsiteX16" fmla="*/ 1373187 w 5564187"/>
              <a:gd name="connsiteY16" fmla="*/ 585954 h 5142067"/>
              <a:gd name="connsiteX17" fmla="*/ 1743572 w 5564187"/>
              <a:gd name="connsiteY17" fmla="*/ 27174 h 514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64187" h="5142067">
                <a:moveTo>
                  <a:pt x="1831111" y="0"/>
                </a:moveTo>
                <a:lnTo>
                  <a:pt x="5106263" y="0"/>
                </a:lnTo>
                <a:lnTo>
                  <a:pt x="5193803" y="27174"/>
                </a:lnTo>
                <a:cubicBezTo>
                  <a:pt x="5411462" y="119236"/>
                  <a:pt x="5564187" y="334760"/>
                  <a:pt x="5564187" y="585954"/>
                </a:cubicBezTo>
                <a:lnTo>
                  <a:pt x="5564187" y="3011630"/>
                </a:lnTo>
                <a:cubicBezTo>
                  <a:pt x="5564187" y="3346556"/>
                  <a:pt x="5292676" y="3618067"/>
                  <a:pt x="4957750" y="3618067"/>
                </a:cubicBezTo>
                <a:lnTo>
                  <a:pt x="2554287" y="3618067"/>
                </a:lnTo>
                <a:lnTo>
                  <a:pt x="2554287" y="4725897"/>
                </a:lnTo>
                <a:cubicBezTo>
                  <a:pt x="2554287" y="4955741"/>
                  <a:pt x="2367961" y="5142067"/>
                  <a:pt x="2138117" y="5142067"/>
                </a:cubicBezTo>
                <a:lnTo>
                  <a:pt x="415400" y="5142067"/>
                </a:lnTo>
                <a:cubicBezTo>
                  <a:pt x="214287" y="5142067"/>
                  <a:pt x="46492" y="4999411"/>
                  <a:pt x="7685" y="4809770"/>
                </a:cubicBezTo>
                <a:lnTo>
                  <a:pt x="0" y="4733536"/>
                </a:lnTo>
                <a:lnTo>
                  <a:pt x="0" y="3053627"/>
                </a:lnTo>
                <a:lnTo>
                  <a:pt x="7685" y="2977392"/>
                </a:lnTo>
                <a:cubicBezTo>
                  <a:pt x="46492" y="2787751"/>
                  <a:pt x="214287" y="2645095"/>
                  <a:pt x="415400" y="2645095"/>
                </a:cubicBezTo>
                <a:lnTo>
                  <a:pt x="1373187" y="2645095"/>
                </a:lnTo>
                <a:lnTo>
                  <a:pt x="1373187" y="585954"/>
                </a:lnTo>
                <a:cubicBezTo>
                  <a:pt x="1373187" y="334760"/>
                  <a:pt x="1525912" y="119236"/>
                  <a:pt x="1743572" y="27174"/>
                </a:cubicBezTo>
                <a:close/>
              </a:path>
            </a:pathLst>
          </a:custGeom>
        </p:spPr>
        <p:txBody>
          <a:bodyPr wrap="square">
            <a:noAutofit/>
          </a:bodyPr>
          <a:lstStyle/>
          <a:p>
            <a:endParaRPr lang="en-US"/>
          </a:p>
        </p:txBody>
      </p:sp>
      <p:pic>
        <p:nvPicPr>
          <p:cNvPr id="6" name="Graphic 5">
            <a:extLst>
              <a:ext uri="{FF2B5EF4-FFF2-40B4-BE49-F238E27FC236}">
                <a16:creationId xmlns:a16="http://schemas.microsoft.com/office/drawing/2014/main" id="{7E6C1D21-1CFF-BA0F-4681-BC73E5D8975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249213" y="3883843"/>
            <a:ext cx="1270707" cy="1150070"/>
          </a:xfrm>
          <a:prstGeom prst="rect">
            <a:avLst/>
          </a:prstGeom>
        </p:spPr>
      </p:pic>
      <p:sp>
        <p:nvSpPr>
          <p:cNvPr id="7" name="Rectangle: Rounded Corners 6">
            <a:extLst>
              <a:ext uri="{FF2B5EF4-FFF2-40B4-BE49-F238E27FC236}">
                <a16:creationId xmlns:a16="http://schemas.microsoft.com/office/drawing/2014/main" id="{F33A7269-8DC1-4503-DBB5-478A0C5F8F16}"/>
              </a:ext>
            </a:extLst>
          </p:cNvPr>
          <p:cNvSpPr/>
          <p:nvPr userDrawn="1"/>
        </p:nvSpPr>
        <p:spPr>
          <a:xfrm>
            <a:off x="831850" y="2210539"/>
            <a:ext cx="5054046" cy="431454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7">
            <a:extLst>
              <a:ext uri="{FF2B5EF4-FFF2-40B4-BE49-F238E27FC236}">
                <a16:creationId xmlns:a16="http://schemas.microsoft.com/office/drawing/2014/main" id="{B267085C-1D9C-A051-B73E-A1AFC00E7753}"/>
              </a:ext>
            </a:extLst>
          </p:cNvPr>
          <p:cNvSpPr>
            <a:spLocks noGrp="1"/>
          </p:cNvSpPr>
          <p:nvPr>
            <p:ph type="body" sz="quarter" idx="11"/>
          </p:nvPr>
        </p:nvSpPr>
        <p:spPr>
          <a:xfrm>
            <a:off x="1144588" y="2387600"/>
            <a:ext cx="4419600" cy="3879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3C9CE9D9-084F-688F-FC93-64A3593A4D1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cxnSp>
        <p:nvCxnSpPr>
          <p:cNvPr id="10" name="Straight Connector 9">
            <a:extLst>
              <a:ext uri="{FF2B5EF4-FFF2-40B4-BE49-F238E27FC236}">
                <a16:creationId xmlns:a16="http://schemas.microsoft.com/office/drawing/2014/main" id="{AFEAD411-6B23-6947-CBA9-2CE4E1A19A6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6408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333A-0501-C2FA-E3CC-1948BAD7D305}"/>
              </a:ext>
            </a:extLst>
          </p:cNvPr>
          <p:cNvSpPr>
            <a:spLocks noGrp="1"/>
          </p:cNvSpPr>
          <p:nvPr>
            <p:ph type="title" hasCustomPrompt="1"/>
          </p:nvPr>
        </p:nvSpPr>
        <p:spPr>
          <a:xfrm>
            <a:off x="831850" y="1061174"/>
            <a:ext cx="5795193" cy="1025691"/>
          </a:xfrm>
        </p:spPr>
        <p:txBody>
          <a:bodyPr anchor="b"/>
          <a:lstStyle>
            <a:lvl1pPr>
              <a:defRPr sz="6000">
                <a:solidFill>
                  <a:schemeClr val="accent1"/>
                </a:solidFill>
              </a:defRPr>
            </a:lvl1pPr>
          </a:lstStyle>
          <a:p>
            <a:r>
              <a:rPr lang="en-US"/>
              <a:t>Agenda</a:t>
            </a:r>
          </a:p>
        </p:txBody>
      </p:sp>
      <p:sp>
        <p:nvSpPr>
          <p:cNvPr id="3" name="Text Placeholder 2">
            <a:extLst>
              <a:ext uri="{FF2B5EF4-FFF2-40B4-BE49-F238E27FC236}">
                <a16:creationId xmlns:a16="http://schemas.microsoft.com/office/drawing/2014/main" id="{B169A8D1-A08E-F7E3-95BB-2C1B48BFBA01}"/>
              </a:ext>
            </a:extLst>
          </p:cNvPr>
          <p:cNvSpPr>
            <a:spLocks noGrp="1"/>
          </p:cNvSpPr>
          <p:nvPr>
            <p:ph type="body" idx="1"/>
          </p:nvPr>
        </p:nvSpPr>
        <p:spPr>
          <a:xfrm>
            <a:off x="831850" y="2965143"/>
            <a:ext cx="3985247" cy="3124508"/>
          </a:xfrm>
        </p:spPr>
        <p:txBody>
          <a:bodyPr/>
          <a:lstStyle>
            <a:lvl1pPr marL="0" indent="0">
              <a:buNone/>
              <a:defRPr sz="2400">
                <a:solidFill>
                  <a:srgbClr val="B9B9F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Freeform: Shape 3">
            <a:extLst>
              <a:ext uri="{FF2B5EF4-FFF2-40B4-BE49-F238E27FC236}">
                <a16:creationId xmlns:a16="http://schemas.microsoft.com/office/drawing/2014/main" id="{13611CD5-AFB0-9985-D5F6-4C5101806738}"/>
              </a:ext>
            </a:extLst>
          </p:cNvPr>
          <p:cNvSpPr/>
          <p:nvPr userDrawn="1"/>
        </p:nvSpPr>
        <p:spPr>
          <a:xfrm>
            <a:off x="8050998" y="441491"/>
            <a:ext cx="3185827" cy="2883031"/>
          </a:xfrm>
          <a:custGeom>
            <a:avLst/>
            <a:gdLst>
              <a:gd name="connsiteX0" fmla="*/ 641426 w 3185827"/>
              <a:gd name="connsiteY0" fmla="*/ 0 h 2883031"/>
              <a:gd name="connsiteX1" fmla="*/ 0 w 3185827"/>
              <a:gd name="connsiteY1" fmla="*/ 0 h 2883031"/>
              <a:gd name="connsiteX2" fmla="*/ 0 w 3185827"/>
              <a:gd name="connsiteY2" fmla="*/ 2883032 h 2883031"/>
              <a:gd name="connsiteX3" fmla="*/ 3185827 w 3185827"/>
              <a:gd name="connsiteY3" fmla="*/ 2883032 h 2883031"/>
              <a:gd name="connsiteX4" fmla="*/ 3185827 w 3185827"/>
              <a:gd name="connsiteY4" fmla="*/ 2544203 h 2883031"/>
              <a:gd name="connsiteX5" fmla="*/ 641426 w 3185827"/>
              <a:gd name="connsiteY5" fmla="*/ 0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641426" y="0"/>
                </a:moveTo>
                <a:lnTo>
                  <a:pt x="0" y="0"/>
                </a:lnTo>
                <a:cubicBezTo>
                  <a:pt x="0" y="0"/>
                  <a:pt x="0" y="2883032"/>
                  <a:pt x="0" y="2883032"/>
                </a:cubicBezTo>
                <a:lnTo>
                  <a:pt x="3185827" y="2883032"/>
                </a:lnTo>
                <a:cubicBezTo>
                  <a:pt x="3185827" y="2883032"/>
                  <a:pt x="3185827" y="2544203"/>
                  <a:pt x="3185827" y="2544203"/>
                </a:cubicBezTo>
                <a:cubicBezTo>
                  <a:pt x="3185827" y="1144891"/>
                  <a:pt x="2040737" y="0"/>
                  <a:pt x="641426" y="0"/>
                </a:cubicBezTo>
                <a:close/>
              </a:path>
            </a:pathLst>
          </a:custGeom>
          <a:solidFill>
            <a:schemeClr val="accent3">
              <a:alpha val="30000"/>
            </a:schemeClr>
          </a:solidFill>
          <a:ln w="0"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FE159D9A-2134-5565-9625-31A6D601E112}"/>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sp>
        <p:nvSpPr>
          <p:cNvPr id="6" name="Picture Placeholder 12">
            <a:extLst>
              <a:ext uri="{FF2B5EF4-FFF2-40B4-BE49-F238E27FC236}">
                <a16:creationId xmlns:a16="http://schemas.microsoft.com/office/drawing/2014/main" id="{2A3DFFBB-6EB4-A506-9AA4-5CBE701D7551}"/>
              </a:ext>
            </a:extLst>
          </p:cNvPr>
          <p:cNvSpPr>
            <a:spLocks noGrp="1"/>
          </p:cNvSpPr>
          <p:nvPr>
            <p:ph type="pic" sz="quarter" idx="12"/>
          </p:nvPr>
        </p:nvSpPr>
        <p:spPr>
          <a:xfrm>
            <a:off x="8276617"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Tree>
    <p:extLst>
      <p:ext uri="{BB962C8B-B14F-4D97-AF65-F5344CB8AC3E}">
        <p14:creationId xmlns:p14="http://schemas.microsoft.com/office/powerpoint/2010/main" val="435343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90D6E4-64C0-37A2-D8D1-B083EEDB5472}"/>
              </a:ext>
            </a:extLst>
          </p:cNvPr>
          <p:cNvSpPr/>
          <p:nvPr userDrawn="1"/>
        </p:nvSpPr>
        <p:spPr>
          <a:xfrm>
            <a:off x="0" y="0"/>
            <a:ext cx="12192000" cy="6858000"/>
          </a:xfrm>
          <a:prstGeom prst="rect">
            <a:avLst/>
          </a:prstGeom>
          <a:solidFill>
            <a:srgbClr val="0366FF"/>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6A28A232-4877-ECB8-77C6-BD8BF9F549B0}"/>
              </a:ext>
            </a:extLst>
          </p:cNvPr>
          <p:cNvSpPr>
            <a:spLocks noGrp="1"/>
          </p:cNvSpPr>
          <p:nvPr>
            <p:ph type="title"/>
          </p:nvPr>
        </p:nvSpPr>
        <p:spPr>
          <a:xfrm>
            <a:off x="831850" y="3429000"/>
            <a:ext cx="5795193" cy="2852737"/>
          </a:xfrm>
        </p:spPr>
        <p:txBody>
          <a:bodyPr anchor="b"/>
          <a:lstStyle>
            <a:lvl1pPr>
              <a:defRPr sz="6000">
                <a:solidFill>
                  <a:schemeClr val="bg1"/>
                </a:solidFill>
              </a:defRPr>
            </a:lvl1pPr>
          </a:lstStyle>
          <a:p>
            <a:r>
              <a:rPr lang="en-US"/>
              <a:t>Click to edit Master title style</a:t>
            </a:r>
          </a:p>
        </p:txBody>
      </p:sp>
      <p:sp>
        <p:nvSpPr>
          <p:cNvPr id="4" name="Freeform: Shape 3">
            <a:extLst>
              <a:ext uri="{FF2B5EF4-FFF2-40B4-BE49-F238E27FC236}">
                <a16:creationId xmlns:a16="http://schemas.microsoft.com/office/drawing/2014/main" id="{B75C52F2-7F5E-7AB9-35C8-0D7DA40F0CC6}"/>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pic>
        <p:nvPicPr>
          <p:cNvPr id="5" name="Graphic 4">
            <a:extLst>
              <a:ext uri="{FF2B5EF4-FFF2-40B4-BE49-F238E27FC236}">
                <a16:creationId xmlns:a16="http://schemas.microsoft.com/office/drawing/2014/main" id="{C3C74F88-CBEE-F3E1-88DE-9AFE59A7DF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6" name="Freeform: Shape 5">
            <a:extLst>
              <a:ext uri="{FF2B5EF4-FFF2-40B4-BE49-F238E27FC236}">
                <a16:creationId xmlns:a16="http://schemas.microsoft.com/office/drawing/2014/main" id="{9987E131-D314-2CAA-47DC-F1E10B51FE28}"/>
              </a:ext>
            </a:extLst>
          </p:cNvPr>
          <p:cNvSpPr/>
          <p:nvPr userDrawn="1"/>
        </p:nvSpPr>
        <p:spPr>
          <a:xfrm flipH="1" flipV="1">
            <a:off x="8101534" y="2004293"/>
            <a:ext cx="2107444" cy="1907186"/>
          </a:xfrm>
          <a:custGeom>
            <a:avLst/>
            <a:gdLst>
              <a:gd name="connsiteX0" fmla="*/ 417843 w 2074935"/>
              <a:gd name="connsiteY0" fmla="*/ 0 h 1877766"/>
              <a:gd name="connsiteX1" fmla="*/ 0 w 2074935"/>
              <a:gd name="connsiteY1" fmla="*/ 0 h 1877766"/>
              <a:gd name="connsiteX2" fmla="*/ 0 w 2074935"/>
              <a:gd name="connsiteY2" fmla="*/ 1877767 h 1877766"/>
              <a:gd name="connsiteX3" fmla="*/ 2074935 w 2074935"/>
              <a:gd name="connsiteY3" fmla="*/ 1877767 h 1877766"/>
              <a:gd name="connsiteX4" fmla="*/ 2074935 w 2074935"/>
              <a:gd name="connsiteY4" fmla="*/ 1657093 h 1877766"/>
              <a:gd name="connsiteX5" fmla="*/ 417843 w 2074935"/>
              <a:gd name="connsiteY5" fmla="*/ 0 h 187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4935" h="1877766">
                <a:moveTo>
                  <a:pt x="417843" y="0"/>
                </a:moveTo>
                <a:lnTo>
                  <a:pt x="0" y="0"/>
                </a:lnTo>
                <a:cubicBezTo>
                  <a:pt x="0" y="0"/>
                  <a:pt x="0" y="1877767"/>
                  <a:pt x="0" y="1877767"/>
                </a:cubicBezTo>
                <a:lnTo>
                  <a:pt x="2074935" y="1877767"/>
                </a:lnTo>
                <a:cubicBezTo>
                  <a:pt x="2074935" y="1877767"/>
                  <a:pt x="2074935" y="1657093"/>
                  <a:pt x="2074935" y="1657093"/>
                </a:cubicBezTo>
                <a:cubicBezTo>
                  <a:pt x="2074935" y="745648"/>
                  <a:pt x="1329190" y="0"/>
                  <a:pt x="417843" y="0"/>
                </a:cubicBezTo>
                <a:close/>
              </a:path>
            </a:pathLst>
          </a:custGeom>
          <a:solidFill>
            <a:schemeClr val="accent3"/>
          </a:solidFill>
          <a:ln w="0" cap="flat">
            <a:solidFill>
              <a:schemeClr val="accent3"/>
            </a:solidFill>
            <a:prstDash val="solid"/>
            <a:miter/>
          </a:ln>
        </p:spPr>
        <p:txBody>
          <a:bodyPr rtlCol="0" anchor="ctr"/>
          <a:lstStyle/>
          <a:p>
            <a:endParaRPr lang="en-US"/>
          </a:p>
        </p:txBody>
      </p:sp>
      <p:grpSp>
        <p:nvGrpSpPr>
          <p:cNvPr id="7" name="Graphic 4">
            <a:extLst>
              <a:ext uri="{FF2B5EF4-FFF2-40B4-BE49-F238E27FC236}">
                <a16:creationId xmlns:a16="http://schemas.microsoft.com/office/drawing/2014/main" id="{34E1C845-808B-5601-2B7E-AE9AE3740430}"/>
              </a:ext>
            </a:extLst>
          </p:cNvPr>
          <p:cNvGrpSpPr/>
          <p:nvPr userDrawn="1"/>
        </p:nvGrpSpPr>
        <p:grpSpPr>
          <a:xfrm flipH="1" flipV="1">
            <a:off x="6631380" y="995985"/>
            <a:ext cx="4605245" cy="4167637"/>
            <a:chOff x="7648082" y="1376403"/>
            <a:chExt cx="4534204" cy="4103346"/>
          </a:xfrm>
          <a:noFill/>
        </p:grpSpPr>
        <p:sp>
          <p:nvSpPr>
            <p:cNvPr id="8" name="Freeform: Shape 7">
              <a:extLst>
                <a:ext uri="{FF2B5EF4-FFF2-40B4-BE49-F238E27FC236}">
                  <a16:creationId xmlns:a16="http://schemas.microsoft.com/office/drawing/2014/main" id="{D365C319-1459-9B67-4900-C2422BD8E0DA}"/>
                </a:ext>
              </a:extLst>
            </p:cNvPr>
            <p:cNvSpPr/>
            <p:nvPr/>
          </p:nvSpPr>
          <p:spPr>
            <a:xfrm>
              <a:off x="8530292" y="2443252"/>
              <a:ext cx="2399924" cy="2171868"/>
            </a:xfrm>
            <a:custGeom>
              <a:avLst/>
              <a:gdLst>
                <a:gd name="connsiteX0" fmla="*/ 483209 w 2399924"/>
                <a:gd name="connsiteY0" fmla="*/ 0 h 2171868"/>
                <a:gd name="connsiteX1" fmla="*/ 0 w 2399924"/>
                <a:gd name="connsiteY1" fmla="*/ 0 h 2171868"/>
                <a:gd name="connsiteX2" fmla="*/ 0 w 2399924"/>
                <a:gd name="connsiteY2" fmla="*/ 2171869 h 2171868"/>
                <a:gd name="connsiteX3" fmla="*/ 2399924 w 2399924"/>
                <a:gd name="connsiteY3" fmla="*/ 2171869 h 2171868"/>
                <a:gd name="connsiteX4" fmla="*/ 2399924 w 2399924"/>
                <a:gd name="connsiteY4" fmla="*/ 1916715 h 2171868"/>
                <a:gd name="connsiteX5" fmla="*/ 483307 w 2399924"/>
                <a:gd name="connsiteY5" fmla="*/ 97 h 217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9924" h="2171868">
                  <a:moveTo>
                    <a:pt x="483209" y="0"/>
                  </a:moveTo>
                  <a:lnTo>
                    <a:pt x="0" y="0"/>
                  </a:lnTo>
                  <a:cubicBezTo>
                    <a:pt x="0" y="0"/>
                    <a:pt x="0" y="2171869"/>
                    <a:pt x="0" y="2171869"/>
                  </a:cubicBezTo>
                  <a:lnTo>
                    <a:pt x="2399924" y="2171869"/>
                  </a:lnTo>
                  <a:cubicBezTo>
                    <a:pt x="2399924" y="2171869"/>
                    <a:pt x="2399924" y="1916715"/>
                    <a:pt x="2399924" y="1916715"/>
                  </a:cubicBezTo>
                  <a:cubicBezTo>
                    <a:pt x="2399924" y="862590"/>
                    <a:pt x="1537432" y="97"/>
                    <a:pt x="483307" y="97"/>
                  </a:cubicBezTo>
                  <a:close/>
                </a:path>
              </a:pathLst>
            </a:custGeom>
            <a:noFill/>
            <a:ln w="22813" cap="flat">
              <a:solidFill>
                <a:schemeClr val="accent3"/>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2159866-CB6A-C839-13AE-22E86CF7C24E}"/>
                </a:ext>
              </a:extLst>
            </p:cNvPr>
            <p:cNvSpPr/>
            <p:nvPr/>
          </p:nvSpPr>
          <p:spPr>
            <a:xfrm>
              <a:off x="8450064" y="2346222"/>
              <a:ext cx="2593887" cy="2347475"/>
            </a:xfrm>
            <a:custGeom>
              <a:avLst/>
              <a:gdLst>
                <a:gd name="connsiteX0" fmla="*/ 522352 w 2593887"/>
                <a:gd name="connsiteY0" fmla="*/ 0 h 2347475"/>
                <a:gd name="connsiteX1" fmla="*/ 0 w 2593887"/>
                <a:gd name="connsiteY1" fmla="*/ 0 h 2347475"/>
                <a:gd name="connsiteX2" fmla="*/ 0 w 2593887"/>
                <a:gd name="connsiteY2" fmla="*/ 2347475 h 2347475"/>
                <a:gd name="connsiteX3" fmla="*/ 2593888 w 2593887"/>
                <a:gd name="connsiteY3" fmla="*/ 2347475 h 2347475"/>
                <a:gd name="connsiteX4" fmla="*/ 2593888 w 2593887"/>
                <a:gd name="connsiteY4" fmla="*/ 2071633 h 2347475"/>
                <a:gd name="connsiteX5" fmla="*/ 522255 w 2593887"/>
                <a:gd name="connsiteY5" fmla="*/ 0 h 234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887" h="2347475">
                  <a:moveTo>
                    <a:pt x="522352" y="0"/>
                  </a:moveTo>
                  <a:lnTo>
                    <a:pt x="0" y="0"/>
                  </a:lnTo>
                  <a:cubicBezTo>
                    <a:pt x="0" y="0"/>
                    <a:pt x="0" y="2347475"/>
                    <a:pt x="0" y="2347475"/>
                  </a:cubicBezTo>
                  <a:lnTo>
                    <a:pt x="2593888" y="2347475"/>
                  </a:lnTo>
                  <a:cubicBezTo>
                    <a:pt x="2593888" y="2347475"/>
                    <a:pt x="2593888" y="2071633"/>
                    <a:pt x="2593888" y="2071633"/>
                  </a:cubicBezTo>
                  <a:cubicBezTo>
                    <a:pt x="2593888" y="932230"/>
                    <a:pt x="1661658" y="0"/>
                    <a:pt x="522255" y="0"/>
                  </a:cubicBezTo>
                  <a:close/>
                </a:path>
              </a:pathLst>
            </a:custGeom>
            <a:noFill/>
            <a:ln w="22813" cap="flat">
              <a:solidFill>
                <a:schemeClr val="accent3"/>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9F30909-7351-CC52-AD47-DC0F1719BF2D}"/>
                </a:ext>
              </a:extLst>
            </p:cNvPr>
            <p:cNvSpPr/>
            <p:nvPr/>
          </p:nvSpPr>
          <p:spPr>
            <a:xfrm>
              <a:off x="8369837" y="2249289"/>
              <a:ext cx="2787948" cy="2522984"/>
            </a:xfrm>
            <a:custGeom>
              <a:avLst/>
              <a:gdLst>
                <a:gd name="connsiteX0" fmla="*/ 561397 w 2787948"/>
                <a:gd name="connsiteY0" fmla="*/ 0 h 2522984"/>
                <a:gd name="connsiteX1" fmla="*/ 0 w 2787948"/>
                <a:gd name="connsiteY1" fmla="*/ 0 h 2522984"/>
                <a:gd name="connsiteX2" fmla="*/ 0 w 2787948"/>
                <a:gd name="connsiteY2" fmla="*/ 2522985 h 2522984"/>
                <a:gd name="connsiteX3" fmla="*/ 2787949 w 2787948"/>
                <a:gd name="connsiteY3" fmla="*/ 2522985 h 2522984"/>
                <a:gd name="connsiteX4" fmla="*/ 2787949 w 2787948"/>
                <a:gd name="connsiteY4" fmla="*/ 2226552 h 2522984"/>
                <a:gd name="connsiteX5" fmla="*/ 561397 w 2787948"/>
                <a:gd name="connsiteY5" fmla="*/ 0 h 252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7948" h="2522984">
                  <a:moveTo>
                    <a:pt x="561397" y="0"/>
                  </a:moveTo>
                  <a:lnTo>
                    <a:pt x="0" y="0"/>
                  </a:lnTo>
                  <a:cubicBezTo>
                    <a:pt x="0" y="0"/>
                    <a:pt x="0" y="2522985"/>
                    <a:pt x="0" y="2522985"/>
                  </a:cubicBezTo>
                  <a:lnTo>
                    <a:pt x="2787949" y="2522985"/>
                  </a:lnTo>
                  <a:cubicBezTo>
                    <a:pt x="2787949" y="2522985"/>
                    <a:pt x="2787949" y="2226552"/>
                    <a:pt x="2787949" y="2226552"/>
                  </a:cubicBezTo>
                  <a:cubicBezTo>
                    <a:pt x="2787949" y="1001968"/>
                    <a:pt x="1785981" y="0"/>
                    <a:pt x="561397" y="0"/>
                  </a:cubicBezTo>
                  <a:close/>
                </a:path>
              </a:pathLst>
            </a:custGeom>
            <a:noFill/>
            <a:ln w="22813" cap="flat">
              <a:solidFill>
                <a:schemeClr val="accent3"/>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F0931AF-A759-931D-1D54-6BA4FE51332E}"/>
                </a:ext>
              </a:extLst>
            </p:cNvPr>
            <p:cNvSpPr/>
            <p:nvPr/>
          </p:nvSpPr>
          <p:spPr>
            <a:xfrm>
              <a:off x="8289707" y="2152161"/>
              <a:ext cx="2982009" cy="2698688"/>
            </a:xfrm>
            <a:custGeom>
              <a:avLst/>
              <a:gdLst>
                <a:gd name="connsiteX0" fmla="*/ 600442 w 2982009"/>
                <a:gd name="connsiteY0" fmla="*/ 97 h 2698688"/>
                <a:gd name="connsiteX1" fmla="*/ 0 w 2982009"/>
                <a:gd name="connsiteY1" fmla="*/ 97 h 2698688"/>
                <a:gd name="connsiteX2" fmla="*/ 0 w 2982009"/>
                <a:gd name="connsiteY2" fmla="*/ 2698689 h 2698688"/>
                <a:gd name="connsiteX3" fmla="*/ 2982009 w 2982009"/>
                <a:gd name="connsiteY3" fmla="*/ 2698689 h 2698688"/>
                <a:gd name="connsiteX4" fmla="*/ 2982009 w 2982009"/>
                <a:gd name="connsiteY4" fmla="*/ 2381567 h 2698688"/>
                <a:gd name="connsiteX5" fmla="*/ 600442 w 2982009"/>
                <a:gd name="connsiteY5" fmla="*/ 0 h 269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2009" h="2698688">
                  <a:moveTo>
                    <a:pt x="600442" y="97"/>
                  </a:moveTo>
                  <a:lnTo>
                    <a:pt x="0" y="97"/>
                  </a:lnTo>
                  <a:cubicBezTo>
                    <a:pt x="0" y="97"/>
                    <a:pt x="0" y="2698689"/>
                    <a:pt x="0" y="2698689"/>
                  </a:cubicBezTo>
                  <a:lnTo>
                    <a:pt x="2982009" y="2698689"/>
                  </a:lnTo>
                  <a:cubicBezTo>
                    <a:pt x="2982009" y="2698689"/>
                    <a:pt x="2982009" y="2381567"/>
                    <a:pt x="2982009" y="2381567"/>
                  </a:cubicBezTo>
                  <a:cubicBezTo>
                    <a:pt x="2982009" y="1071705"/>
                    <a:pt x="1910304" y="0"/>
                    <a:pt x="600442" y="0"/>
                  </a:cubicBezTo>
                  <a:close/>
                </a:path>
              </a:pathLst>
            </a:custGeom>
            <a:noFill/>
            <a:ln w="22813" cap="flat">
              <a:solidFill>
                <a:schemeClr val="accent3"/>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16F574-8BC7-D7AC-1D88-DE833A637B09}"/>
                </a:ext>
              </a:extLst>
            </p:cNvPr>
            <p:cNvSpPr/>
            <p:nvPr/>
          </p:nvSpPr>
          <p:spPr>
            <a:xfrm>
              <a:off x="8209480" y="2055325"/>
              <a:ext cx="3175972" cy="2874197"/>
            </a:xfrm>
            <a:custGeom>
              <a:avLst/>
              <a:gdLst>
                <a:gd name="connsiteX0" fmla="*/ 639488 w 3175972"/>
                <a:gd name="connsiteY0" fmla="*/ 0 h 2874197"/>
                <a:gd name="connsiteX1" fmla="*/ 0 w 3175972"/>
                <a:gd name="connsiteY1" fmla="*/ 0 h 2874197"/>
                <a:gd name="connsiteX2" fmla="*/ 0 w 3175972"/>
                <a:gd name="connsiteY2" fmla="*/ 2874198 h 2874197"/>
                <a:gd name="connsiteX3" fmla="*/ 3175973 w 3175972"/>
                <a:gd name="connsiteY3" fmla="*/ 2874198 h 2874197"/>
                <a:gd name="connsiteX4" fmla="*/ 3175973 w 3175972"/>
                <a:gd name="connsiteY4" fmla="*/ 2536486 h 2874197"/>
                <a:gd name="connsiteX5" fmla="*/ 639488 w 3175972"/>
                <a:gd name="connsiteY5" fmla="*/ 0 h 2874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5972" h="2874197">
                  <a:moveTo>
                    <a:pt x="639488" y="0"/>
                  </a:moveTo>
                  <a:lnTo>
                    <a:pt x="0" y="0"/>
                  </a:lnTo>
                  <a:cubicBezTo>
                    <a:pt x="0" y="0"/>
                    <a:pt x="0" y="2874198"/>
                    <a:pt x="0" y="2874198"/>
                  </a:cubicBezTo>
                  <a:lnTo>
                    <a:pt x="3175973" y="2874198"/>
                  </a:lnTo>
                  <a:cubicBezTo>
                    <a:pt x="3175973" y="2874198"/>
                    <a:pt x="3175973" y="2536486"/>
                    <a:pt x="3175973" y="2536486"/>
                  </a:cubicBezTo>
                  <a:cubicBezTo>
                    <a:pt x="3175973" y="1141443"/>
                    <a:pt x="2034530" y="0"/>
                    <a:pt x="639488" y="0"/>
                  </a:cubicBezTo>
                  <a:close/>
                </a:path>
              </a:pathLst>
            </a:custGeom>
            <a:noFill/>
            <a:ln w="22813" cap="flat">
              <a:solidFill>
                <a:schemeClr val="accent3"/>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DA0745-5885-DD71-E99D-D5D1B0CF86E4}"/>
                </a:ext>
              </a:extLst>
            </p:cNvPr>
            <p:cNvSpPr/>
            <p:nvPr/>
          </p:nvSpPr>
          <p:spPr>
            <a:xfrm>
              <a:off x="8129252" y="1958294"/>
              <a:ext cx="3370033" cy="3049804"/>
            </a:xfrm>
            <a:custGeom>
              <a:avLst/>
              <a:gdLst>
                <a:gd name="connsiteX0" fmla="*/ 678630 w 3370033"/>
                <a:gd name="connsiteY0" fmla="*/ 0 h 3049804"/>
                <a:gd name="connsiteX1" fmla="*/ 0 w 3370033"/>
                <a:gd name="connsiteY1" fmla="*/ 0 h 3049804"/>
                <a:gd name="connsiteX2" fmla="*/ 0 w 3370033"/>
                <a:gd name="connsiteY2" fmla="*/ 3049804 h 3049804"/>
                <a:gd name="connsiteX3" fmla="*/ 3370034 w 3370033"/>
                <a:gd name="connsiteY3" fmla="*/ 3049804 h 3049804"/>
                <a:gd name="connsiteX4" fmla="*/ 3370034 w 3370033"/>
                <a:gd name="connsiteY4" fmla="*/ 2691404 h 3049804"/>
                <a:gd name="connsiteX5" fmla="*/ 678630 w 3370033"/>
                <a:gd name="connsiteY5" fmla="*/ 0 h 304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0033" h="3049804">
                  <a:moveTo>
                    <a:pt x="678630" y="0"/>
                  </a:moveTo>
                  <a:lnTo>
                    <a:pt x="0" y="0"/>
                  </a:lnTo>
                  <a:cubicBezTo>
                    <a:pt x="0" y="0"/>
                    <a:pt x="0" y="3049804"/>
                    <a:pt x="0" y="3049804"/>
                  </a:cubicBezTo>
                  <a:lnTo>
                    <a:pt x="3370034" y="3049804"/>
                  </a:lnTo>
                  <a:cubicBezTo>
                    <a:pt x="3370034" y="3049804"/>
                    <a:pt x="3370034" y="2691404"/>
                    <a:pt x="3370034" y="2691404"/>
                  </a:cubicBezTo>
                  <a:cubicBezTo>
                    <a:pt x="3370034" y="1211083"/>
                    <a:pt x="2158854" y="0"/>
                    <a:pt x="678630" y="0"/>
                  </a:cubicBezTo>
                  <a:close/>
                </a:path>
              </a:pathLst>
            </a:custGeom>
            <a:noFill/>
            <a:ln w="22813" cap="flat">
              <a:solidFill>
                <a:schemeClr val="accent3"/>
              </a:solid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2BD5391-22D2-56B7-1561-4B7441FCF11E}"/>
                </a:ext>
              </a:extLst>
            </p:cNvPr>
            <p:cNvSpPr/>
            <p:nvPr/>
          </p:nvSpPr>
          <p:spPr>
            <a:xfrm>
              <a:off x="8049122" y="1861361"/>
              <a:ext cx="3564094" cy="3225410"/>
            </a:xfrm>
            <a:custGeom>
              <a:avLst/>
              <a:gdLst>
                <a:gd name="connsiteX0" fmla="*/ 717675 w 3564094"/>
                <a:gd name="connsiteY0" fmla="*/ 0 h 3225410"/>
                <a:gd name="connsiteX1" fmla="*/ 0 w 3564094"/>
                <a:gd name="connsiteY1" fmla="*/ 0 h 3225410"/>
                <a:gd name="connsiteX2" fmla="*/ 0 w 3564094"/>
                <a:gd name="connsiteY2" fmla="*/ 3225411 h 3225410"/>
                <a:gd name="connsiteX3" fmla="*/ 3564095 w 3564094"/>
                <a:gd name="connsiteY3" fmla="*/ 3225411 h 3225410"/>
                <a:gd name="connsiteX4" fmla="*/ 3564095 w 3564094"/>
                <a:gd name="connsiteY4" fmla="*/ 2846420 h 3225410"/>
                <a:gd name="connsiteX5" fmla="*/ 717675 w 3564094"/>
                <a:gd name="connsiteY5" fmla="*/ 0 h 3225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4094" h="3225410">
                  <a:moveTo>
                    <a:pt x="717675" y="0"/>
                  </a:moveTo>
                  <a:lnTo>
                    <a:pt x="0" y="0"/>
                  </a:lnTo>
                  <a:cubicBezTo>
                    <a:pt x="0" y="0"/>
                    <a:pt x="0" y="3225411"/>
                    <a:pt x="0" y="3225411"/>
                  </a:cubicBezTo>
                  <a:lnTo>
                    <a:pt x="3564095" y="3225411"/>
                  </a:lnTo>
                  <a:cubicBezTo>
                    <a:pt x="3564095" y="3225411"/>
                    <a:pt x="3564095" y="2846420"/>
                    <a:pt x="3564095" y="2846420"/>
                  </a:cubicBezTo>
                  <a:cubicBezTo>
                    <a:pt x="3564095" y="1280918"/>
                    <a:pt x="2283177" y="0"/>
                    <a:pt x="717675" y="0"/>
                  </a:cubicBezTo>
                  <a:close/>
                </a:path>
              </a:pathLst>
            </a:custGeom>
            <a:noFill/>
            <a:ln w="22813" cap="flat">
              <a:solidFill>
                <a:schemeClr val="accent3"/>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C51AE05-5125-9A0C-2234-D4571A7B8751}"/>
                </a:ext>
              </a:extLst>
            </p:cNvPr>
            <p:cNvSpPr/>
            <p:nvPr/>
          </p:nvSpPr>
          <p:spPr>
            <a:xfrm>
              <a:off x="7968895" y="1764331"/>
              <a:ext cx="3758058" cy="3401017"/>
            </a:xfrm>
            <a:custGeom>
              <a:avLst/>
              <a:gdLst>
                <a:gd name="connsiteX0" fmla="*/ 756721 w 3758058"/>
                <a:gd name="connsiteY0" fmla="*/ 0 h 3401017"/>
                <a:gd name="connsiteX1" fmla="*/ 0 w 3758058"/>
                <a:gd name="connsiteY1" fmla="*/ 0 h 3401017"/>
                <a:gd name="connsiteX2" fmla="*/ 0 w 3758058"/>
                <a:gd name="connsiteY2" fmla="*/ 3401018 h 3401017"/>
                <a:gd name="connsiteX3" fmla="*/ 3758058 w 3758058"/>
                <a:gd name="connsiteY3" fmla="*/ 3401018 h 3401017"/>
                <a:gd name="connsiteX4" fmla="*/ 3758058 w 3758058"/>
                <a:gd name="connsiteY4" fmla="*/ 3001435 h 3401017"/>
                <a:gd name="connsiteX5" fmla="*/ 756721 w 3758058"/>
                <a:gd name="connsiteY5" fmla="*/ 97 h 340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8058" h="3401017">
                  <a:moveTo>
                    <a:pt x="756721" y="0"/>
                  </a:moveTo>
                  <a:lnTo>
                    <a:pt x="0" y="0"/>
                  </a:lnTo>
                  <a:cubicBezTo>
                    <a:pt x="0" y="0"/>
                    <a:pt x="0" y="3401018"/>
                    <a:pt x="0" y="3401018"/>
                  </a:cubicBezTo>
                  <a:lnTo>
                    <a:pt x="3758058" y="3401018"/>
                  </a:lnTo>
                  <a:cubicBezTo>
                    <a:pt x="3758058" y="3401018"/>
                    <a:pt x="3758058" y="3001435"/>
                    <a:pt x="3758058" y="3001435"/>
                  </a:cubicBezTo>
                  <a:cubicBezTo>
                    <a:pt x="3758058" y="1350655"/>
                    <a:pt x="2407403" y="97"/>
                    <a:pt x="756721" y="97"/>
                  </a:cubicBezTo>
                  <a:close/>
                </a:path>
              </a:pathLst>
            </a:custGeom>
            <a:noFill/>
            <a:ln w="22813" cap="flat">
              <a:solidFill>
                <a:schemeClr val="accent3"/>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E28954-65CE-131F-B818-C57CE2823510}"/>
                </a:ext>
              </a:extLst>
            </p:cNvPr>
            <p:cNvSpPr/>
            <p:nvPr/>
          </p:nvSpPr>
          <p:spPr>
            <a:xfrm>
              <a:off x="7888667" y="1667300"/>
              <a:ext cx="3952119" cy="3576623"/>
            </a:xfrm>
            <a:custGeom>
              <a:avLst/>
              <a:gdLst>
                <a:gd name="connsiteX0" fmla="*/ 795863 w 3952119"/>
                <a:gd name="connsiteY0" fmla="*/ 97 h 3576623"/>
                <a:gd name="connsiteX1" fmla="*/ 0 w 3952119"/>
                <a:gd name="connsiteY1" fmla="*/ 97 h 3576623"/>
                <a:gd name="connsiteX2" fmla="*/ 0 w 3952119"/>
                <a:gd name="connsiteY2" fmla="*/ 3576624 h 3576623"/>
                <a:gd name="connsiteX3" fmla="*/ 3952119 w 3952119"/>
                <a:gd name="connsiteY3" fmla="*/ 3576624 h 3576623"/>
                <a:gd name="connsiteX4" fmla="*/ 3952119 w 3952119"/>
                <a:gd name="connsiteY4" fmla="*/ 3156353 h 3576623"/>
                <a:gd name="connsiteX5" fmla="*/ 795766 w 3952119"/>
                <a:gd name="connsiteY5" fmla="*/ 0 h 357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52119" h="3576623">
                  <a:moveTo>
                    <a:pt x="795863" y="97"/>
                  </a:moveTo>
                  <a:lnTo>
                    <a:pt x="0" y="97"/>
                  </a:lnTo>
                  <a:cubicBezTo>
                    <a:pt x="0" y="97"/>
                    <a:pt x="0" y="3576624"/>
                    <a:pt x="0" y="3576624"/>
                  </a:cubicBezTo>
                  <a:lnTo>
                    <a:pt x="3952119" y="3576624"/>
                  </a:lnTo>
                  <a:cubicBezTo>
                    <a:pt x="3952119" y="3576624"/>
                    <a:pt x="3952119" y="3156353"/>
                    <a:pt x="3952119" y="3156353"/>
                  </a:cubicBezTo>
                  <a:cubicBezTo>
                    <a:pt x="3952119" y="1420393"/>
                    <a:pt x="2531726" y="0"/>
                    <a:pt x="795766" y="0"/>
                  </a:cubicBezTo>
                  <a:close/>
                </a:path>
              </a:pathLst>
            </a:custGeom>
            <a:noFill/>
            <a:ln w="22813" cap="flat">
              <a:solidFill>
                <a:schemeClr val="accent3"/>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C51F013-799A-B6B0-F45A-E627BC708A2E}"/>
                </a:ext>
              </a:extLst>
            </p:cNvPr>
            <p:cNvSpPr/>
            <p:nvPr/>
          </p:nvSpPr>
          <p:spPr>
            <a:xfrm>
              <a:off x="7808537" y="1570367"/>
              <a:ext cx="4146179" cy="3752133"/>
            </a:xfrm>
            <a:custGeom>
              <a:avLst/>
              <a:gdLst>
                <a:gd name="connsiteX0" fmla="*/ 834811 w 4146179"/>
                <a:gd name="connsiteY0" fmla="*/ 0 h 3752133"/>
                <a:gd name="connsiteX1" fmla="*/ 0 w 4146179"/>
                <a:gd name="connsiteY1" fmla="*/ 0 h 3752133"/>
                <a:gd name="connsiteX2" fmla="*/ 0 w 4146179"/>
                <a:gd name="connsiteY2" fmla="*/ 3752134 h 3752133"/>
                <a:gd name="connsiteX3" fmla="*/ 4146180 w 4146179"/>
                <a:gd name="connsiteY3" fmla="*/ 3752134 h 3752133"/>
                <a:gd name="connsiteX4" fmla="*/ 4146180 w 4146179"/>
                <a:gd name="connsiteY4" fmla="*/ 3311272 h 3752133"/>
                <a:gd name="connsiteX5" fmla="*/ 834908 w 4146179"/>
                <a:gd name="connsiteY5" fmla="*/ 0 h 375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6179" h="3752133">
                  <a:moveTo>
                    <a:pt x="834811" y="0"/>
                  </a:moveTo>
                  <a:lnTo>
                    <a:pt x="0" y="0"/>
                  </a:lnTo>
                  <a:cubicBezTo>
                    <a:pt x="0" y="0"/>
                    <a:pt x="0" y="3752134"/>
                    <a:pt x="0" y="3752134"/>
                  </a:cubicBezTo>
                  <a:lnTo>
                    <a:pt x="4146180" y="3752134"/>
                  </a:lnTo>
                  <a:cubicBezTo>
                    <a:pt x="4146180" y="3752134"/>
                    <a:pt x="4146180" y="3311272"/>
                    <a:pt x="4146180" y="3311272"/>
                  </a:cubicBezTo>
                  <a:cubicBezTo>
                    <a:pt x="4146180" y="1490034"/>
                    <a:pt x="2656147" y="0"/>
                    <a:pt x="834908" y="0"/>
                  </a:cubicBezTo>
                  <a:close/>
                </a:path>
              </a:pathLst>
            </a:custGeom>
            <a:noFill/>
            <a:ln w="22813" cap="flat">
              <a:solidFill>
                <a:schemeClr val="accent3"/>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B26D6E7-2D9B-14BD-E404-BFE5AE25DAAB}"/>
                </a:ext>
              </a:extLst>
            </p:cNvPr>
            <p:cNvSpPr/>
            <p:nvPr/>
          </p:nvSpPr>
          <p:spPr>
            <a:xfrm>
              <a:off x="7728310" y="1473337"/>
              <a:ext cx="4340143" cy="3927837"/>
            </a:xfrm>
            <a:custGeom>
              <a:avLst/>
              <a:gdLst>
                <a:gd name="connsiteX0" fmla="*/ 873954 w 4340143"/>
                <a:gd name="connsiteY0" fmla="*/ 97 h 3927837"/>
                <a:gd name="connsiteX1" fmla="*/ 0 w 4340143"/>
                <a:gd name="connsiteY1" fmla="*/ 97 h 3927837"/>
                <a:gd name="connsiteX2" fmla="*/ 0 w 4340143"/>
                <a:gd name="connsiteY2" fmla="*/ 3927837 h 3927837"/>
                <a:gd name="connsiteX3" fmla="*/ 4340144 w 4340143"/>
                <a:gd name="connsiteY3" fmla="*/ 3927837 h 3927837"/>
                <a:gd name="connsiteX4" fmla="*/ 4340144 w 4340143"/>
                <a:gd name="connsiteY4" fmla="*/ 3466287 h 3927837"/>
                <a:gd name="connsiteX5" fmla="*/ 873856 w 4340143"/>
                <a:gd name="connsiteY5" fmla="*/ 0 h 392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0143" h="3927837">
                  <a:moveTo>
                    <a:pt x="873954" y="97"/>
                  </a:moveTo>
                  <a:lnTo>
                    <a:pt x="0" y="97"/>
                  </a:lnTo>
                  <a:cubicBezTo>
                    <a:pt x="0" y="97"/>
                    <a:pt x="0" y="3927837"/>
                    <a:pt x="0" y="3927837"/>
                  </a:cubicBezTo>
                  <a:lnTo>
                    <a:pt x="4340144" y="3927837"/>
                  </a:lnTo>
                  <a:cubicBezTo>
                    <a:pt x="4340144" y="3927837"/>
                    <a:pt x="4340144" y="3466287"/>
                    <a:pt x="4340144" y="3466287"/>
                  </a:cubicBezTo>
                  <a:cubicBezTo>
                    <a:pt x="4340144" y="1559868"/>
                    <a:pt x="2780373" y="0"/>
                    <a:pt x="873856" y="0"/>
                  </a:cubicBezTo>
                  <a:close/>
                </a:path>
              </a:pathLst>
            </a:custGeom>
            <a:noFill/>
            <a:ln w="22813" cap="flat">
              <a:solidFill>
                <a:schemeClr val="accent3"/>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1A8DCA0-D108-7703-A19B-60B550033138}"/>
                </a:ext>
              </a:extLst>
            </p:cNvPr>
            <p:cNvSpPr/>
            <p:nvPr/>
          </p:nvSpPr>
          <p:spPr>
            <a:xfrm>
              <a:off x="7648082" y="1376403"/>
              <a:ext cx="4534204" cy="4103346"/>
            </a:xfrm>
            <a:custGeom>
              <a:avLst/>
              <a:gdLst>
                <a:gd name="connsiteX0" fmla="*/ 912999 w 4534204"/>
                <a:gd name="connsiteY0" fmla="*/ 0 h 4103346"/>
                <a:gd name="connsiteX1" fmla="*/ 0 w 4534204"/>
                <a:gd name="connsiteY1" fmla="*/ 0 h 4103346"/>
                <a:gd name="connsiteX2" fmla="*/ 0 w 4534204"/>
                <a:gd name="connsiteY2" fmla="*/ 4103347 h 4103346"/>
                <a:gd name="connsiteX3" fmla="*/ 4534205 w 4534204"/>
                <a:gd name="connsiteY3" fmla="*/ 4103347 h 4103346"/>
                <a:gd name="connsiteX4" fmla="*/ 4534205 w 4534204"/>
                <a:gd name="connsiteY4" fmla="*/ 3621206 h 4103346"/>
                <a:gd name="connsiteX5" fmla="*/ 912999 w 4534204"/>
                <a:gd name="connsiteY5" fmla="*/ 0 h 410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34204" h="4103346">
                  <a:moveTo>
                    <a:pt x="912999" y="0"/>
                  </a:moveTo>
                  <a:lnTo>
                    <a:pt x="0" y="0"/>
                  </a:lnTo>
                  <a:cubicBezTo>
                    <a:pt x="0" y="0"/>
                    <a:pt x="0" y="4103347"/>
                    <a:pt x="0" y="4103347"/>
                  </a:cubicBezTo>
                  <a:lnTo>
                    <a:pt x="4534205" y="4103347"/>
                  </a:lnTo>
                  <a:cubicBezTo>
                    <a:pt x="4534205" y="4103347"/>
                    <a:pt x="4534205" y="3621206"/>
                    <a:pt x="4534205" y="3621206"/>
                  </a:cubicBezTo>
                  <a:cubicBezTo>
                    <a:pt x="4534205" y="1629509"/>
                    <a:pt x="2904696" y="0"/>
                    <a:pt x="912999" y="0"/>
                  </a:cubicBezTo>
                  <a:close/>
                </a:path>
              </a:pathLst>
            </a:custGeom>
            <a:noFill/>
            <a:ln w="22813" cap="flat">
              <a:solidFill>
                <a:schemeClr val="accent3"/>
              </a:solidFill>
              <a:prstDash val="solid"/>
              <a:miter/>
            </a:ln>
          </p:spPr>
          <p:txBody>
            <a:bodyPr rtlCol="0" anchor="ctr"/>
            <a:lstStyle/>
            <a:p>
              <a:endParaRPr lang="en-US"/>
            </a:p>
          </p:txBody>
        </p:sp>
      </p:grpSp>
      <p:sp>
        <p:nvSpPr>
          <p:cNvPr id="20" name="Picture Placeholder 6">
            <a:extLst>
              <a:ext uri="{FF2B5EF4-FFF2-40B4-BE49-F238E27FC236}">
                <a16:creationId xmlns:a16="http://schemas.microsoft.com/office/drawing/2014/main" id="{94A18471-8279-D2BD-A87C-F3929C62AC66}"/>
              </a:ext>
            </a:extLst>
          </p:cNvPr>
          <p:cNvSpPr>
            <a:spLocks noGrp="1"/>
          </p:cNvSpPr>
          <p:nvPr>
            <p:ph type="pic" sz="quarter" idx="10"/>
          </p:nvPr>
        </p:nvSpPr>
        <p:spPr>
          <a:xfrm>
            <a:off x="6259398" y="2246255"/>
            <a:ext cx="3680538" cy="3330822"/>
          </a:xfrm>
          <a:custGeom>
            <a:avLst/>
            <a:gdLst>
              <a:gd name="connsiteX0" fmla="*/ 0 w 3623762"/>
              <a:gd name="connsiteY0" fmla="*/ 0 h 3279440"/>
              <a:gd name="connsiteX1" fmla="*/ 3623762 w 3623762"/>
              <a:gd name="connsiteY1" fmla="*/ 0 h 3279440"/>
              <a:gd name="connsiteX2" fmla="*/ 3623762 w 3623762"/>
              <a:gd name="connsiteY2" fmla="*/ 3279333 h 3279440"/>
              <a:gd name="connsiteX3" fmla="*/ 2894067 w 3623762"/>
              <a:gd name="connsiteY3" fmla="*/ 3279333 h 3279440"/>
              <a:gd name="connsiteX4" fmla="*/ 2894067 w 3623762"/>
              <a:gd name="connsiteY4" fmla="*/ 3279440 h 3279440"/>
              <a:gd name="connsiteX5" fmla="*/ 0 w 3623762"/>
              <a:gd name="connsiteY5" fmla="*/ 385375 h 3279440"/>
              <a:gd name="connsiteX6" fmla="*/ 0 w 3623762"/>
              <a:gd name="connsiteY6" fmla="*/ 0 h 327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23762" h="3279440">
                <a:moveTo>
                  <a:pt x="0" y="0"/>
                </a:moveTo>
                <a:lnTo>
                  <a:pt x="3623762" y="0"/>
                </a:lnTo>
                <a:cubicBezTo>
                  <a:pt x="3623762" y="0"/>
                  <a:pt x="3623762" y="3279333"/>
                  <a:pt x="3623762" y="3279333"/>
                </a:cubicBezTo>
                <a:lnTo>
                  <a:pt x="2894067" y="3279333"/>
                </a:lnTo>
                <a:lnTo>
                  <a:pt x="2894067" y="3279440"/>
                </a:lnTo>
                <a:cubicBezTo>
                  <a:pt x="1302277" y="3279440"/>
                  <a:pt x="0" y="1977056"/>
                  <a:pt x="0" y="385375"/>
                </a:cubicBezTo>
                <a:cubicBezTo>
                  <a:pt x="0" y="385375"/>
                  <a:pt x="0" y="0"/>
                  <a:pt x="0" y="0"/>
                </a:cubicBezTo>
                <a:close/>
              </a:path>
            </a:pathLst>
          </a:custGeom>
        </p:spPr>
        <p:txBody>
          <a:bodyPr wrap="square">
            <a:noAutofit/>
          </a:bodyPr>
          <a:lstStyle/>
          <a:p>
            <a:endParaRPr lang="en-US"/>
          </a:p>
        </p:txBody>
      </p:sp>
      <p:grpSp>
        <p:nvGrpSpPr>
          <p:cNvPr id="21" name="Group 20">
            <a:extLst>
              <a:ext uri="{FF2B5EF4-FFF2-40B4-BE49-F238E27FC236}">
                <a16:creationId xmlns:a16="http://schemas.microsoft.com/office/drawing/2014/main" id="{986BBF8F-B8DC-ADC4-090F-93E56E33656F}"/>
              </a:ext>
            </a:extLst>
          </p:cNvPr>
          <p:cNvGrpSpPr/>
          <p:nvPr userDrawn="1"/>
        </p:nvGrpSpPr>
        <p:grpSpPr>
          <a:xfrm>
            <a:off x="11558587" y="3429000"/>
            <a:ext cx="504825" cy="3240562"/>
            <a:chOff x="11558587" y="3429000"/>
            <a:chExt cx="504825" cy="3240562"/>
          </a:xfrm>
          <a:noFill/>
        </p:grpSpPr>
        <p:pic>
          <p:nvPicPr>
            <p:cNvPr id="22" name="Graphic 21">
              <a:extLst>
                <a:ext uri="{FF2B5EF4-FFF2-40B4-BE49-F238E27FC236}">
                  <a16:creationId xmlns:a16="http://schemas.microsoft.com/office/drawing/2014/main" id="{6C817E87-37D1-907A-EC0C-17E0A1FD9F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
          <p:nvSpPr>
            <p:cNvPr id="23" name="TextBox 22">
              <a:extLst>
                <a:ext uri="{FF2B5EF4-FFF2-40B4-BE49-F238E27FC236}">
                  <a16:creationId xmlns:a16="http://schemas.microsoft.com/office/drawing/2014/main" id="{C1F2B8BC-7A0A-5981-70EF-5E8172A7D264}"/>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24" name="Straight Connector 23">
            <a:extLst>
              <a:ext uri="{FF2B5EF4-FFF2-40B4-BE49-F238E27FC236}">
                <a16:creationId xmlns:a16="http://schemas.microsoft.com/office/drawing/2014/main" id="{F3B60EC4-B7E2-0F19-7556-4D251C975D50}"/>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9510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Blank">
    <p:spTree>
      <p:nvGrpSpPr>
        <p:cNvPr id="1" name=""/>
        <p:cNvGrpSpPr/>
        <p:nvPr/>
      </p:nvGrpSpPr>
      <p:grpSpPr>
        <a:xfrm>
          <a:off x="0" y="0"/>
          <a:ext cx="0" cy="0"/>
          <a:chOff x="0" y="0"/>
          <a:chExt cx="0" cy="0"/>
        </a:xfrm>
      </p:grpSpPr>
      <p:pic>
        <p:nvPicPr>
          <p:cNvPr id="2" name="Picture 1" descr="Close-up of a group of glass containers&#10;&#10;AI-generated content may be incorrect.">
            <a:extLst>
              <a:ext uri="{FF2B5EF4-FFF2-40B4-BE49-F238E27FC236}">
                <a16:creationId xmlns:a16="http://schemas.microsoft.com/office/drawing/2014/main" id="{F1CB07E2-B7B0-E917-3452-6485116468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2667001" y="-2667000"/>
            <a:ext cx="6858002" cy="12192001"/>
          </a:xfrm>
          <a:prstGeom prst="rect">
            <a:avLst/>
          </a:prstGeom>
        </p:spPr>
      </p:pic>
      <p:cxnSp>
        <p:nvCxnSpPr>
          <p:cNvPr id="3" name="Straight Connector 2">
            <a:extLst>
              <a:ext uri="{FF2B5EF4-FFF2-40B4-BE49-F238E27FC236}">
                <a16:creationId xmlns:a16="http://schemas.microsoft.com/office/drawing/2014/main" id="{FE8F036F-B73B-206A-778C-8CA7CA425315}"/>
              </a:ext>
            </a:extLst>
          </p:cNvPr>
          <p:cNvCxnSpPr/>
          <p:nvPr userDrawn="1"/>
        </p:nvCxnSpPr>
        <p:spPr>
          <a:xfrm>
            <a:off x="10274536" y="6504628"/>
            <a:ext cx="1284051" cy="0"/>
          </a:xfrm>
          <a:prstGeom prst="line">
            <a:avLst/>
          </a:prstGeom>
          <a:ln w="28575">
            <a:no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0900D4C8-3F2F-6B7B-1B41-661B4D502ADE}"/>
              </a:ext>
            </a:extLst>
          </p:cNvPr>
          <p:cNvSpPr>
            <a:spLocks noGrp="1"/>
          </p:cNvSpPr>
          <p:nvPr>
            <p:ph type="title"/>
          </p:nvPr>
        </p:nvSpPr>
        <p:spPr>
          <a:xfrm>
            <a:off x="515144" y="3264375"/>
            <a:ext cx="4566307" cy="2852737"/>
          </a:xfrm>
        </p:spPr>
        <p:txBody>
          <a:bodyPr anchor="b"/>
          <a:lstStyle>
            <a:lvl1pPr>
              <a:defRPr sz="6000">
                <a:solidFill>
                  <a:srgbClr val="0366FF"/>
                </a:solidFill>
              </a:defRPr>
            </a:lvl1pPr>
          </a:lstStyle>
          <a:p>
            <a:r>
              <a:rPr lang="en-US"/>
              <a:t>Click to edit Master title style</a:t>
            </a:r>
          </a:p>
        </p:txBody>
      </p:sp>
      <p:grpSp>
        <p:nvGrpSpPr>
          <p:cNvPr id="5" name="Group 4">
            <a:extLst>
              <a:ext uri="{FF2B5EF4-FFF2-40B4-BE49-F238E27FC236}">
                <a16:creationId xmlns:a16="http://schemas.microsoft.com/office/drawing/2014/main" id="{DF1FA5D4-834B-B7DB-0D7C-F8B8C92FF4F7}"/>
              </a:ext>
            </a:extLst>
          </p:cNvPr>
          <p:cNvGrpSpPr/>
          <p:nvPr userDrawn="1"/>
        </p:nvGrpSpPr>
        <p:grpSpPr>
          <a:xfrm>
            <a:off x="11558587" y="3429000"/>
            <a:ext cx="504825" cy="3240562"/>
            <a:chOff x="11558587" y="3429000"/>
            <a:chExt cx="504825" cy="3240562"/>
          </a:xfrm>
          <a:noFill/>
        </p:grpSpPr>
        <p:pic>
          <p:nvPicPr>
            <p:cNvPr id="6" name="Graphic 5">
              <a:extLst>
                <a:ext uri="{FF2B5EF4-FFF2-40B4-BE49-F238E27FC236}">
                  <a16:creationId xmlns:a16="http://schemas.microsoft.com/office/drawing/2014/main" id="{02133ED4-988D-D493-5518-B6B096AEAC2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
          <p:nvSpPr>
            <p:cNvPr id="7" name="TextBox 6">
              <a:extLst>
                <a:ext uri="{FF2B5EF4-FFF2-40B4-BE49-F238E27FC236}">
                  <a16:creationId xmlns:a16="http://schemas.microsoft.com/office/drawing/2014/main" id="{EB2C70A3-2629-E214-6F86-4E3AEBCA6518}"/>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8" name="Straight Connector 7">
            <a:extLst>
              <a:ext uri="{FF2B5EF4-FFF2-40B4-BE49-F238E27FC236}">
                <a16:creationId xmlns:a16="http://schemas.microsoft.com/office/drawing/2014/main" id="{7AB45DD6-2169-C308-D859-B9FCC208DD89}"/>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9" name="Graphic 8">
            <a:extLst>
              <a:ext uri="{FF2B5EF4-FFF2-40B4-BE49-F238E27FC236}">
                <a16:creationId xmlns:a16="http://schemas.microsoft.com/office/drawing/2014/main" id="{E1CBD87B-A4E1-EB65-94CC-E92F6962B0B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558587" y="6123547"/>
            <a:ext cx="504825" cy="552450"/>
          </a:xfrm>
          <a:prstGeom prst="rect">
            <a:avLst/>
          </a:prstGeom>
        </p:spPr>
      </p:pic>
    </p:spTree>
    <p:extLst>
      <p:ext uri="{BB962C8B-B14F-4D97-AF65-F5344CB8AC3E}">
        <p14:creationId xmlns:p14="http://schemas.microsoft.com/office/powerpoint/2010/main" val="2536322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8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F6512D8-4A24-7606-C8C8-CB9B880B0DFD}"/>
              </a:ext>
            </a:extLst>
          </p:cNvPr>
          <p:cNvGrpSpPr/>
          <p:nvPr userDrawn="1"/>
        </p:nvGrpSpPr>
        <p:grpSpPr>
          <a:xfrm>
            <a:off x="10095861" y="6117112"/>
            <a:ext cx="1967551" cy="552450"/>
            <a:chOff x="10095861" y="6117112"/>
            <a:chExt cx="1967551" cy="552450"/>
          </a:xfrm>
          <a:solidFill>
            <a:schemeClr val="bg1"/>
          </a:solidFill>
        </p:grpSpPr>
        <p:pic>
          <p:nvPicPr>
            <p:cNvPr id="3" name="Graphic 2">
              <a:extLst>
                <a:ext uri="{FF2B5EF4-FFF2-40B4-BE49-F238E27FC236}">
                  <a16:creationId xmlns:a16="http://schemas.microsoft.com/office/drawing/2014/main" id="{702A7DF9-B37B-389F-B4E6-5743B1679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4" name="TextBox 3">
              <a:extLst>
                <a:ext uri="{FF2B5EF4-FFF2-40B4-BE49-F238E27FC236}">
                  <a16:creationId xmlns:a16="http://schemas.microsoft.com/office/drawing/2014/main" id="{40EB226B-2AD6-AE1D-6396-CF295B80C27D}"/>
                </a:ext>
              </a:extLst>
            </p:cNvPr>
            <p:cNvSpPr txBox="1"/>
            <p:nvPr userDrawn="1"/>
          </p:nvSpPr>
          <p:spPr>
            <a:xfrm>
              <a:off x="10095861" y="6398464"/>
              <a:ext cx="1538292" cy="253916"/>
            </a:xfrm>
            <a:prstGeom prst="rect">
              <a:avLst/>
            </a:prstGeom>
            <a:noFill/>
            <a:ln>
              <a:noFill/>
            </a:ln>
          </p:spPr>
          <p:txBody>
            <a:bodyPr wrap="square" rtlCol="0">
              <a:spAutoFit/>
            </a:bodyPr>
            <a:lstStyle/>
            <a:p>
              <a:r>
                <a:rPr lang="en-US" sz="1050">
                  <a:solidFill>
                    <a:schemeClr val="bg1"/>
                  </a:solidFill>
                  <a:latin typeface="Poppins" panose="00000500000000000000" pitchFamily="2" charset="0"/>
                  <a:cs typeface="Poppins" panose="00000500000000000000" pitchFamily="2" charset="0"/>
                </a:rPr>
                <a:t>www.flairstech.com</a:t>
              </a:r>
            </a:p>
          </p:txBody>
        </p:sp>
      </p:grpSp>
      <p:cxnSp>
        <p:nvCxnSpPr>
          <p:cNvPr id="5" name="Straight Connector 4">
            <a:extLst>
              <a:ext uri="{FF2B5EF4-FFF2-40B4-BE49-F238E27FC236}">
                <a16:creationId xmlns:a16="http://schemas.microsoft.com/office/drawing/2014/main" id="{A64409FA-1683-078F-E2BC-BE0F2F4A7195}"/>
              </a:ext>
            </a:extLst>
          </p:cNvPr>
          <p:cNvCxnSpPr/>
          <p:nvPr userDrawn="1"/>
        </p:nvCxnSpPr>
        <p:spPr>
          <a:xfrm>
            <a:off x="10274536" y="6504628"/>
            <a:ext cx="1284051" cy="0"/>
          </a:xfrm>
          <a:prstGeom prst="line">
            <a:avLst/>
          </a:prstGeom>
          <a:ln w="28575">
            <a:no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FF9474E-02B0-3098-EB0B-DA2342976B4D}"/>
              </a:ext>
            </a:extLst>
          </p:cNvPr>
          <p:cNvCxnSpPr>
            <a:cxnSpLocks/>
          </p:cNvCxnSpPr>
          <p:nvPr userDrawn="1"/>
        </p:nvCxnSpPr>
        <p:spPr>
          <a:xfrm>
            <a:off x="10161224" y="6652380"/>
            <a:ext cx="139736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7" name="Picture 6" descr="A blue and purple wavy line&#10;&#10;AI-generated content may be incorrect.">
            <a:extLst>
              <a:ext uri="{FF2B5EF4-FFF2-40B4-BE49-F238E27FC236}">
                <a16:creationId xmlns:a16="http://schemas.microsoft.com/office/drawing/2014/main" id="{F82627BD-2194-EE22-0CF0-BD316FB644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C420F0F8-0D58-5C5B-5281-125C1B16ECFD}"/>
              </a:ext>
            </a:extLst>
          </p:cNvPr>
          <p:cNvSpPr txBox="1">
            <a:spLocks/>
          </p:cNvSpPr>
          <p:nvPr userDrawn="1"/>
        </p:nvSpPr>
        <p:spPr>
          <a:xfrm>
            <a:off x="579657" y="483467"/>
            <a:ext cx="5640559"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chemeClr val="bg1"/>
                </a:solidFill>
                <a:latin typeface="Poppins Medium" panose="00000600000000000000" pitchFamily="2" charset="0"/>
                <a:ea typeface="+mj-ea"/>
                <a:cs typeface="Poppins Medium" panose="00000600000000000000" pitchFamily="2" charset="0"/>
              </a:defRPr>
            </a:lvl1pPr>
          </a:lstStyle>
          <a:p>
            <a:r>
              <a:rPr lang="en-US"/>
              <a:t>Click to edit Master title style</a:t>
            </a:r>
          </a:p>
        </p:txBody>
      </p:sp>
      <p:grpSp>
        <p:nvGrpSpPr>
          <p:cNvPr id="9" name="Group 8">
            <a:extLst>
              <a:ext uri="{FF2B5EF4-FFF2-40B4-BE49-F238E27FC236}">
                <a16:creationId xmlns:a16="http://schemas.microsoft.com/office/drawing/2014/main" id="{1F2DDD0E-CFBF-2A1A-85C6-78DB4254DEE7}"/>
              </a:ext>
            </a:extLst>
          </p:cNvPr>
          <p:cNvGrpSpPr/>
          <p:nvPr userDrawn="1"/>
        </p:nvGrpSpPr>
        <p:grpSpPr>
          <a:xfrm>
            <a:off x="11558587" y="3429000"/>
            <a:ext cx="504825" cy="3240562"/>
            <a:chOff x="11558587" y="3429000"/>
            <a:chExt cx="504825" cy="3240562"/>
          </a:xfrm>
          <a:noFill/>
        </p:grpSpPr>
        <p:pic>
          <p:nvPicPr>
            <p:cNvPr id="10" name="Graphic 9">
              <a:extLst>
                <a:ext uri="{FF2B5EF4-FFF2-40B4-BE49-F238E27FC236}">
                  <a16:creationId xmlns:a16="http://schemas.microsoft.com/office/drawing/2014/main" id="{AAFB9CBA-BCE5-2DA2-8162-FF8B4C772C4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558587" y="6117112"/>
              <a:ext cx="504825" cy="552450"/>
            </a:xfrm>
            <a:prstGeom prst="rect">
              <a:avLst/>
            </a:prstGeom>
          </p:spPr>
        </p:pic>
        <p:sp>
          <p:nvSpPr>
            <p:cNvPr id="11" name="TextBox 10">
              <a:extLst>
                <a:ext uri="{FF2B5EF4-FFF2-40B4-BE49-F238E27FC236}">
                  <a16:creationId xmlns:a16="http://schemas.microsoft.com/office/drawing/2014/main" id="{BF41815C-EFFB-B78F-B4DC-657BFCA333B3}"/>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12" name="Straight Connector 11">
            <a:extLst>
              <a:ext uri="{FF2B5EF4-FFF2-40B4-BE49-F238E27FC236}">
                <a16:creationId xmlns:a16="http://schemas.microsoft.com/office/drawing/2014/main" id="{2A703ED1-E747-0ED8-C498-4334DDA8AF2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3" name="Graphic 12">
            <a:extLst>
              <a:ext uri="{FF2B5EF4-FFF2-40B4-BE49-F238E27FC236}">
                <a16:creationId xmlns:a16="http://schemas.microsoft.com/office/drawing/2014/main" id="{02FAD78F-C794-A499-B33E-7568613E73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350" y="6139150"/>
            <a:ext cx="504825" cy="552450"/>
          </a:xfrm>
          <a:prstGeom prst="rect">
            <a:avLst/>
          </a:prstGeom>
        </p:spPr>
      </p:pic>
    </p:spTree>
    <p:extLst>
      <p:ext uri="{BB962C8B-B14F-4D97-AF65-F5344CB8AC3E}">
        <p14:creationId xmlns:p14="http://schemas.microsoft.com/office/powerpoint/2010/main" val="2070539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F324C-8ACB-22A5-D15F-C75A98C4E464}"/>
              </a:ext>
            </a:extLst>
          </p:cNvPr>
          <p:cNvSpPr>
            <a:spLocks noGrp="1"/>
          </p:cNvSpPr>
          <p:nvPr>
            <p:ph type="title"/>
          </p:nvPr>
        </p:nvSpPr>
        <p:spPr>
          <a:xfrm>
            <a:off x="838200" y="365125"/>
            <a:ext cx="5722856" cy="1325563"/>
          </a:xfrm>
        </p:spPr>
        <p:txBody>
          <a:bodyPr/>
          <a:lstStyle/>
          <a:p>
            <a:r>
              <a:rPr lang="en-US"/>
              <a:t>Click to edit Master title style</a:t>
            </a:r>
          </a:p>
        </p:txBody>
      </p:sp>
      <p:pic>
        <p:nvPicPr>
          <p:cNvPr id="3" name="Graphic 2">
            <a:extLst>
              <a:ext uri="{FF2B5EF4-FFF2-40B4-BE49-F238E27FC236}">
                <a16:creationId xmlns:a16="http://schemas.microsoft.com/office/drawing/2014/main" id="{6A489582-B189-A9E8-8FDE-23D44899C8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931405" y="433633"/>
            <a:ext cx="5553585" cy="5611908"/>
          </a:xfrm>
          <a:prstGeom prst="rect">
            <a:avLst/>
          </a:prstGeom>
        </p:spPr>
      </p:pic>
      <p:sp>
        <p:nvSpPr>
          <p:cNvPr id="4" name="Picture Placeholder 70">
            <a:extLst>
              <a:ext uri="{FF2B5EF4-FFF2-40B4-BE49-F238E27FC236}">
                <a16:creationId xmlns:a16="http://schemas.microsoft.com/office/drawing/2014/main" id="{A29F5D11-F0EB-D315-ACF8-3E612C13B1BC}"/>
              </a:ext>
            </a:extLst>
          </p:cNvPr>
          <p:cNvSpPr>
            <a:spLocks noGrp="1"/>
          </p:cNvSpPr>
          <p:nvPr>
            <p:ph type="pic" sz="quarter" idx="10"/>
          </p:nvPr>
        </p:nvSpPr>
        <p:spPr>
          <a:xfrm>
            <a:off x="5701110" y="1939139"/>
            <a:ext cx="4504697" cy="4553736"/>
          </a:xfrm>
          <a:custGeom>
            <a:avLst/>
            <a:gdLst>
              <a:gd name="connsiteX0" fmla="*/ 2659033 w 3998174"/>
              <a:gd name="connsiteY0" fmla="*/ 0 h 4041699"/>
              <a:gd name="connsiteX1" fmla="*/ 3998174 w 3998174"/>
              <a:gd name="connsiteY1" fmla="*/ 0 h 4041699"/>
              <a:gd name="connsiteX2" fmla="*/ 3998174 w 3998174"/>
              <a:gd name="connsiteY2" fmla="*/ 4041699 h 4041699"/>
              <a:gd name="connsiteX3" fmla="*/ 1090763 w 3998174"/>
              <a:gd name="connsiteY3" fmla="*/ 4041699 h 4041699"/>
              <a:gd name="connsiteX4" fmla="*/ 1085848 w 3998174"/>
              <a:gd name="connsiteY4" fmla="*/ 3822541 h 4041699"/>
              <a:gd name="connsiteX5" fmla="*/ 238552 w 3998174"/>
              <a:gd name="connsiteY5" fmla="*/ 1328646 h 4041699"/>
              <a:gd name="connsiteX6" fmla="*/ 0 w 3998174"/>
              <a:gd name="connsiteY6" fmla="*/ 998002 h 4041699"/>
              <a:gd name="connsiteX7" fmla="*/ 0 w 3998174"/>
              <a:gd name="connsiteY7" fmla="*/ 997999 h 4041699"/>
              <a:gd name="connsiteX8" fmla="*/ 276566 w 3998174"/>
              <a:gd name="connsiteY8" fmla="*/ 776711 h 4041699"/>
              <a:gd name="connsiteX9" fmla="*/ 2659033 w 3998174"/>
              <a:gd name="connsiteY9" fmla="*/ 0 h 404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8174" h="4041699">
                <a:moveTo>
                  <a:pt x="2659033" y="0"/>
                </a:moveTo>
                <a:lnTo>
                  <a:pt x="3998174" y="0"/>
                </a:lnTo>
                <a:lnTo>
                  <a:pt x="3998174" y="4041699"/>
                </a:lnTo>
                <a:lnTo>
                  <a:pt x="1090763" y="4041699"/>
                </a:lnTo>
                <a:lnTo>
                  <a:pt x="1085848" y="3822541"/>
                </a:lnTo>
                <a:cubicBezTo>
                  <a:pt x="1043441" y="2881956"/>
                  <a:pt x="729072" y="2059070"/>
                  <a:pt x="238552" y="1328646"/>
                </a:cubicBezTo>
                <a:lnTo>
                  <a:pt x="0" y="998002"/>
                </a:lnTo>
                <a:lnTo>
                  <a:pt x="0" y="997999"/>
                </a:lnTo>
                <a:lnTo>
                  <a:pt x="276566" y="776711"/>
                </a:lnTo>
                <a:cubicBezTo>
                  <a:pt x="944682" y="288344"/>
                  <a:pt x="1768167" y="0"/>
                  <a:pt x="2659033"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3628507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35F0B9-D817-FD68-8C37-CB9F7EF8B3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675" y="-284409"/>
            <a:ext cx="12693303" cy="7142409"/>
          </a:xfrm>
          <a:prstGeom prst="rect">
            <a:avLst/>
          </a:prstGeom>
        </p:spPr>
      </p:pic>
      <p:sp>
        <p:nvSpPr>
          <p:cNvPr id="3" name="Title 1">
            <a:extLst>
              <a:ext uri="{FF2B5EF4-FFF2-40B4-BE49-F238E27FC236}">
                <a16:creationId xmlns:a16="http://schemas.microsoft.com/office/drawing/2014/main" id="{2AACF39A-EA1F-2542-9FB4-61FC33E2529E}"/>
              </a:ext>
            </a:extLst>
          </p:cNvPr>
          <p:cNvSpPr>
            <a:spLocks noGrp="1"/>
          </p:cNvSpPr>
          <p:nvPr>
            <p:ph type="title"/>
          </p:nvPr>
        </p:nvSpPr>
        <p:spPr>
          <a:xfrm>
            <a:off x="839788" y="365125"/>
            <a:ext cx="10515600" cy="1325563"/>
          </a:xfrm>
        </p:spPr>
        <p:txBody>
          <a:bodyPr/>
          <a:lstStyle>
            <a:lvl1pPr>
              <a:defRPr>
                <a:solidFill>
                  <a:srgbClr val="0366FF"/>
                </a:solidFill>
              </a:defRPr>
            </a:lvl1pPr>
          </a:lstStyle>
          <a:p>
            <a:r>
              <a:rPr lang="en-US"/>
              <a:t>Click to edit Master title style</a:t>
            </a:r>
          </a:p>
        </p:txBody>
      </p:sp>
      <p:pic>
        <p:nvPicPr>
          <p:cNvPr id="4" name="Graphic 3">
            <a:extLst>
              <a:ext uri="{FF2B5EF4-FFF2-40B4-BE49-F238E27FC236}">
                <a16:creationId xmlns:a16="http://schemas.microsoft.com/office/drawing/2014/main" id="{A90BFAD0-FB8C-C9FA-E7BD-585D364E45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6901429" y="1690688"/>
            <a:ext cx="4555281" cy="4127920"/>
          </a:xfrm>
          <a:prstGeom prst="rect">
            <a:avLst/>
          </a:prstGeom>
        </p:spPr>
      </p:pic>
    </p:spTree>
    <p:extLst>
      <p:ext uri="{BB962C8B-B14F-4D97-AF65-F5344CB8AC3E}">
        <p14:creationId xmlns:p14="http://schemas.microsoft.com/office/powerpoint/2010/main" val="13412190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594AE8-B731-53ED-A268-E6F75EF93726}"/>
              </a:ext>
            </a:extLst>
          </p:cNvPr>
          <p:cNvSpPr/>
          <p:nvPr userDrawn="1"/>
        </p:nvSpPr>
        <p:spPr>
          <a:xfrm>
            <a:off x="-65975" y="3302000"/>
            <a:ext cx="11597633" cy="3555999"/>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058C8F2-88E3-DEF6-7A2E-4B38B6FDEAF6}"/>
              </a:ext>
            </a:extLst>
          </p:cNvPr>
          <p:cNvSpPr>
            <a:spLocks noGrp="1"/>
          </p:cNvSpPr>
          <p:nvPr>
            <p:ph type="title"/>
          </p:nvPr>
        </p:nvSpPr>
        <p:spPr>
          <a:xfrm>
            <a:off x="831850" y="441491"/>
            <a:ext cx="5795193" cy="2852737"/>
          </a:xfrm>
        </p:spPr>
        <p:txBody>
          <a:bodyPr anchor="b"/>
          <a:lstStyle>
            <a:lvl1pPr>
              <a:defRPr sz="6000">
                <a:solidFill>
                  <a:schemeClr val="tx1"/>
                </a:solidFill>
              </a:defRPr>
            </a:lvl1pPr>
          </a:lstStyle>
          <a:p>
            <a:r>
              <a:rPr lang="en-US"/>
              <a:t>Click to edit Master title style</a:t>
            </a:r>
          </a:p>
        </p:txBody>
      </p:sp>
      <p:sp>
        <p:nvSpPr>
          <p:cNvPr id="4" name="Text Placeholder 2">
            <a:extLst>
              <a:ext uri="{FF2B5EF4-FFF2-40B4-BE49-F238E27FC236}">
                <a16:creationId xmlns:a16="http://schemas.microsoft.com/office/drawing/2014/main" id="{1E7C1990-4C55-516B-A96A-DD2011C6EFEE}"/>
              </a:ext>
            </a:extLst>
          </p:cNvPr>
          <p:cNvSpPr>
            <a:spLocks noGrp="1"/>
          </p:cNvSpPr>
          <p:nvPr>
            <p:ph type="body" idx="1"/>
          </p:nvPr>
        </p:nvSpPr>
        <p:spPr>
          <a:xfrm>
            <a:off x="831850" y="4589463"/>
            <a:ext cx="3985247" cy="1500187"/>
          </a:xfrm>
        </p:spPr>
        <p:txBody>
          <a:bodyPr/>
          <a:lstStyle>
            <a:lvl1pPr marL="0" indent="0">
              <a:buNone/>
              <a:defRPr sz="2400">
                <a:solidFill>
                  <a:srgbClr val="B9B9F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reeform: Shape 4">
            <a:extLst>
              <a:ext uri="{FF2B5EF4-FFF2-40B4-BE49-F238E27FC236}">
                <a16:creationId xmlns:a16="http://schemas.microsoft.com/office/drawing/2014/main" id="{55153C4C-5329-992D-9290-5CA19D6C7FF1}"/>
              </a:ext>
            </a:extLst>
          </p:cNvPr>
          <p:cNvSpPr/>
          <p:nvPr userDrawn="1"/>
        </p:nvSpPr>
        <p:spPr>
          <a:xfrm>
            <a:off x="8050998" y="441491"/>
            <a:ext cx="3185827" cy="2883031"/>
          </a:xfrm>
          <a:custGeom>
            <a:avLst/>
            <a:gdLst>
              <a:gd name="connsiteX0" fmla="*/ 641426 w 3185827"/>
              <a:gd name="connsiteY0" fmla="*/ 0 h 2883031"/>
              <a:gd name="connsiteX1" fmla="*/ 0 w 3185827"/>
              <a:gd name="connsiteY1" fmla="*/ 0 h 2883031"/>
              <a:gd name="connsiteX2" fmla="*/ 0 w 3185827"/>
              <a:gd name="connsiteY2" fmla="*/ 2883032 h 2883031"/>
              <a:gd name="connsiteX3" fmla="*/ 3185827 w 3185827"/>
              <a:gd name="connsiteY3" fmla="*/ 2883032 h 2883031"/>
              <a:gd name="connsiteX4" fmla="*/ 3185827 w 3185827"/>
              <a:gd name="connsiteY4" fmla="*/ 2544203 h 2883031"/>
              <a:gd name="connsiteX5" fmla="*/ 641426 w 3185827"/>
              <a:gd name="connsiteY5" fmla="*/ 0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641426" y="0"/>
                </a:moveTo>
                <a:lnTo>
                  <a:pt x="0" y="0"/>
                </a:lnTo>
                <a:cubicBezTo>
                  <a:pt x="0" y="0"/>
                  <a:pt x="0" y="2883032"/>
                  <a:pt x="0" y="2883032"/>
                </a:cubicBezTo>
                <a:lnTo>
                  <a:pt x="3185827" y="2883032"/>
                </a:lnTo>
                <a:cubicBezTo>
                  <a:pt x="3185827" y="2883032"/>
                  <a:pt x="3185827" y="2544203"/>
                  <a:pt x="3185827" y="2544203"/>
                </a:cubicBezTo>
                <a:cubicBezTo>
                  <a:pt x="3185827" y="1144891"/>
                  <a:pt x="2040737" y="0"/>
                  <a:pt x="641426" y="0"/>
                </a:cubicBezTo>
                <a:close/>
              </a:path>
            </a:pathLst>
          </a:custGeom>
          <a:solidFill>
            <a:schemeClr val="accent3">
              <a:alpha val="30000"/>
            </a:schemeClr>
          </a:solidFill>
          <a:ln w="0"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0AD1AF69-696E-89D8-3289-AAF624999AE7}"/>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sp>
        <p:nvSpPr>
          <p:cNvPr id="7" name="Picture Placeholder 12">
            <a:extLst>
              <a:ext uri="{FF2B5EF4-FFF2-40B4-BE49-F238E27FC236}">
                <a16:creationId xmlns:a16="http://schemas.microsoft.com/office/drawing/2014/main" id="{AB21F52B-5140-C1ED-D7EE-AA12A5A45432}"/>
              </a:ext>
            </a:extLst>
          </p:cNvPr>
          <p:cNvSpPr>
            <a:spLocks noGrp="1"/>
          </p:cNvSpPr>
          <p:nvPr>
            <p:ph type="pic" sz="quarter" idx="12"/>
          </p:nvPr>
        </p:nvSpPr>
        <p:spPr>
          <a:xfrm>
            <a:off x="8276617"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pic>
        <p:nvPicPr>
          <p:cNvPr id="8" name="Graphic 7">
            <a:extLst>
              <a:ext uri="{FF2B5EF4-FFF2-40B4-BE49-F238E27FC236}">
                <a16:creationId xmlns:a16="http://schemas.microsoft.com/office/drawing/2014/main" id="{EC0DA9DE-AC7F-9695-F16F-960DAB5C37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pic>
        <p:nvPicPr>
          <p:cNvPr id="9" name="Graphic 8">
            <a:extLst>
              <a:ext uri="{FF2B5EF4-FFF2-40B4-BE49-F238E27FC236}">
                <a16:creationId xmlns:a16="http://schemas.microsoft.com/office/drawing/2014/main" id="{6118C415-1AD3-68CD-3D0E-F7A3C44311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Tree>
    <p:extLst>
      <p:ext uri="{BB962C8B-B14F-4D97-AF65-F5344CB8AC3E}">
        <p14:creationId xmlns:p14="http://schemas.microsoft.com/office/powerpoint/2010/main" val="3924134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E6F9D-963A-1B9D-98D0-5F6BF0E0C4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2828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Blank">
    <p:spTree>
      <p:nvGrpSpPr>
        <p:cNvPr id="1" name=""/>
        <p:cNvGrpSpPr/>
        <p:nvPr/>
      </p:nvGrpSpPr>
      <p:grpSpPr>
        <a:xfrm>
          <a:off x="0" y="0"/>
          <a:ext cx="0" cy="0"/>
          <a:chOff x="0" y="0"/>
          <a:chExt cx="0" cy="0"/>
        </a:xfrm>
      </p:grpSpPr>
      <p:sp>
        <p:nvSpPr>
          <p:cNvPr id="2" name="Picture Placeholder 15">
            <a:extLst>
              <a:ext uri="{FF2B5EF4-FFF2-40B4-BE49-F238E27FC236}">
                <a16:creationId xmlns:a16="http://schemas.microsoft.com/office/drawing/2014/main" id="{290CCC2A-40EB-0D82-E905-FF557D7F8EEC}"/>
              </a:ext>
            </a:extLst>
          </p:cNvPr>
          <p:cNvSpPr>
            <a:spLocks noGrp="1"/>
          </p:cNvSpPr>
          <p:nvPr>
            <p:ph type="pic" sz="quarter" idx="12"/>
          </p:nvPr>
        </p:nvSpPr>
        <p:spPr>
          <a:xfrm>
            <a:off x="1029282" y="4396192"/>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
        <p:nvSpPr>
          <p:cNvPr id="3" name="Picture Placeholder 12">
            <a:extLst>
              <a:ext uri="{FF2B5EF4-FFF2-40B4-BE49-F238E27FC236}">
                <a16:creationId xmlns:a16="http://schemas.microsoft.com/office/drawing/2014/main" id="{C31E0CB6-4089-9068-93DB-8071DA5E099D}"/>
              </a:ext>
            </a:extLst>
          </p:cNvPr>
          <p:cNvSpPr>
            <a:spLocks noGrp="1"/>
          </p:cNvSpPr>
          <p:nvPr>
            <p:ph type="pic" sz="quarter" idx="11"/>
          </p:nvPr>
        </p:nvSpPr>
        <p:spPr>
          <a:xfrm>
            <a:off x="1029282" y="2340703"/>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
        <p:nvSpPr>
          <p:cNvPr id="4" name="Picture Placeholder 9">
            <a:extLst>
              <a:ext uri="{FF2B5EF4-FFF2-40B4-BE49-F238E27FC236}">
                <a16:creationId xmlns:a16="http://schemas.microsoft.com/office/drawing/2014/main" id="{0ADACF33-9F9F-E677-EE4F-2D9B8F4B7303}"/>
              </a:ext>
            </a:extLst>
          </p:cNvPr>
          <p:cNvSpPr>
            <a:spLocks noGrp="1"/>
          </p:cNvSpPr>
          <p:nvPr>
            <p:ph type="pic" sz="quarter" idx="10"/>
          </p:nvPr>
        </p:nvSpPr>
        <p:spPr>
          <a:xfrm>
            <a:off x="1029282" y="369206"/>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Tree>
    <p:extLst>
      <p:ext uri="{BB962C8B-B14F-4D97-AF65-F5344CB8AC3E}">
        <p14:creationId xmlns:p14="http://schemas.microsoft.com/office/powerpoint/2010/main" val="857938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Blank">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DBE7676-D194-3757-6C4A-4A8F2EACE50D}"/>
              </a:ext>
            </a:extLst>
          </p:cNvPr>
          <p:cNvSpPr>
            <a:spLocks noGrp="1"/>
          </p:cNvSpPr>
          <p:nvPr>
            <p:ph type="pic" sz="quarter" idx="12"/>
          </p:nvPr>
        </p:nvSpPr>
        <p:spPr>
          <a:xfrm>
            <a:off x="7946570" y="1486885"/>
            <a:ext cx="2344103" cy="1986486"/>
          </a:xfrm>
          <a:prstGeom prst="rect">
            <a:avLst/>
          </a:prstGeom>
        </p:spPr>
        <p:txBody>
          <a:bodyPr/>
          <a:lstStyle/>
          <a:p>
            <a:endParaRPr lang="en-US"/>
          </a:p>
        </p:txBody>
      </p:sp>
      <p:sp>
        <p:nvSpPr>
          <p:cNvPr id="3" name="Picture Placeholder 4">
            <a:extLst>
              <a:ext uri="{FF2B5EF4-FFF2-40B4-BE49-F238E27FC236}">
                <a16:creationId xmlns:a16="http://schemas.microsoft.com/office/drawing/2014/main" id="{8DCF1B89-2998-7866-72D7-94D884175630}"/>
              </a:ext>
            </a:extLst>
          </p:cNvPr>
          <p:cNvSpPr>
            <a:spLocks noGrp="1"/>
          </p:cNvSpPr>
          <p:nvPr>
            <p:ph type="pic" sz="quarter" idx="13"/>
          </p:nvPr>
        </p:nvSpPr>
        <p:spPr>
          <a:xfrm>
            <a:off x="7946570" y="3931313"/>
            <a:ext cx="2344103" cy="1986486"/>
          </a:xfrm>
          <a:prstGeom prst="rect">
            <a:avLst/>
          </a:prstGeom>
        </p:spPr>
        <p:txBody>
          <a:bodyPr/>
          <a:lstStyle/>
          <a:p>
            <a:endParaRPr lang="en-US"/>
          </a:p>
        </p:txBody>
      </p:sp>
      <p:sp>
        <p:nvSpPr>
          <p:cNvPr id="4" name="Picture Placeholder 4">
            <a:extLst>
              <a:ext uri="{FF2B5EF4-FFF2-40B4-BE49-F238E27FC236}">
                <a16:creationId xmlns:a16="http://schemas.microsoft.com/office/drawing/2014/main" id="{6CFC4595-2E31-2239-8DF7-1CF97AB370A3}"/>
              </a:ext>
            </a:extLst>
          </p:cNvPr>
          <p:cNvSpPr>
            <a:spLocks noGrp="1"/>
          </p:cNvSpPr>
          <p:nvPr>
            <p:ph type="pic" sz="quarter" idx="10"/>
          </p:nvPr>
        </p:nvSpPr>
        <p:spPr>
          <a:xfrm>
            <a:off x="1901326" y="1479028"/>
            <a:ext cx="2344103" cy="1986486"/>
          </a:xfrm>
          <a:prstGeom prst="rect">
            <a:avLst/>
          </a:prstGeom>
        </p:spPr>
        <p:txBody>
          <a:bodyPr/>
          <a:lstStyle/>
          <a:p>
            <a:endParaRPr lang="en-US"/>
          </a:p>
        </p:txBody>
      </p:sp>
      <p:sp>
        <p:nvSpPr>
          <p:cNvPr id="5" name="Picture Placeholder 4">
            <a:extLst>
              <a:ext uri="{FF2B5EF4-FFF2-40B4-BE49-F238E27FC236}">
                <a16:creationId xmlns:a16="http://schemas.microsoft.com/office/drawing/2014/main" id="{12F21ADA-893B-C0F3-E52C-6E3BD116BB87}"/>
              </a:ext>
            </a:extLst>
          </p:cNvPr>
          <p:cNvSpPr>
            <a:spLocks noGrp="1"/>
          </p:cNvSpPr>
          <p:nvPr>
            <p:ph type="pic" sz="quarter" idx="11"/>
          </p:nvPr>
        </p:nvSpPr>
        <p:spPr>
          <a:xfrm>
            <a:off x="1901326" y="3923456"/>
            <a:ext cx="2344103" cy="1986486"/>
          </a:xfrm>
          <a:prstGeom prst="rect">
            <a:avLst/>
          </a:prstGeom>
        </p:spPr>
        <p:txBody>
          <a:bodyPr/>
          <a:lstStyle/>
          <a:p>
            <a:endParaRPr lang="en-US"/>
          </a:p>
        </p:txBody>
      </p:sp>
    </p:spTree>
    <p:extLst>
      <p:ext uri="{BB962C8B-B14F-4D97-AF65-F5344CB8AC3E}">
        <p14:creationId xmlns:p14="http://schemas.microsoft.com/office/powerpoint/2010/main" val="3141399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Blank">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7653F31-B3AB-430C-AFA3-86D131772CC2}"/>
              </a:ext>
            </a:extLst>
          </p:cNvPr>
          <p:cNvSpPr/>
          <p:nvPr userDrawn="1"/>
        </p:nvSpPr>
        <p:spPr>
          <a:xfrm>
            <a:off x="8494250" y="405676"/>
            <a:ext cx="3200873" cy="4176409"/>
          </a:xfrm>
          <a:prstGeom prst="roundRect">
            <a:avLst/>
          </a:prstGeom>
          <a:solidFill>
            <a:srgbClr val="8C4FF4"/>
          </a:solidFill>
          <a:ln>
            <a:noFill/>
          </a:ln>
          <a:effectLst>
            <a:glow rad="1574800">
              <a:schemeClr val="accent5">
                <a:alpha val="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FE995FE-E141-4F64-7920-7D05438C9DEF}"/>
              </a:ext>
            </a:extLst>
          </p:cNvPr>
          <p:cNvSpPr>
            <a:spLocks noGrp="1"/>
          </p:cNvSpPr>
          <p:nvPr>
            <p:ph type="title"/>
          </p:nvPr>
        </p:nvSpPr>
        <p:spPr>
          <a:xfrm>
            <a:off x="836612" y="457200"/>
            <a:ext cx="3932237" cy="1600200"/>
          </a:xfrm>
        </p:spPr>
        <p:txBody>
          <a:bodyPr anchor="b"/>
          <a:lstStyle>
            <a:lvl1pPr>
              <a:defRPr sz="3200">
                <a:solidFill>
                  <a:srgbClr val="0366FF"/>
                </a:solidFill>
              </a:defRPr>
            </a:lvl1pPr>
          </a:lstStyle>
          <a:p>
            <a:r>
              <a:rPr lang="en-US"/>
              <a:t>Click to edit Master title style</a:t>
            </a:r>
          </a:p>
        </p:txBody>
      </p:sp>
      <p:sp>
        <p:nvSpPr>
          <p:cNvPr id="4" name="Picture Placeholder 2">
            <a:extLst>
              <a:ext uri="{FF2B5EF4-FFF2-40B4-BE49-F238E27FC236}">
                <a16:creationId xmlns:a16="http://schemas.microsoft.com/office/drawing/2014/main" id="{FE8EDE16-1BE2-53C6-6F0B-83CC3E613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Text Placeholder 3">
            <a:extLst>
              <a:ext uri="{FF2B5EF4-FFF2-40B4-BE49-F238E27FC236}">
                <a16:creationId xmlns:a16="http://schemas.microsoft.com/office/drawing/2014/main" id="{49B0702C-6CC6-15E3-0EA3-4B19A8E40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extBox 6">
            <a:extLst>
              <a:ext uri="{FF2B5EF4-FFF2-40B4-BE49-F238E27FC236}">
                <a16:creationId xmlns:a16="http://schemas.microsoft.com/office/drawing/2014/main" id="{C69457D0-2662-53E7-1EC3-61C5B43D47D2}"/>
              </a:ext>
            </a:extLst>
          </p:cNvPr>
          <p:cNvSpPr txBox="1"/>
          <p:nvPr userDrawn="1"/>
        </p:nvSpPr>
        <p:spPr>
          <a:xfrm>
            <a:off x="7806670" y="3910333"/>
            <a:ext cx="2869247" cy="1446550"/>
          </a:xfrm>
          <a:prstGeom prst="rect">
            <a:avLst/>
          </a:prstGeom>
          <a:noFill/>
        </p:spPr>
        <p:txBody>
          <a:bodyPr wrap="square">
            <a:spAutoFit/>
          </a:bodyPr>
          <a:lstStyle/>
          <a:p>
            <a:r>
              <a:rPr lang="en-US" sz="4400" i="1">
                <a:solidFill>
                  <a:schemeClr val="accent5"/>
                </a:solidFill>
                <a:latin typeface="+mj-lt"/>
              </a:rPr>
              <a:t>Strategic Planning</a:t>
            </a:r>
            <a:endParaRPr lang="en-US" sz="4400">
              <a:solidFill>
                <a:schemeClr val="accent5"/>
              </a:solidFill>
              <a:latin typeface="+mj-lt"/>
            </a:endParaRPr>
          </a:p>
        </p:txBody>
      </p:sp>
      <p:sp>
        <p:nvSpPr>
          <p:cNvPr id="8" name="Rectangle: Rounded Corners 7">
            <a:extLst>
              <a:ext uri="{FF2B5EF4-FFF2-40B4-BE49-F238E27FC236}">
                <a16:creationId xmlns:a16="http://schemas.microsoft.com/office/drawing/2014/main" id="{190CB651-754A-63A4-06DE-D4A712935DED}"/>
              </a:ext>
            </a:extLst>
          </p:cNvPr>
          <p:cNvSpPr/>
          <p:nvPr userDrawn="1"/>
        </p:nvSpPr>
        <p:spPr>
          <a:xfrm>
            <a:off x="8223198" y="797541"/>
            <a:ext cx="1467957" cy="398817"/>
          </a:xfrm>
          <a:prstGeom prst="roundRect">
            <a:avLst>
              <a:gd name="adj" fmla="val 50000"/>
            </a:avLst>
          </a:prstGeom>
          <a:solidFill>
            <a:schemeClr val="accent5"/>
          </a:solidFill>
          <a:ln>
            <a:noFill/>
          </a:ln>
          <a:effectLst>
            <a:glow rad="1574800">
              <a:schemeClr val="accent5">
                <a:alpha val="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solidFill>
                  <a:schemeClr val="tx1"/>
                </a:solidFill>
                <a:latin typeface="+mj-lt"/>
              </a:rPr>
              <a:t>2025 plan</a:t>
            </a:r>
          </a:p>
        </p:txBody>
      </p:sp>
    </p:spTree>
    <p:extLst>
      <p:ext uri="{BB962C8B-B14F-4D97-AF65-F5344CB8AC3E}">
        <p14:creationId xmlns:p14="http://schemas.microsoft.com/office/powerpoint/2010/main" val="3596971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8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2812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42D9-B45F-7B82-66BA-5F1D68B01D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E24346-FB20-FDDF-119D-352EB36DC4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8785620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63EC-1D94-4C77-A8A8-C2C4C3B20D5D}"/>
              </a:ext>
            </a:extLst>
          </p:cNvPr>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02540969-8270-FCE7-2A13-B5E47A11700E}"/>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416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63EC-1D94-4C77-A8A8-C2C4C3B20D5D}"/>
              </a:ext>
            </a:extLst>
          </p:cNvPr>
          <p:cNvSpPr>
            <a:spLocks noGrp="1"/>
          </p:cNvSpPr>
          <p:nvPr>
            <p:ph type="title"/>
          </p:nvPr>
        </p:nvSpPr>
        <p:spPr/>
        <p:txBody>
          <a:bodyPr/>
          <a:lstStyle/>
          <a:p>
            <a:r>
              <a:rPr lang="en-US"/>
              <a:t>Click to edit Master title style</a:t>
            </a:r>
          </a:p>
        </p:txBody>
      </p:sp>
      <p:pic>
        <p:nvPicPr>
          <p:cNvPr id="8" name="Graphic 7">
            <a:extLst>
              <a:ext uri="{FF2B5EF4-FFF2-40B4-BE49-F238E27FC236}">
                <a16:creationId xmlns:a16="http://schemas.microsoft.com/office/drawing/2014/main" id="{67B2D10B-B544-8D0A-68C3-1B2B488E65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042" y="-42042"/>
            <a:ext cx="12368083" cy="6942083"/>
          </a:xfrm>
          <a:prstGeom prst="rect">
            <a:avLst/>
          </a:prstGeom>
        </p:spPr>
      </p:pic>
    </p:spTree>
    <p:extLst>
      <p:ext uri="{BB962C8B-B14F-4D97-AF65-F5344CB8AC3E}">
        <p14:creationId xmlns:p14="http://schemas.microsoft.com/office/powerpoint/2010/main" val="31578886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2889-721D-8916-BE9E-23C1EAC1A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8F7354-5530-3418-27DF-153AF389F3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438272-AA8A-84FA-0F3E-0C2B22C85E60}"/>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CD52F02C-9DD5-133B-3AC7-CE9E232341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EF6923-F478-DD29-DBD3-D99F5DE7404B}"/>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8514877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C1E6B-EFFC-575A-8018-B5DB0B15FE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F8FD77-06B5-0FA0-20F4-9BAD852B60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F595A3-F755-0DE1-F507-0BB8ED5D285E}"/>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9BD104EE-022A-B040-1888-E110452F7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597DA-F37F-36EB-CD10-3BD92221BC95}"/>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80200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EAA7F-7002-B702-8D22-D69C3B8DEF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C9AC37-B6C8-CA19-E354-1AB5DBAAB0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777E27-FB65-6478-1667-F3A7472A976F}"/>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6A5572D3-02E3-2C06-4945-4ACA0D68E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D5264-87C6-0D17-43E7-3EB9D12DFDD3}"/>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1139299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ABE52-A45C-496D-9AD1-1D6D51486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0627E7-0E95-8091-5C25-07C91C2AB2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9F041C-B74D-80F4-CF2D-D13FD08C0C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C5A5CC-2683-0710-BB2A-41D1CCABEC3C}"/>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A10ED98D-9D9B-EB4E-F948-08E22EB5B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9264A4-09F9-F679-8A6A-763B16AF9B16}"/>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41420563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7002-E936-42F7-3C13-350577DD59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287790-CF5D-2071-00E9-56580D7682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8A361-2114-8E3B-3E18-AAB6DCCB92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787C69-A8D5-B381-1E8B-00E950CE30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F975A0-E90D-08BF-6B41-A2510E259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F09C78-EB9C-F95B-620F-8C7AB6C5413E}"/>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8" name="Footer Placeholder 7">
            <a:extLst>
              <a:ext uri="{FF2B5EF4-FFF2-40B4-BE49-F238E27FC236}">
                <a16:creationId xmlns:a16="http://schemas.microsoft.com/office/drawing/2014/main" id="{CB0AC7CB-D263-7A57-A93F-71D36E175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7E12B0-1238-5700-FACD-1B858A5B27EA}"/>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3188298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05EE-D538-1419-F786-8E9F86EAA3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167E47-BB84-2EDA-24F0-80F5E5296995}"/>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4" name="Footer Placeholder 3">
            <a:extLst>
              <a:ext uri="{FF2B5EF4-FFF2-40B4-BE49-F238E27FC236}">
                <a16:creationId xmlns:a16="http://schemas.microsoft.com/office/drawing/2014/main" id="{74D5B48C-D1BF-73B5-3EDD-857EA533C9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133E63-E1DA-D263-BB6F-E805AF1301C9}"/>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8823230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DC67F2-3807-FA81-2875-472C2C712B21}"/>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3" name="Footer Placeholder 2">
            <a:extLst>
              <a:ext uri="{FF2B5EF4-FFF2-40B4-BE49-F238E27FC236}">
                <a16:creationId xmlns:a16="http://schemas.microsoft.com/office/drawing/2014/main" id="{07857EB5-3E00-A2E2-D293-BEEA9D7EF2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37B6A3-0811-995C-296B-B5F421376691}"/>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6335336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C69F-F2DF-5AA6-41C6-53ADB7ECE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20417B-3139-B735-C815-299F7A7B7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CFDBF8-D2C9-EE02-229E-F8ED779C69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C7CF0-E409-37CC-C853-AD62E58C0F0A}"/>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80BBAB41-FF17-65A4-43BE-8E0916F382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0B79EA-5E09-4211-84DF-54B09FC40535}"/>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94835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337C-E527-BEAD-C3E5-D2EAF97E14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13AA7-7898-9DE1-FE26-F276B6D4CD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D395A6-2AA1-BC65-B146-62B9C4DA72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1CFDBA-A2F4-9FA8-6260-157104C74097}"/>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41930E2F-5C6B-8378-3EB5-56150E0E7A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B023A9-F64F-F6C4-6ED0-F9DB9AB9EAE3}"/>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910391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AEAF-8B63-88F3-58D6-B732902764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B12C81-ED4B-2E21-EB50-5682369112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F528AB-3FD6-4455-8B17-EF138205B053}"/>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C3167874-31EB-4D12-27FA-CE61B2DA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ABD838-C30D-3E6F-1D9D-039304E9621C}"/>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908889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C99D32-B49C-F15F-B74F-9C5A27A77B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E05B1B-F54F-F0A2-BB51-7112D02A31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CD0CD1-953E-E31F-CF16-647AA2749525}"/>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7A5269A4-F851-0F8E-B709-E04DCBD7F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9EE52-6A89-226A-D0CD-621718FC0BDA}"/>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2159840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theme" Target="../theme/theme2.xml"/><Relationship Id="rId1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E4C751-9539-11ED-365B-EA245C683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C650DF-3132-B144-1B5A-71A6FC10C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8BE16657-AC1A-3CBB-CB6C-34022BF601F4}"/>
              </a:ext>
            </a:extLst>
          </p:cNvPr>
          <p:cNvGrpSpPr/>
          <p:nvPr userDrawn="1"/>
        </p:nvGrpSpPr>
        <p:grpSpPr>
          <a:xfrm>
            <a:off x="11558587" y="3429000"/>
            <a:ext cx="504825" cy="3240562"/>
            <a:chOff x="11558587" y="3429000"/>
            <a:chExt cx="504825" cy="3240562"/>
          </a:xfrm>
        </p:grpSpPr>
        <p:pic>
          <p:nvPicPr>
            <p:cNvPr id="8" name="Graphic 7">
              <a:extLst>
                <a:ext uri="{FF2B5EF4-FFF2-40B4-BE49-F238E27FC236}">
                  <a16:creationId xmlns:a16="http://schemas.microsoft.com/office/drawing/2014/main" id="{A61BCE77-9728-B9DF-A894-E699D5495363}"/>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1558587" y="6117112"/>
              <a:ext cx="504825" cy="552450"/>
            </a:xfrm>
            <a:prstGeom prst="rect">
              <a:avLst/>
            </a:prstGeom>
          </p:spPr>
        </p:pic>
        <p:sp>
          <p:nvSpPr>
            <p:cNvPr id="9" name="TextBox 8">
              <a:extLst>
                <a:ext uri="{FF2B5EF4-FFF2-40B4-BE49-F238E27FC236}">
                  <a16:creationId xmlns:a16="http://schemas.microsoft.com/office/drawing/2014/main" id="{A34F97B2-799D-7BAB-6412-51072C1437D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rgbClr val="8C4FF4"/>
                  </a:solidFill>
                  <a:latin typeface="Poppins" panose="00000500000000000000" pitchFamily="2" charset="0"/>
                  <a:cs typeface="Poppins" panose="00000500000000000000" pitchFamily="2" charset="0"/>
                </a:rPr>
                <a:t>www.flairstech.com</a:t>
              </a:r>
            </a:p>
          </p:txBody>
        </p:sp>
      </p:grpSp>
      <p:cxnSp>
        <p:nvCxnSpPr>
          <p:cNvPr id="11" name="Straight Connector 10">
            <a:extLst>
              <a:ext uri="{FF2B5EF4-FFF2-40B4-BE49-F238E27FC236}">
                <a16:creationId xmlns:a16="http://schemas.microsoft.com/office/drawing/2014/main" id="{25672446-6AA6-264F-4875-1B6A951A3895}"/>
              </a:ext>
            </a:extLst>
          </p:cNvPr>
          <p:cNvCxnSpPr/>
          <p:nvPr userDrawn="1"/>
        </p:nvCxnSpPr>
        <p:spPr>
          <a:xfrm flipV="1">
            <a:off x="11937957" y="0"/>
            <a:ext cx="0" cy="59276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3619328"/>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74" r:id="rId3"/>
    <p:sldLayoutId id="2147483656" r:id="rId4"/>
    <p:sldLayoutId id="2147483657" r:id="rId5"/>
    <p:sldLayoutId id="2147483658" r:id="rId6"/>
    <p:sldLayoutId id="2147483659" r:id="rId7"/>
    <p:sldLayoutId id="2147483660" r:id="rId8"/>
    <p:sldLayoutId id="2147483661" r:id="rId9"/>
    <p:sldLayoutId id="2147483664" r:id="rId10"/>
    <p:sldLayoutId id="2147483669" r:id="rId11"/>
    <p:sldLayoutId id="2147483662" r:id="rId12"/>
    <p:sldLayoutId id="2147483665" r:id="rId13"/>
    <p:sldLayoutId id="2147483663" r:id="rId14"/>
    <p:sldLayoutId id="2147483666" r:id="rId15"/>
    <p:sldLayoutId id="2147483667" r:id="rId16"/>
    <p:sldLayoutId id="2147483668" r:id="rId17"/>
    <p:sldLayoutId id="2147483650" r:id="rId18"/>
    <p:sldLayoutId id="2147483671" r:id="rId19"/>
    <p:sldLayoutId id="2147483670" r:id="rId20"/>
    <p:sldLayoutId id="2147483672" r:id="rId21"/>
    <p:sldLayoutId id="2147483673" r:id="rId22"/>
    <p:sldLayoutId id="2147483651" r:id="rId23"/>
    <p:sldLayoutId id="2147483687" r:id="rId24"/>
    <p:sldLayoutId id="2147483652" r:id="rId25"/>
  </p:sldLayoutIdLst>
  <p:txStyles>
    <p:titleStyle>
      <a:lvl1pPr algn="l" defTabSz="914400" rtl="0" eaLnBrk="1" latinLnBrk="0" hangingPunct="1">
        <a:lnSpc>
          <a:spcPct val="90000"/>
        </a:lnSpc>
        <a:spcBef>
          <a:spcPct val="0"/>
        </a:spcBef>
        <a:buNone/>
        <a:defRPr sz="4400" kern="1200">
          <a:solidFill>
            <a:schemeClr val="tx1"/>
          </a:solidFill>
          <a:latin typeface="Poppins SemiBold" panose="00000700000000000000" pitchFamily="2" charset="0"/>
          <a:ea typeface="+mj-ea"/>
          <a:cs typeface="Poppins SemiBold" panose="000007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Medium" panose="00000600000000000000" pitchFamily="2" charset="0"/>
          <a:ea typeface="+mn-ea"/>
          <a:cs typeface="Poppins Medium" panose="000006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127478-957B-8004-0BA6-0B4FE126B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0A278C-0DB2-3F92-52B7-08C91A2EC1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DF1E4-27AA-7785-4407-D47EF10838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49569371-613E-EBD0-CB8F-C94B1AD34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EDA9A1-96CA-EA9A-C07B-B15E72AFAD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3927F9-8D5B-4A5D-A4B0-42D409B67E53}" type="slidenum">
              <a:rPr lang="en-US" smtClean="0"/>
              <a:t>‹#›</a:t>
            </a:fld>
            <a:endParaRPr lang="en-US"/>
          </a:p>
        </p:txBody>
      </p:sp>
      <p:grpSp>
        <p:nvGrpSpPr>
          <p:cNvPr id="7" name="Group 6">
            <a:extLst>
              <a:ext uri="{FF2B5EF4-FFF2-40B4-BE49-F238E27FC236}">
                <a16:creationId xmlns:a16="http://schemas.microsoft.com/office/drawing/2014/main" id="{15CC2033-7521-C317-3C8D-C9158139320C}"/>
              </a:ext>
            </a:extLst>
          </p:cNvPr>
          <p:cNvGrpSpPr/>
          <p:nvPr userDrawn="1"/>
        </p:nvGrpSpPr>
        <p:grpSpPr>
          <a:xfrm>
            <a:off x="11558587" y="3429000"/>
            <a:ext cx="504825" cy="3240562"/>
            <a:chOff x="11558587" y="3429000"/>
            <a:chExt cx="504825" cy="3240562"/>
          </a:xfrm>
        </p:grpSpPr>
        <p:pic>
          <p:nvPicPr>
            <p:cNvPr id="8" name="Graphic 7">
              <a:extLst>
                <a:ext uri="{FF2B5EF4-FFF2-40B4-BE49-F238E27FC236}">
                  <a16:creationId xmlns:a16="http://schemas.microsoft.com/office/drawing/2014/main" id="{E6039C41-FE40-33D9-BF28-46DDD12008D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1558587" y="6117112"/>
              <a:ext cx="504825" cy="552450"/>
            </a:xfrm>
            <a:prstGeom prst="rect">
              <a:avLst/>
            </a:prstGeom>
          </p:spPr>
        </p:pic>
        <p:sp>
          <p:nvSpPr>
            <p:cNvPr id="9" name="TextBox 8">
              <a:extLst>
                <a:ext uri="{FF2B5EF4-FFF2-40B4-BE49-F238E27FC236}">
                  <a16:creationId xmlns:a16="http://schemas.microsoft.com/office/drawing/2014/main" id="{1393F90A-9E86-6C25-E63C-A0426FB67EE9}"/>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rgbClr val="8C4FF4"/>
                  </a:solidFill>
                  <a:latin typeface="Poppins" panose="00000500000000000000" pitchFamily="2" charset="0"/>
                  <a:cs typeface="Poppins" panose="00000500000000000000" pitchFamily="2" charset="0"/>
                </a:rPr>
                <a:t>www.flairstech.com</a:t>
              </a:r>
            </a:p>
          </p:txBody>
        </p:sp>
      </p:grpSp>
      <p:cxnSp>
        <p:nvCxnSpPr>
          <p:cNvPr id="10" name="Straight Connector 9">
            <a:extLst>
              <a:ext uri="{FF2B5EF4-FFF2-40B4-BE49-F238E27FC236}">
                <a16:creationId xmlns:a16="http://schemas.microsoft.com/office/drawing/2014/main" id="{29DFB403-1619-6C9D-9A9B-569B0DDDCDAD}"/>
              </a:ext>
            </a:extLst>
          </p:cNvPr>
          <p:cNvCxnSpPr/>
          <p:nvPr userDrawn="1"/>
        </p:nvCxnSpPr>
        <p:spPr>
          <a:xfrm flipV="1">
            <a:off x="11937957" y="0"/>
            <a:ext cx="0" cy="59276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912320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rgbClr val="0366FF"/>
          </a:solidFill>
          <a:latin typeface="Poppins" panose="00000500000000000000" pitchFamily="2" charset="0"/>
          <a:ea typeface="+mj-ea"/>
          <a:cs typeface="Poppins" panose="00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hyperlink" Target="https://adoptium.net/" TargetMode="External"/><Relationship Id="rId4" Type="http://schemas.openxmlformats.org/officeDocument/2006/relationships/hyperlink" Target="https://www.jetbrains.com/idea/download/" TargetMode="External"/><Relationship Id="rId5" Type="http://schemas.openxmlformats.org/officeDocument/2006/relationships/hyperlink" Target="https://git-scm.com/download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hyperlink" Target="https://openjdk.org/jeps/51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 Id="rId3" Type="http://schemas.openxmlformats.org/officeDocument/2006/relationships/hyperlink" Target="https://claude.ai/code/artifact/19667c01-a254-4f4a-8186-fc9f6262a89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 Id="rId3" Type="http://schemas.openxmlformats.org/officeDocument/2006/relationships/hyperlink" Target="https://www.youtube.com/playlist?list=PLCInYL3l2AajYlZGzU_LVrHdoouf8W6ZN" TargetMode="External"/><Relationship Id="rId4" Type="http://schemas.openxmlformats.org/officeDocument/2006/relationships/hyperlink" Target="https://www.youtube.com/playlist?list=PLnzqK5HvcpwTgEDztQ8y4K4-VoeoK1QCG" TargetMode="External"/><Relationship Id="rId5" Type="http://schemas.openxmlformats.org/officeDocument/2006/relationships/hyperlink" Target="https://www.youtube.com/playlist?list=PLDoPjvoNmBAx8xKvAXpb6f0Urj98Xo7zg" TargetMode="External"/><Relationship Id="rId6" Type="http://schemas.openxmlformats.org/officeDocument/2006/relationships/hyperlink" Target="https://adelnasim.com/" TargetMode="External"/><Relationship Id="rId7" Type="http://schemas.openxmlformats.org/officeDocument/2006/relationships/hyperlink" Target="https://dev.java/learn/" TargetMode="External"/><Relationship Id="rId8" Type="http://schemas.openxmlformats.org/officeDocument/2006/relationships/hyperlink" Target="https://roadmap.sh/java" TargetMode="External"/><Relationship Id="rId9" Type="http://schemas.openxmlformats.org/officeDocument/2006/relationships/hyperlink" Target="https://openjdk.org/jeps/512" TargetMode="External"/><Relationship Id="rId10" Type="http://schemas.openxmlformats.org/officeDocument/2006/relationships/hyperlink" Target="https://codingbat.com/java/Warmup-1" TargetMode="External"/><Relationship Id="rId11" Type="http://schemas.openxmlformats.org/officeDocument/2006/relationships/hyperlink" Target="https://exercism.org/tracks/java/exercises/hello-world" TargetMode="External"/><Relationship Id="rId12" Type="http://schemas.openxmlformats.org/officeDocument/2006/relationships/hyperlink" Target="https://exercism.org/tracks/java" TargetMode="External"/><Relationship Id="rId13" Type="http://schemas.openxmlformats.org/officeDocument/2006/relationships/hyperlink" Target="https://www.hackerrank.com/domains/java"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 Id="rId3" Type="http://schemas.openxmlformats.org/officeDocument/2006/relationships/hyperlink" Target="https://www.youtube.com/playlist?list=PLCInYL3l2AajYlZGzU_LVrHdoouf8W6ZN" TargetMode="External"/><Relationship Id="rId4" Type="http://schemas.openxmlformats.org/officeDocument/2006/relationships/hyperlink" Target="https://dev.java/learn/" TargetMode="External"/><Relationship Id="rId5" Type="http://schemas.openxmlformats.org/officeDocument/2006/relationships/hyperlink" Target="https://codingbat.com/java/Warmup-1" TargetMode="External"/><Relationship Id="rId6" Type="http://schemas.openxmlformats.org/officeDocument/2006/relationships/hyperlink" Target="https://exercism.org/tracks/java/exercises/hello-world" TargetMode="External"/><Relationship Id="rId7" Type="http://schemas.openxmlformats.org/officeDocument/2006/relationships/hyperlink" Target="https://claude.ai/code/artifact/19667c01-a254-4f4a-8186-fc9f6262a890" TargetMode="External"/><Relationship Id="rId8" Type="http://schemas.openxmlformats.org/officeDocument/2006/relationships/hyperlink" Target="https://leetcode.com/problems/two-sum/" TargetMode="External"/><Relationship Id="rId9" Type="http://schemas.openxmlformats.org/officeDocument/2006/relationships/hyperlink" Target="https://leetcode.com/problems/palindrome-number/"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svg"/><Relationship Id="rId3"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2104" y="3246120"/>
            <a:ext cx="6766560" cy="1737360"/>
          </a:xfrm>
        </p:spPr>
        <p:txBody>
          <a:bodyPr wrap="square" anchor="b"/>
          <a:lstStyle/>
          <a:p>
            <a:pPr algn="l">
              <a:spcAft>
                <a:spcPts val="600"/>
              </a:spcAft>
            </a:pPr>
            <a:r>
              <a:rPr sz="4000" b="1" i="0">
                <a:solidFill>
                  <a:srgbClr val="FFFFFF"/>
                </a:solidFill>
                <a:latin typeface="Poppins"/>
              </a:rPr>
              <a:t>Your First Java Programs</a:t>
            </a:r>
          </a:p>
        </p:txBody>
      </p:sp>
      <p:sp>
        <p:nvSpPr>
          <p:cNvPr id="3" name="TextBox 2"/>
          <p:cNvSpPr txBox="1"/>
          <p:nvPr/>
        </p:nvSpPr>
        <p:spPr>
          <a:xfrm>
            <a:off x="868680" y="2743200"/>
            <a:ext cx="6400800" cy="457200"/>
          </a:xfrm>
          <a:prstGeom prst="rect">
            <a:avLst/>
          </a:prstGeom>
          <a:noFill/>
        </p:spPr>
        <p:txBody>
          <a:bodyPr wrap="square" lIns="0" rIns="0" tIns="0" bIns="0" anchor="t">
            <a:spAutoFit/>
          </a:bodyPr>
          <a:lstStyle/>
          <a:p>
            <a:pPr algn="l">
              <a:spcAft>
                <a:spcPts val="600"/>
              </a:spcAft>
            </a:pPr>
            <a:r>
              <a:rPr sz="1400" b="1" i="0">
                <a:solidFill>
                  <a:srgbClr val="6FDFE2"/>
                </a:solidFill>
                <a:latin typeface="Poppins"/>
              </a:rPr>
              <a:t>WEEK 1  ·  SESSION 1  ·  MONDAY</a:t>
            </a:r>
          </a:p>
        </p:txBody>
      </p:sp>
      <p:sp>
        <p:nvSpPr>
          <p:cNvPr id="4" name="TextBox 3"/>
          <p:cNvSpPr txBox="1"/>
          <p:nvPr/>
        </p:nvSpPr>
        <p:spPr>
          <a:xfrm>
            <a:off x="868680" y="5074920"/>
            <a:ext cx="6400800" cy="457200"/>
          </a:xfrm>
          <a:prstGeom prst="rect">
            <a:avLst/>
          </a:prstGeom>
          <a:noFill/>
        </p:spPr>
        <p:txBody>
          <a:bodyPr wrap="square" lIns="0" rIns="0" tIns="0" bIns="0" anchor="t">
            <a:spAutoFit/>
          </a:bodyPr>
          <a:lstStyle/>
          <a:p>
            <a:pPr algn="l">
              <a:spcAft>
                <a:spcPts val="600"/>
              </a:spcAft>
            </a:pPr>
            <a:r>
              <a:rPr sz="1600" b="0" i="0">
                <a:solidFill>
                  <a:srgbClr val="FFFFFF"/>
                </a:solidFill>
                <a:latin typeface="Poppins"/>
              </a:rPr>
              <a:t>Java + Spring Boot Internship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Today's plan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783080" y="2514600"/>
            <a:ext cx="1143000" cy="0"/>
          </a:xfrm>
          <a:prstGeom prst="line">
            <a:avLst/>
          </a:prstGeom>
          <a:ln w="25400">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2103120"/>
            <a:ext cx="822960" cy="82296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01</a:t>
            </a:r>
          </a:p>
        </p:txBody>
      </p:sp>
      <p:sp>
        <p:nvSpPr>
          <p:cNvPr id="6" name="TextBox 5"/>
          <p:cNvSpPr txBox="1"/>
          <p:nvPr/>
        </p:nvSpPr>
        <p:spPr>
          <a:xfrm>
            <a:off x="822960" y="3108960"/>
            <a:ext cx="1874519" cy="36576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9:00</a:t>
            </a:r>
          </a:p>
        </p:txBody>
      </p:sp>
      <p:sp>
        <p:nvSpPr>
          <p:cNvPr id="7" name="TextBox 6"/>
          <p:cNvSpPr txBox="1"/>
          <p:nvPr/>
        </p:nvSpPr>
        <p:spPr>
          <a:xfrm>
            <a:off x="822960" y="3520440"/>
            <a:ext cx="1874519"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Welcome and how software works</a:t>
            </a:r>
          </a:p>
        </p:txBody>
      </p:sp>
      <p:cxnSp>
        <p:nvCxnSpPr>
          <p:cNvPr id="8" name="Connector 7"/>
          <p:cNvCxnSpPr/>
          <p:nvPr/>
        </p:nvCxnSpPr>
        <p:spPr>
          <a:xfrm>
            <a:off x="3840480" y="2514600"/>
            <a:ext cx="1143000" cy="0"/>
          </a:xfrm>
          <a:prstGeom prst="line">
            <a:avLst/>
          </a:prstGeom>
          <a:ln w="25400">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971800" y="2103120"/>
            <a:ext cx="822960" cy="822960"/>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02</a:t>
            </a:r>
          </a:p>
        </p:txBody>
      </p:sp>
      <p:sp>
        <p:nvSpPr>
          <p:cNvPr id="10" name="TextBox 9"/>
          <p:cNvSpPr txBox="1"/>
          <p:nvPr/>
        </p:nvSpPr>
        <p:spPr>
          <a:xfrm>
            <a:off x="2880360" y="3108960"/>
            <a:ext cx="1874519" cy="365760"/>
          </a:xfrm>
          <a:prstGeom prst="rect">
            <a:avLst/>
          </a:prstGeom>
          <a:noFill/>
        </p:spPr>
        <p:txBody>
          <a:bodyPr wrap="square" lIns="0" rIns="0" tIns="0" bIns="0" anchor="t">
            <a:spAutoFit/>
          </a:bodyPr>
          <a:lstStyle/>
          <a:p>
            <a:pPr algn="l">
              <a:spcAft>
                <a:spcPts val="600"/>
              </a:spcAft>
            </a:pPr>
            <a:r>
              <a:rPr sz="1600" b="1" i="0">
                <a:solidFill>
                  <a:srgbClr val="8C4FF4"/>
                </a:solidFill>
                <a:latin typeface="Poppins"/>
              </a:rPr>
              <a:t>9:50</a:t>
            </a:r>
          </a:p>
        </p:txBody>
      </p:sp>
      <p:sp>
        <p:nvSpPr>
          <p:cNvPr id="11" name="TextBox 10"/>
          <p:cNvSpPr txBox="1"/>
          <p:nvPr/>
        </p:nvSpPr>
        <p:spPr>
          <a:xfrm>
            <a:off x="2880360" y="3520440"/>
            <a:ext cx="1874519"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Check your tools</a:t>
            </a:r>
          </a:p>
        </p:txBody>
      </p:sp>
      <p:cxnSp>
        <p:nvCxnSpPr>
          <p:cNvPr id="12" name="Connector 11"/>
          <p:cNvCxnSpPr/>
          <p:nvPr/>
        </p:nvCxnSpPr>
        <p:spPr>
          <a:xfrm>
            <a:off x="5897880" y="2514600"/>
            <a:ext cx="1143000" cy="0"/>
          </a:xfrm>
          <a:prstGeom prst="line">
            <a:avLst/>
          </a:prstGeom>
          <a:ln w="25400">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029200" y="2103120"/>
            <a:ext cx="822960" cy="82296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03</a:t>
            </a:r>
          </a:p>
        </p:txBody>
      </p:sp>
      <p:sp>
        <p:nvSpPr>
          <p:cNvPr id="14" name="TextBox 13"/>
          <p:cNvSpPr txBox="1"/>
          <p:nvPr/>
        </p:nvSpPr>
        <p:spPr>
          <a:xfrm>
            <a:off x="4937760" y="3108960"/>
            <a:ext cx="1874519" cy="36576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10:30</a:t>
            </a:r>
          </a:p>
        </p:txBody>
      </p:sp>
      <p:sp>
        <p:nvSpPr>
          <p:cNvPr id="15" name="TextBox 14"/>
          <p:cNvSpPr txBox="1"/>
          <p:nvPr/>
        </p:nvSpPr>
        <p:spPr>
          <a:xfrm>
            <a:off x="4937760" y="3520440"/>
            <a:ext cx="1874519"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Your first program</a:t>
            </a:r>
          </a:p>
        </p:txBody>
      </p:sp>
      <p:cxnSp>
        <p:nvCxnSpPr>
          <p:cNvPr id="16" name="Connector 15"/>
          <p:cNvCxnSpPr/>
          <p:nvPr/>
        </p:nvCxnSpPr>
        <p:spPr>
          <a:xfrm>
            <a:off x="7955279" y="2514600"/>
            <a:ext cx="1143001" cy="0"/>
          </a:xfrm>
          <a:prstGeom prst="line">
            <a:avLst/>
          </a:prstGeom>
          <a:ln w="25400">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086600" y="2103120"/>
            <a:ext cx="822960" cy="822960"/>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04</a:t>
            </a:r>
          </a:p>
        </p:txBody>
      </p:sp>
      <p:sp>
        <p:nvSpPr>
          <p:cNvPr id="18" name="TextBox 17"/>
          <p:cNvSpPr txBox="1"/>
          <p:nvPr/>
        </p:nvSpPr>
        <p:spPr>
          <a:xfrm>
            <a:off x="6995160" y="3108960"/>
            <a:ext cx="1874519" cy="365760"/>
          </a:xfrm>
          <a:prstGeom prst="rect">
            <a:avLst/>
          </a:prstGeom>
          <a:noFill/>
        </p:spPr>
        <p:txBody>
          <a:bodyPr wrap="square" lIns="0" rIns="0" tIns="0" bIns="0" anchor="t">
            <a:spAutoFit/>
          </a:bodyPr>
          <a:lstStyle/>
          <a:p>
            <a:pPr algn="l">
              <a:spcAft>
                <a:spcPts val="600"/>
              </a:spcAft>
            </a:pPr>
            <a:r>
              <a:rPr sz="1600" b="1" i="0">
                <a:solidFill>
                  <a:srgbClr val="8C4FF4"/>
                </a:solidFill>
                <a:latin typeface="Poppins"/>
              </a:rPr>
              <a:t>11:15</a:t>
            </a:r>
          </a:p>
        </p:txBody>
      </p:sp>
      <p:sp>
        <p:nvSpPr>
          <p:cNvPr id="19" name="TextBox 18"/>
          <p:cNvSpPr txBox="1"/>
          <p:nvPr/>
        </p:nvSpPr>
        <p:spPr>
          <a:xfrm>
            <a:off x="6995160" y="3520440"/>
            <a:ext cx="1874519"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Variables, types and operators</a:t>
            </a:r>
          </a:p>
        </p:txBody>
      </p:sp>
      <p:sp>
        <p:nvSpPr>
          <p:cNvPr id="20" name="Oval 19"/>
          <p:cNvSpPr/>
          <p:nvPr/>
        </p:nvSpPr>
        <p:spPr>
          <a:xfrm>
            <a:off x="9144000" y="2103120"/>
            <a:ext cx="822960" cy="82296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05</a:t>
            </a:r>
          </a:p>
        </p:txBody>
      </p:sp>
      <p:sp>
        <p:nvSpPr>
          <p:cNvPr id="21" name="TextBox 20"/>
          <p:cNvSpPr txBox="1"/>
          <p:nvPr/>
        </p:nvSpPr>
        <p:spPr>
          <a:xfrm>
            <a:off x="9052560" y="3108960"/>
            <a:ext cx="1874519" cy="36576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12:15</a:t>
            </a:r>
          </a:p>
        </p:txBody>
      </p:sp>
      <p:sp>
        <p:nvSpPr>
          <p:cNvPr id="22" name="TextBox 21"/>
          <p:cNvSpPr txBox="1"/>
          <p:nvPr/>
        </p:nvSpPr>
        <p:spPr>
          <a:xfrm>
            <a:off x="9052560" y="3520440"/>
            <a:ext cx="1874519"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Input, live coding and quiz</a:t>
            </a:r>
          </a:p>
        </p:txBody>
      </p:sp>
      <p:sp>
        <p:nvSpPr>
          <p:cNvPr id="23" name="Footer band"/>
          <p:cNvSpPr/>
          <p:nvPr/>
        </p:nvSpPr>
        <p:spPr>
          <a:xfrm>
            <a:off x="841248" y="4983480"/>
            <a:ext cx="10241280" cy="8686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97280" y="5120640"/>
            <a:ext cx="9875520" cy="640080"/>
          </a:xfrm>
          <a:prstGeom prst="rect">
            <a:avLst/>
          </a:prstGeom>
          <a:noFill/>
        </p:spPr>
        <p:txBody>
          <a:bodyPr wrap="square" lIns="0" rIns="0" tIns="0" bIns="0" anchor="ctr">
            <a:spAutoFit/>
          </a:bodyPr>
          <a:lstStyle/>
          <a:p>
            <a:pPr algn="l">
              <a:spcAft>
                <a:spcPts val="600"/>
              </a:spcAft>
            </a:pPr>
            <a:r>
              <a:rPr sz="1500" b="1" i="0">
                <a:solidFill>
                  <a:srgbClr val="0366FF"/>
                </a:solidFill>
                <a:latin typeface="Poppins"/>
              </a:rPr>
              <a:t>Break: </a:t>
            </a:r>
            <a:r>
              <a:rPr sz="1500" b="0" i="0">
                <a:solidFill>
                  <a:srgbClr val="1B2433"/>
                </a:solidFill>
                <a:latin typeface="Poppins"/>
              </a:rPr>
              <a:t>10:20-10:30     </a:t>
            </a:r>
            <a:r>
              <a:rPr sz="1500" b="1" i="0">
                <a:solidFill>
                  <a:srgbClr val="0366FF"/>
                </a:solidFill>
                <a:latin typeface="Poppins"/>
              </a:rPr>
              <a:t>Afternoon lab: </a:t>
            </a:r>
            <a:r>
              <a:rPr sz="1500" b="0" i="0">
                <a:solidFill>
                  <a:srgbClr val="1B2433"/>
                </a:solidFill>
                <a:latin typeface="Poppins"/>
              </a:rPr>
              <a:t>14:00-16:45, today's exercises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By the end of today, you can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Explain"/>
          <p:cNvSpPr/>
          <p:nvPr/>
        </p:nvSpPr>
        <p:spPr>
          <a:xfrm>
            <a:off x="841248" y="1508760"/>
            <a:ext cx="4983480" cy="19659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4581144" cy="457200"/>
          </a:xfrm>
          <a:prstGeom prst="rect">
            <a:avLst/>
          </a:prstGeom>
          <a:noFill/>
        </p:spPr>
        <p:txBody>
          <a:bodyPr wrap="square" lIns="0" rIns="0" tIns="0" bIns="0" anchor="t">
            <a:spAutoFit/>
          </a:bodyPr>
          <a:lstStyle/>
          <a:p>
            <a:pPr algn="l">
              <a:spcAft>
                <a:spcPts val="600"/>
              </a:spcAft>
            </a:pPr>
            <a:r>
              <a:rPr sz="2000" b="1" i="0">
                <a:solidFill>
                  <a:srgbClr val="0366FF"/>
                </a:solidFill>
                <a:latin typeface="Poppins"/>
              </a:rPr>
              <a:t>Explain</a:t>
            </a:r>
          </a:p>
        </p:txBody>
      </p:sp>
      <p:sp>
        <p:nvSpPr>
          <p:cNvPr id="6" name="TextBox 5"/>
          <p:cNvSpPr txBox="1"/>
          <p:nvPr/>
        </p:nvSpPr>
        <p:spPr>
          <a:xfrm>
            <a:off x="1042416" y="2167128"/>
            <a:ext cx="4581144" cy="1106424"/>
          </a:xfrm>
          <a:prstGeom prst="rect">
            <a:avLst/>
          </a:prstGeom>
          <a:noFill/>
        </p:spPr>
        <p:txBody>
          <a:bodyPr wrap="square" lIns="0" rIns="0" tIns="0" bIns="0" anchor="t">
            <a:spAutoFit/>
          </a:bodyPr>
          <a:lstStyle/>
          <a:p>
            <a:pPr algn="l">
              <a:spcAft>
                <a:spcPts val="400"/>
              </a:spcAft>
            </a:pPr>
            <a:r>
              <a:rPr sz="1600" b="0" i="0">
                <a:solidFill>
                  <a:srgbClr val="1B2433"/>
                </a:solidFill>
                <a:latin typeface="Poppins"/>
              </a:rPr>
              <a:t>What a program, a compiler and the JVM are, and what a backend developer builds.</a:t>
            </a:r>
          </a:p>
        </p:txBody>
      </p:sp>
      <p:sp>
        <p:nvSpPr>
          <p:cNvPr id="7" name="Card Write and run"/>
          <p:cNvSpPr/>
          <p:nvPr/>
        </p:nvSpPr>
        <p:spPr>
          <a:xfrm>
            <a:off x="6053328" y="1508760"/>
            <a:ext cx="4983480" cy="196596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54496" y="1709928"/>
            <a:ext cx="4581144" cy="457200"/>
          </a:xfrm>
          <a:prstGeom prst="rect">
            <a:avLst/>
          </a:prstGeom>
          <a:noFill/>
        </p:spPr>
        <p:txBody>
          <a:bodyPr wrap="square" lIns="0" rIns="0" tIns="0" bIns="0" anchor="t">
            <a:spAutoFit/>
          </a:bodyPr>
          <a:lstStyle/>
          <a:p>
            <a:pPr algn="l">
              <a:spcAft>
                <a:spcPts val="600"/>
              </a:spcAft>
            </a:pPr>
            <a:r>
              <a:rPr sz="2000" b="1" i="0">
                <a:solidFill>
                  <a:srgbClr val="8C4FF4"/>
                </a:solidFill>
                <a:latin typeface="Poppins"/>
              </a:rPr>
              <a:t>Write and run</a:t>
            </a:r>
          </a:p>
        </p:txBody>
      </p:sp>
      <p:sp>
        <p:nvSpPr>
          <p:cNvPr id="9" name="TextBox 8"/>
          <p:cNvSpPr txBox="1"/>
          <p:nvPr/>
        </p:nvSpPr>
        <p:spPr>
          <a:xfrm>
            <a:off x="6254496" y="2167128"/>
            <a:ext cx="4581144" cy="1106424"/>
          </a:xfrm>
          <a:prstGeom prst="rect">
            <a:avLst/>
          </a:prstGeom>
          <a:noFill/>
        </p:spPr>
        <p:txBody>
          <a:bodyPr wrap="square" lIns="0" rIns="0" tIns="0" bIns="0" anchor="t">
            <a:spAutoFit/>
          </a:bodyPr>
          <a:lstStyle/>
          <a:p>
            <a:pPr algn="l">
              <a:spcAft>
                <a:spcPts val="400"/>
              </a:spcAft>
            </a:pPr>
            <a:r>
              <a:rPr sz="1600" b="0" i="0">
                <a:solidFill>
                  <a:srgbClr val="1B2433"/>
                </a:solidFill>
                <a:latin typeface="Poppins"/>
              </a:rPr>
              <a:t>A Java program, from the IDE and from the terminal.</a:t>
            </a:r>
          </a:p>
        </p:txBody>
      </p:sp>
      <p:sp>
        <p:nvSpPr>
          <p:cNvPr id="10" name="Card Store data"/>
          <p:cNvSpPr/>
          <p:nvPr/>
        </p:nvSpPr>
        <p:spPr>
          <a:xfrm>
            <a:off x="841248" y="3749039"/>
            <a:ext cx="4983480" cy="19659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2416" y="3950207"/>
            <a:ext cx="4581144" cy="457200"/>
          </a:xfrm>
          <a:prstGeom prst="rect">
            <a:avLst/>
          </a:prstGeom>
          <a:noFill/>
        </p:spPr>
        <p:txBody>
          <a:bodyPr wrap="square" lIns="0" rIns="0" tIns="0" bIns="0" anchor="t">
            <a:spAutoFit/>
          </a:bodyPr>
          <a:lstStyle/>
          <a:p>
            <a:pPr algn="l">
              <a:spcAft>
                <a:spcPts val="600"/>
              </a:spcAft>
            </a:pPr>
            <a:r>
              <a:rPr sz="2000" b="1" i="0">
                <a:solidFill>
                  <a:srgbClr val="0366FF"/>
                </a:solidFill>
                <a:latin typeface="Poppins"/>
              </a:rPr>
              <a:t>Store data</a:t>
            </a:r>
          </a:p>
        </p:txBody>
      </p:sp>
      <p:sp>
        <p:nvSpPr>
          <p:cNvPr id="12" name="TextBox 11"/>
          <p:cNvSpPr txBox="1"/>
          <p:nvPr/>
        </p:nvSpPr>
        <p:spPr>
          <a:xfrm>
            <a:off x="1042416" y="4407407"/>
            <a:ext cx="4581144" cy="1106424"/>
          </a:xfrm>
          <a:prstGeom prst="rect">
            <a:avLst/>
          </a:prstGeom>
          <a:noFill/>
        </p:spPr>
        <p:txBody>
          <a:bodyPr wrap="square" lIns="0" rIns="0" tIns="0" bIns="0" anchor="t">
            <a:spAutoFit/>
          </a:bodyPr>
          <a:lstStyle/>
          <a:p>
            <a:pPr algn="l">
              <a:spcAft>
                <a:spcPts val="400"/>
              </a:spcAft>
            </a:pPr>
            <a:r>
              <a:rPr sz="1600" b="0" i="0">
                <a:solidFill>
                  <a:srgbClr val="1B2433"/>
                </a:solidFill>
                <a:latin typeface="Poppins"/>
              </a:rPr>
              <a:t>In variables of the right type, and calculate with operators.</a:t>
            </a:r>
          </a:p>
        </p:txBody>
      </p:sp>
      <p:sp>
        <p:nvSpPr>
          <p:cNvPr id="13" name="Card Interact"/>
          <p:cNvSpPr/>
          <p:nvPr/>
        </p:nvSpPr>
        <p:spPr>
          <a:xfrm>
            <a:off x="6053328" y="3749039"/>
            <a:ext cx="4983480" cy="19659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54496" y="3950207"/>
            <a:ext cx="4581144" cy="457200"/>
          </a:xfrm>
          <a:prstGeom prst="rect">
            <a:avLst/>
          </a:prstGeom>
          <a:noFill/>
        </p:spPr>
        <p:txBody>
          <a:bodyPr wrap="square" lIns="0" rIns="0" tIns="0" bIns="0" anchor="t">
            <a:spAutoFit/>
          </a:bodyPr>
          <a:lstStyle/>
          <a:p>
            <a:pPr algn="l">
              <a:spcAft>
                <a:spcPts val="600"/>
              </a:spcAft>
            </a:pPr>
            <a:r>
              <a:rPr sz="2000" b="1" i="0">
                <a:solidFill>
                  <a:srgbClr val="0366FF"/>
                </a:solidFill>
                <a:latin typeface="Poppins"/>
              </a:rPr>
              <a:t>Interact</a:t>
            </a:r>
          </a:p>
        </p:txBody>
      </p:sp>
      <p:sp>
        <p:nvSpPr>
          <p:cNvPr id="15" name="TextBox 14"/>
          <p:cNvSpPr txBox="1"/>
          <p:nvPr/>
        </p:nvSpPr>
        <p:spPr>
          <a:xfrm>
            <a:off x="6254496" y="4407407"/>
            <a:ext cx="4581144" cy="1106424"/>
          </a:xfrm>
          <a:prstGeom prst="rect">
            <a:avLst/>
          </a:prstGeom>
          <a:noFill/>
        </p:spPr>
        <p:txBody>
          <a:bodyPr wrap="square" lIns="0" rIns="0" tIns="0" bIns="0" anchor="t">
            <a:spAutoFit/>
          </a:bodyPr>
          <a:lstStyle/>
          <a:p>
            <a:pPr algn="l">
              <a:spcAft>
                <a:spcPts val="400"/>
              </a:spcAft>
            </a:pPr>
            <a:r>
              <a:rPr sz="1600" b="0" i="0">
                <a:solidFill>
                  <a:srgbClr val="1B2433"/>
                </a:solidFill>
                <a:latin typeface="Poppins"/>
              </a:rPr>
              <a:t>Read input from the keyboard and print a useful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How software works</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01</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From code you type to a program the computer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 program is a list of exact instructions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A recipe (for a pers"/>
          <p:cNvSpPr/>
          <p:nvPr/>
        </p:nvSpPr>
        <p:spPr>
          <a:xfrm>
            <a:off x="841248" y="1508760"/>
            <a:ext cx="4846320" cy="429768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4443983"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A recipe (for a person)</a:t>
            </a:r>
          </a:p>
        </p:txBody>
      </p:sp>
      <p:sp>
        <p:nvSpPr>
          <p:cNvPr id="6" name="TextBox 5"/>
          <p:cNvSpPr txBox="1"/>
          <p:nvPr/>
        </p:nvSpPr>
        <p:spPr>
          <a:xfrm>
            <a:off x="1042416" y="2167128"/>
            <a:ext cx="4443983"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sz="1600" b="0" i="0">
                <a:solidFill>
                  <a:srgbClr val="1B2433"/>
                </a:solidFill>
                <a:latin typeface="Poppins"/>
              </a:rPr>
              <a:t>Boil water</a:t>
            </a:r>
          </a:p>
          <a:p>
            <a:pPr algn="l" marL="228600" indent="-201168">
              <a:spcAft>
                <a:spcPts val="400"/>
              </a:spcAft>
              <a:buClr>
                <a:srgbClr val="0366FF"/>
              </a:buClr>
              <a:buChar char="•"/>
            </a:pPr>
            <a:r>
              <a:rPr sz="1600" b="0" i="0">
                <a:solidFill>
                  <a:srgbClr val="1B2433"/>
                </a:solidFill>
                <a:latin typeface="Poppins"/>
              </a:rPr>
              <a:t>Add a pinch of salt</a:t>
            </a:r>
          </a:p>
          <a:p>
            <a:pPr algn="l" marL="228600" indent="-201168">
              <a:spcAft>
                <a:spcPts val="400"/>
              </a:spcAft>
              <a:buClr>
                <a:srgbClr val="0366FF"/>
              </a:buClr>
              <a:buChar char="•"/>
            </a:pPr>
            <a:r>
              <a:rPr sz="1600" b="0" i="0">
                <a:solidFill>
                  <a:srgbClr val="1B2433"/>
                </a:solidFill>
                <a:latin typeface="Poppins"/>
              </a:rPr>
              <a:t>Cook pasta until soft</a:t>
            </a:r>
          </a:p>
          <a:p>
            <a:pPr algn="l" marL="228600" indent="-201168">
              <a:spcAft>
                <a:spcPts val="400"/>
              </a:spcAft>
              <a:buClr>
                <a:srgbClr val="0366FF"/>
              </a:buClr>
              <a:buChar char="•"/>
            </a:pPr>
            <a:r>
              <a:rPr sz="1600" b="0" i="0">
                <a:solidFill>
                  <a:srgbClr val="1B2433"/>
                </a:solidFill>
                <a:latin typeface="Poppins"/>
              </a:rPr>
              <a:t>Serve</a:t>
            </a:r>
          </a:p>
        </p:txBody>
      </p:sp>
      <p:sp>
        <p:nvSpPr>
          <p:cNvPr id="7" name="Code"/>
          <p:cNvSpPr/>
          <p:nvPr/>
        </p:nvSpPr>
        <p:spPr>
          <a:xfrm>
            <a:off x="6035040" y="1508760"/>
            <a:ext cx="5029200" cy="429768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400" i="1">
                <a:solidFill>
                  <a:srgbClr val="8FD8DB"/>
                </a:solidFill>
                <a:latin typeface="Consolas"/>
              </a:rPr>
              <a:t>// A program (for a computer)</a:t>
            </a:r>
          </a:p>
          <a:p>
            <a:pPr algn="l">
              <a:lnSpc>
                <a:spcPct val="105000"/>
              </a:lnSpc>
              <a:spcAft>
                <a:spcPts val="0"/>
              </a:spcAft>
            </a:pPr>
            <a:r>
              <a:rPr sz="1400" i="0">
                <a:solidFill>
                  <a:srgbClr val="B9A6FF"/>
                </a:solidFill>
                <a:latin typeface="Consolas"/>
              </a:rPr>
              <a:t>int</a:t>
            </a:r>
            <a:r>
              <a:rPr sz="1400" i="0">
                <a:solidFill>
                  <a:srgbClr val="EEF2FA"/>
                </a:solidFill>
                <a:latin typeface="Consolas"/>
              </a:rPr>
              <a:t> </a:t>
            </a:r>
            <a:r>
              <a:rPr sz="1400" i="0">
                <a:solidFill>
                  <a:srgbClr val="EEF2FA"/>
                </a:solidFill>
                <a:latin typeface="Consolas"/>
              </a:rPr>
              <a:t>water</a:t>
            </a:r>
            <a:r>
              <a:rPr sz="1400" i="0">
                <a:solidFill>
                  <a:srgbClr val="EEF2FA"/>
                </a:solidFill>
                <a:latin typeface="Consolas"/>
              </a:rPr>
              <a:t> = </a:t>
            </a:r>
            <a:r>
              <a:rPr sz="1400" i="0">
                <a:solidFill>
                  <a:srgbClr val="FFD58A"/>
                </a:solidFill>
                <a:latin typeface="Consolas"/>
              </a:rPr>
              <a:t>2</a:t>
            </a:r>
            <a:r>
              <a:rPr sz="1400" i="0">
                <a:solidFill>
                  <a:srgbClr val="EEF2FA"/>
                </a:solidFill>
                <a:latin typeface="Consolas"/>
              </a:rPr>
              <a:t>;      </a:t>
            </a:r>
            <a:r>
              <a:rPr sz="1400" i="1">
                <a:solidFill>
                  <a:srgbClr val="8FD8DB"/>
                </a:solidFill>
                <a:latin typeface="Consolas"/>
              </a:rPr>
              <a:t>// litres</a:t>
            </a:r>
          </a:p>
          <a:p>
            <a:pPr algn="l">
              <a:lnSpc>
                <a:spcPct val="105000"/>
              </a:lnSpc>
              <a:spcAft>
                <a:spcPts val="0"/>
              </a:spcAft>
            </a:pPr>
            <a:r>
              <a:rPr sz="1400" i="0">
                <a:solidFill>
                  <a:srgbClr val="B9A6FF"/>
                </a:solidFill>
                <a:latin typeface="Consolas"/>
              </a:rPr>
              <a:t>int</a:t>
            </a:r>
            <a:r>
              <a:rPr sz="1400" i="0">
                <a:solidFill>
                  <a:srgbClr val="EEF2FA"/>
                </a:solidFill>
                <a:latin typeface="Consolas"/>
              </a:rPr>
              <a:t> </a:t>
            </a:r>
            <a:r>
              <a:rPr sz="1400" i="0">
                <a:solidFill>
                  <a:srgbClr val="EEF2FA"/>
                </a:solidFill>
                <a:latin typeface="Consolas"/>
              </a:rPr>
              <a:t>salt</a:t>
            </a:r>
            <a:r>
              <a:rPr sz="1400" i="0">
                <a:solidFill>
                  <a:srgbClr val="EEF2FA"/>
                </a:solidFill>
                <a:latin typeface="Consolas"/>
              </a:rPr>
              <a:t> = </a:t>
            </a:r>
            <a:r>
              <a:rPr sz="1400" i="0">
                <a:solidFill>
                  <a:srgbClr val="FFD58A"/>
                </a:solidFill>
                <a:latin typeface="Consolas"/>
              </a:rPr>
              <a:t>10</a:t>
            </a:r>
            <a:r>
              <a:rPr sz="1400" i="0">
                <a:solidFill>
                  <a:srgbClr val="EEF2FA"/>
                </a:solidFill>
                <a:latin typeface="Consolas"/>
              </a:rPr>
              <a:t>;      </a:t>
            </a:r>
            <a:r>
              <a:rPr sz="1400" i="1">
                <a:solidFill>
                  <a:srgbClr val="8FD8DB"/>
                </a:solidFill>
                <a:latin typeface="Consolas"/>
              </a:rPr>
              <a:t>// grams</a:t>
            </a:r>
          </a:p>
          <a:p>
            <a:pPr algn="l">
              <a:lnSpc>
                <a:spcPct val="105000"/>
              </a:lnSpc>
              <a:spcAft>
                <a:spcPts val="0"/>
              </a:spcAft>
            </a:pPr>
            <a:r>
              <a:rPr sz="1400" i="0">
                <a:solidFill>
                  <a:srgbClr val="B9A6FF"/>
                </a:solidFill>
                <a:latin typeface="Consolas"/>
              </a:rPr>
              <a:t>int</a:t>
            </a:r>
            <a:r>
              <a:rPr sz="1400" i="0">
                <a:solidFill>
                  <a:srgbClr val="EEF2FA"/>
                </a:solidFill>
                <a:latin typeface="Consolas"/>
              </a:rPr>
              <a:t> </a:t>
            </a:r>
            <a:r>
              <a:rPr sz="1400" i="0">
                <a:solidFill>
                  <a:srgbClr val="EEF2FA"/>
                </a:solidFill>
                <a:latin typeface="Consolas"/>
              </a:rPr>
              <a:t>minutes</a:t>
            </a:r>
            <a:r>
              <a:rPr sz="1400" i="0">
                <a:solidFill>
                  <a:srgbClr val="EEF2FA"/>
                </a:solidFill>
                <a:latin typeface="Consolas"/>
              </a:rPr>
              <a:t> = </a:t>
            </a:r>
            <a:r>
              <a:rPr sz="1400" i="0">
                <a:solidFill>
                  <a:srgbClr val="FFD58A"/>
                </a:solidFill>
                <a:latin typeface="Consolas"/>
              </a:rPr>
              <a:t>9</a:t>
            </a:r>
            <a:r>
              <a:rPr sz="1400" i="0">
                <a:solidFill>
                  <a:srgbClr val="EEF2FA"/>
                </a:solidFill>
                <a:latin typeface="Consolas"/>
              </a:rPr>
              <a:t>;</a:t>
            </a:r>
          </a:p>
          <a:p>
            <a:pPr algn="l">
              <a:lnSpc>
                <a:spcPct val="105000"/>
              </a:lnSpc>
              <a:spcAft>
                <a:spcPts val="0"/>
              </a:spcAft>
            </a:pPr>
            <a:r>
              <a:rPr sz="1400" i="0">
                <a:solidFill>
                  <a:srgbClr val="EEF2FA"/>
                </a:solidFill>
                <a:latin typeface="Consolas"/>
              </a:rPr>
              <a:t> </a:t>
            </a:r>
          </a:p>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9EF0C9"/>
                </a:solidFill>
                <a:latin typeface="Consolas"/>
              </a:rPr>
              <a:t>"Boil water"</a:t>
            </a:r>
            <a:r>
              <a:rPr sz="1400" i="0">
                <a:solidFill>
                  <a:srgbClr val="EEF2FA"/>
                </a:solidFill>
                <a:latin typeface="Consolas"/>
              </a:rPr>
              <a:t>);</a:t>
            </a:r>
          </a:p>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9EF0C9"/>
                </a:solidFill>
                <a:latin typeface="Consolas"/>
              </a:rPr>
              <a:t>"Salt: "</a:t>
            </a:r>
            <a:r>
              <a:rPr sz="1400" i="0">
                <a:solidFill>
                  <a:srgbClr val="EEF2FA"/>
                </a:solidFill>
                <a:latin typeface="Consolas"/>
              </a:rPr>
              <a:t> + </a:t>
            </a:r>
            <a:r>
              <a:rPr sz="1400" i="0">
                <a:solidFill>
                  <a:srgbClr val="EEF2FA"/>
                </a:solidFill>
                <a:latin typeface="Consolas"/>
              </a:rPr>
              <a:t>salt</a:t>
            </a:r>
            <a:r>
              <a:rPr sz="1400" i="0">
                <a:solidFill>
                  <a:srgbClr val="EEF2FA"/>
                </a:solidFill>
                <a:latin typeface="Consolas"/>
              </a:rPr>
              <a:t>);</a:t>
            </a:r>
          </a:p>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9EF0C9"/>
                </a:solidFill>
                <a:latin typeface="Consolas"/>
              </a:rPr>
              <a:t>"Cook: "</a:t>
            </a:r>
            <a:r>
              <a:rPr sz="1400" i="0">
                <a:solidFill>
                  <a:srgbClr val="EEF2FA"/>
                </a:solidFill>
                <a:latin typeface="Consolas"/>
              </a:rPr>
              <a:t> + </a:t>
            </a:r>
            <a:r>
              <a:rPr sz="1400" i="0">
                <a:solidFill>
                  <a:srgbClr val="EEF2FA"/>
                </a:solidFill>
                <a:latin typeface="Consolas"/>
              </a:rPr>
              <a:t>minutes</a:t>
            </a:r>
            <a:r>
              <a:rPr sz="1400" i="0">
                <a:solidFill>
                  <a:srgbClr val="EEF2FA"/>
                </a:solidFill>
                <a:latin typeface="Consolas"/>
              </a:rPr>
              <a:t>);</a:t>
            </a:r>
          </a:p>
        </p:txBody>
      </p:sp>
      <p:sp>
        <p:nvSpPr>
          <p:cNvPr id="8" name="TextBox 7"/>
          <p:cNvSpPr txBox="1"/>
          <p:nvPr/>
        </p:nvSpPr>
        <p:spPr>
          <a:xfrm>
            <a:off x="6263640" y="1600200"/>
            <a:ext cx="45720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demos/Recipe.java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From your code to a running program</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low Main.java"/>
          <p:cNvSpPr/>
          <p:nvPr/>
        </p:nvSpPr>
        <p:spPr>
          <a:xfrm>
            <a:off x="841248" y="2011680"/>
            <a:ext cx="1783080" cy="1097280"/>
          </a:xfrm>
          <a:prstGeom prst="roundRect">
            <a:avLst>
              <a:gd name="adj" fmla="val 1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2011680"/>
            <a:ext cx="1783080" cy="1097280"/>
          </a:xfrm>
          <a:prstGeom prst="rect">
            <a:avLst/>
          </a:prstGeom>
          <a:noFill/>
        </p:spPr>
        <p:txBody>
          <a:bodyPr wrap="square" lIns="0" rIns="0" tIns="0" bIns="0" anchor="ctr">
            <a:spAutoFit/>
          </a:bodyPr>
          <a:lstStyle/>
          <a:p>
            <a:pPr algn="ctr">
              <a:spcAft>
                <a:spcPts val="600"/>
              </a:spcAft>
            </a:pPr>
            <a:r>
              <a:rPr sz="1800" b="0" i="0">
                <a:solidFill>
                  <a:srgbClr val="0366FF"/>
                </a:solidFill>
                <a:latin typeface="Consolas"/>
              </a:rPr>
              <a:t>Main.java</a:t>
            </a:r>
          </a:p>
        </p:txBody>
      </p:sp>
      <p:sp>
        <p:nvSpPr>
          <p:cNvPr id="6" name="TextBox 5"/>
          <p:cNvSpPr txBox="1"/>
          <p:nvPr/>
        </p:nvSpPr>
        <p:spPr>
          <a:xfrm>
            <a:off x="841248" y="3291840"/>
            <a:ext cx="1783080" cy="91440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You write source code</a:t>
            </a:r>
          </a:p>
        </p:txBody>
      </p:sp>
      <p:cxnSp>
        <p:nvCxnSpPr>
          <p:cNvPr id="7" name="Connector 6"/>
          <p:cNvCxnSpPr/>
          <p:nvPr/>
        </p:nvCxnSpPr>
        <p:spPr>
          <a:xfrm>
            <a:off x="2651760" y="2560320"/>
            <a:ext cx="265176" cy="0"/>
          </a:xfrm>
          <a:prstGeom prst="line">
            <a:avLst/>
          </a:prstGeom>
          <a:ln w="2857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low javac"/>
          <p:cNvSpPr/>
          <p:nvPr/>
        </p:nvSpPr>
        <p:spPr>
          <a:xfrm>
            <a:off x="2944368" y="2011680"/>
            <a:ext cx="1783080" cy="1097280"/>
          </a:xfrm>
          <a:prstGeom prst="roundRect">
            <a:avLst>
              <a:gd name="adj" fmla="val 1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44368" y="2011680"/>
            <a:ext cx="1783080" cy="1097280"/>
          </a:xfrm>
          <a:prstGeom prst="rect">
            <a:avLst/>
          </a:prstGeom>
          <a:noFill/>
        </p:spPr>
        <p:txBody>
          <a:bodyPr wrap="square" lIns="0" rIns="0" tIns="0" bIns="0" anchor="ctr">
            <a:spAutoFit/>
          </a:bodyPr>
          <a:lstStyle/>
          <a:p>
            <a:pPr algn="ctr">
              <a:spcAft>
                <a:spcPts val="600"/>
              </a:spcAft>
            </a:pPr>
            <a:r>
              <a:rPr sz="1800" b="0" i="0">
                <a:solidFill>
                  <a:srgbClr val="8C4FF4"/>
                </a:solidFill>
                <a:latin typeface="Consolas"/>
              </a:rPr>
              <a:t>javac</a:t>
            </a:r>
          </a:p>
        </p:txBody>
      </p:sp>
      <p:sp>
        <p:nvSpPr>
          <p:cNvPr id="10" name="TextBox 9"/>
          <p:cNvSpPr txBox="1"/>
          <p:nvPr/>
        </p:nvSpPr>
        <p:spPr>
          <a:xfrm>
            <a:off x="2944368" y="3291840"/>
            <a:ext cx="1783080" cy="91440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The compiler checks and translates</a:t>
            </a:r>
          </a:p>
        </p:txBody>
      </p:sp>
      <p:cxnSp>
        <p:nvCxnSpPr>
          <p:cNvPr id="11" name="Connector 10"/>
          <p:cNvCxnSpPr/>
          <p:nvPr/>
        </p:nvCxnSpPr>
        <p:spPr>
          <a:xfrm>
            <a:off x="4754880" y="2560320"/>
            <a:ext cx="265175" cy="0"/>
          </a:xfrm>
          <a:prstGeom prst="line">
            <a:avLst/>
          </a:prstGeom>
          <a:ln w="2857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Flow Main.class"/>
          <p:cNvSpPr/>
          <p:nvPr/>
        </p:nvSpPr>
        <p:spPr>
          <a:xfrm>
            <a:off x="5047488" y="2011680"/>
            <a:ext cx="1783080" cy="1097280"/>
          </a:xfrm>
          <a:prstGeom prst="roundRect">
            <a:avLst>
              <a:gd name="adj" fmla="val 1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47488" y="2011680"/>
            <a:ext cx="1783080" cy="1097280"/>
          </a:xfrm>
          <a:prstGeom prst="rect">
            <a:avLst/>
          </a:prstGeom>
          <a:noFill/>
        </p:spPr>
        <p:txBody>
          <a:bodyPr wrap="square" lIns="0" rIns="0" tIns="0" bIns="0" anchor="ctr">
            <a:spAutoFit/>
          </a:bodyPr>
          <a:lstStyle/>
          <a:p>
            <a:pPr algn="ctr">
              <a:spcAft>
                <a:spcPts val="600"/>
              </a:spcAft>
            </a:pPr>
            <a:r>
              <a:rPr sz="1800" b="0" i="0">
                <a:solidFill>
                  <a:srgbClr val="0366FF"/>
                </a:solidFill>
                <a:latin typeface="Consolas"/>
              </a:rPr>
              <a:t>Main.class</a:t>
            </a:r>
          </a:p>
        </p:txBody>
      </p:sp>
      <p:sp>
        <p:nvSpPr>
          <p:cNvPr id="14" name="TextBox 13"/>
          <p:cNvSpPr txBox="1"/>
          <p:nvPr/>
        </p:nvSpPr>
        <p:spPr>
          <a:xfrm>
            <a:off x="5047488" y="3291840"/>
            <a:ext cx="1783080" cy="91440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Bytecode: same on every OS</a:t>
            </a:r>
          </a:p>
        </p:txBody>
      </p:sp>
      <p:cxnSp>
        <p:nvCxnSpPr>
          <p:cNvPr id="15" name="Connector 14"/>
          <p:cNvCxnSpPr/>
          <p:nvPr/>
        </p:nvCxnSpPr>
        <p:spPr>
          <a:xfrm>
            <a:off x="6858000" y="2560320"/>
            <a:ext cx="265175" cy="0"/>
          </a:xfrm>
          <a:prstGeom prst="line">
            <a:avLst/>
          </a:prstGeom>
          <a:ln w="2857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Flow JVM"/>
          <p:cNvSpPr/>
          <p:nvPr/>
        </p:nvSpPr>
        <p:spPr>
          <a:xfrm>
            <a:off x="7150607" y="2011680"/>
            <a:ext cx="1783080" cy="1097280"/>
          </a:xfrm>
          <a:prstGeom prst="roundRect">
            <a:avLst>
              <a:gd name="adj" fmla="val 18000"/>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50607" y="2011680"/>
            <a:ext cx="1783080" cy="1097280"/>
          </a:xfrm>
          <a:prstGeom prst="rect">
            <a:avLst/>
          </a:prstGeom>
          <a:noFill/>
        </p:spPr>
        <p:txBody>
          <a:bodyPr wrap="square" lIns="0" rIns="0" tIns="0" bIns="0" anchor="ctr">
            <a:spAutoFit/>
          </a:bodyPr>
          <a:lstStyle/>
          <a:p>
            <a:pPr algn="ctr">
              <a:spcAft>
                <a:spcPts val="600"/>
              </a:spcAft>
            </a:pPr>
            <a:r>
              <a:rPr sz="1800" b="1" i="0">
                <a:solidFill>
                  <a:srgbClr val="FFFFFF"/>
                </a:solidFill>
                <a:latin typeface="Poppins"/>
              </a:rPr>
              <a:t>JVM</a:t>
            </a:r>
          </a:p>
        </p:txBody>
      </p:sp>
      <p:sp>
        <p:nvSpPr>
          <p:cNvPr id="18" name="TextBox 17"/>
          <p:cNvSpPr txBox="1"/>
          <p:nvPr/>
        </p:nvSpPr>
        <p:spPr>
          <a:xfrm>
            <a:off x="7150607" y="3291840"/>
            <a:ext cx="1783080" cy="91440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Runs bytecode on Windows, Mac, Linux</a:t>
            </a:r>
          </a:p>
        </p:txBody>
      </p:sp>
      <p:cxnSp>
        <p:nvCxnSpPr>
          <p:cNvPr id="19" name="Connector 18"/>
          <p:cNvCxnSpPr/>
          <p:nvPr/>
        </p:nvCxnSpPr>
        <p:spPr>
          <a:xfrm>
            <a:off x="8961119" y="2560320"/>
            <a:ext cx="265177" cy="0"/>
          </a:xfrm>
          <a:prstGeom prst="line">
            <a:avLst/>
          </a:prstGeom>
          <a:ln w="2857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Flow Output"/>
          <p:cNvSpPr/>
          <p:nvPr/>
        </p:nvSpPr>
        <p:spPr>
          <a:xfrm>
            <a:off x="9253728" y="2011680"/>
            <a:ext cx="1783080" cy="1097280"/>
          </a:xfrm>
          <a:prstGeom prst="roundRect">
            <a:avLst>
              <a:gd name="adj" fmla="val 1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253728" y="2011680"/>
            <a:ext cx="1783080" cy="1097280"/>
          </a:xfrm>
          <a:prstGeom prst="rect">
            <a:avLst/>
          </a:prstGeom>
          <a:noFill/>
        </p:spPr>
        <p:txBody>
          <a:bodyPr wrap="square" lIns="0" rIns="0" tIns="0" bIns="0" anchor="ctr">
            <a:spAutoFit/>
          </a:bodyPr>
          <a:lstStyle/>
          <a:p>
            <a:pPr algn="ctr">
              <a:spcAft>
                <a:spcPts val="600"/>
              </a:spcAft>
            </a:pPr>
            <a:r>
              <a:rPr sz="1800" b="1" i="0">
                <a:solidFill>
                  <a:srgbClr val="0366FF"/>
                </a:solidFill>
                <a:latin typeface="Poppins"/>
              </a:rPr>
              <a:t>Output</a:t>
            </a:r>
          </a:p>
        </p:txBody>
      </p:sp>
      <p:sp>
        <p:nvSpPr>
          <p:cNvPr id="22" name="TextBox 21"/>
          <p:cNvSpPr txBox="1"/>
          <p:nvPr/>
        </p:nvSpPr>
        <p:spPr>
          <a:xfrm>
            <a:off x="9253728" y="3291840"/>
            <a:ext cx="1783080" cy="91440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What the user sees</a:t>
            </a:r>
          </a:p>
        </p:txBody>
      </p:sp>
      <p:sp>
        <p:nvSpPr>
          <p:cNvPr id="23" name="Motto band"/>
          <p:cNvSpPr/>
          <p:nvPr/>
        </p:nvSpPr>
        <p:spPr>
          <a:xfrm>
            <a:off x="841248" y="4754880"/>
            <a:ext cx="10241280" cy="100584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97280" y="4754880"/>
            <a:ext cx="9692640" cy="1005840"/>
          </a:xfrm>
          <a:prstGeom prst="rect">
            <a:avLst/>
          </a:prstGeom>
          <a:noFill/>
        </p:spPr>
        <p:txBody>
          <a:bodyPr wrap="square" lIns="0" rIns="0" tIns="0" bIns="0" anchor="ctr">
            <a:spAutoFit/>
          </a:bodyPr>
          <a:lstStyle/>
          <a:p>
            <a:pPr algn="l">
              <a:spcAft>
                <a:spcPts val="600"/>
              </a:spcAft>
            </a:pPr>
            <a:r>
              <a:rPr sz="1600" b="1" i="0">
                <a:solidFill>
                  <a:srgbClr val="0E2841"/>
                </a:solidFill>
                <a:latin typeface="Poppins"/>
              </a:rPr>
              <a:t>Write once, run anywhere. </a:t>
            </a:r>
            <a:r>
              <a:rPr sz="1600" b="0" i="0">
                <a:solidFill>
                  <a:srgbClr val="1B2433"/>
                </a:solidFill>
                <a:latin typeface="Poppins"/>
              </a:rPr>
              <a:t>The JVM is the reason Java runs in banks, telecoms and Android phones alike.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JDK, JRE and JVM</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JDK"/>
          <p:cNvSpPr/>
          <p:nvPr/>
        </p:nvSpPr>
        <p:spPr>
          <a:xfrm>
            <a:off x="841248" y="1463040"/>
            <a:ext cx="5760720" cy="4480560"/>
          </a:xfrm>
          <a:prstGeom prst="roundRect">
            <a:avLst>
              <a:gd name="adj" fmla="val 6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97280" y="1600200"/>
            <a:ext cx="5303520" cy="457200"/>
          </a:xfrm>
          <a:prstGeom prst="rect">
            <a:avLst/>
          </a:prstGeom>
          <a:noFill/>
        </p:spPr>
        <p:txBody>
          <a:bodyPr wrap="square" lIns="0" rIns="0" tIns="0" bIns="0" anchor="t">
            <a:spAutoFit/>
          </a:bodyPr>
          <a:lstStyle/>
          <a:p>
            <a:pPr algn="l">
              <a:spcAft>
                <a:spcPts val="600"/>
              </a:spcAft>
            </a:pPr>
            <a:r>
              <a:rPr sz="1800" b="1" i="0">
                <a:solidFill>
                  <a:srgbClr val="0366FF"/>
                </a:solidFill>
                <a:latin typeface="Poppins"/>
              </a:rPr>
              <a:t>JDK  ·  Java Development Kit</a:t>
            </a:r>
          </a:p>
        </p:txBody>
      </p:sp>
      <p:sp>
        <p:nvSpPr>
          <p:cNvPr id="6" name="TextBox 5"/>
          <p:cNvSpPr txBox="1"/>
          <p:nvPr/>
        </p:nvSpPr>
        <p:spPr>
          <a:xfrm>
            <a:off x="1097280" y="2057400"/>
            <a:ext cx="5303520" cy="45720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Tools to build: </a:t>
            </a:r>
            <a:r>
              <a:rPr sz="1400" b="0" i="0">
                <a:solidFill>
                  <a:srgbClr val="8C4FF4"/>
                </a:solidFill>
                <a:latin typeface="Consolas"/>
              </a:rPr>
              <a:t>javac</a:t>
            </a:r>
            <a:r>
              <a:rPr sz="1400" b="0" i="0">
                <a:solidFill>
                  <a:srgbClr val="1B2433"/>
                </a:solidFill>
                <a:latin typeface="Poppins"/>
              </a:rPr>
              <a:t>, </a:t>
            </a:r>
            <a:r>
              <a:rPr sz="1400" b="0" i="0">
                <a:solidFill>
                  <a:srgbClr val="8C4FF4"/>
                </a:solidFill>
                <a:latin typeface="Consolas"/>
              </a:rPr>
              <a:t>jar</a:t>
            </a:r>
            <a:r>
              <a:rPr sz="1400" b="0" i="0">
                <a:solidFill>
                  <a:srgbClr val="1B2433"/>
                </a:solidFill>
                <a:latin typeface="Poppins"/>
              </a:rPr>
              <a:t>, debugger</a:t>
            </a:r>
          </a:p>
        </p:txBody>
      </p:sp>
      <p:sp>
        <p:nvSpPr>
          <p:cNvPr id="7" name="JRE"/>
          <p:cNvSpPr/>
          <p:nvPr/>
        </p:nvSpPr>
        <p:spPr>
          <a:xfrm>
            <a:off x="1188720" y="2606040"/>
            <a:ext cx="5074920" cy="3063240"/>
          </a:xfrm>
          <a:prstGeom prst="roundRect">
            <a:avLst>
              <a:gd name="adj" fmla="val 6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17320" y="2743200"/>
            <a:ext cx="4572000"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JRE  ·  Runtime Environment</a:t>
            </a:r>
          </a:p>
        </p:txBody>
      </p:sp>
      <p:sp>
        <p:nvSpPr>
          <p:cNvPr id="9" name="TextBox 8"/>
          <p:cNvSpPr txBox="1"/>
          <p:nvPr/>
        </p:nvSpPr>
        <p:spPr>
          <a:xfrm>
            <a:off x="1417320" y="3154680"/>
            <a:ext cx="4572000" cy="45720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Standard libraries: String, Scanner, Math…</a:t>
            </a:r>
          </a:p>
        </p:txBody>
      </p:sp>
      <p:sp>
        <p:nvSpPr>
          <p:cNvPr id="10" name="JVM"/>
          <p:cNvSpPr/>
          <p:nvPr/>
        </p:nvSpPr>
        <p:spPr>
          <a:xfrm>
            <a:off x="1554480" y="3794760"/>
            <a:ext cx="4343400" cy="1600200"/>
          </a:xfrm>
          <a:prstGeom prst="roundRect">
            <a:avLst>
              <a:gd name="adj" fmla="val 8000"/>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83080" y="3931920"/>
            <a:ext cx="3931920" cy="457200"/>
          </a:xfrm>
          <a:prstGeom prst="rect">
            <a:avLst/>
          </a:prstGeom>
          <a:noFill/>
        </p:spPr>
        <p:txBody>
          <a:bodyPr wrap="square" lIns="0" rIns="0" tIns="0" bIns="0" anchor="t">
            <a:spAutoFit/>
          </a:bodyPr>
          <a:lstStyle/>
          <a:p>
            <a:pPr algn="l">
              <a:spcAft>
                <a:spcPts val="600"/>
              </a:spcAft>
            </a:pPr>
            <a:r>
              <a:rPr sz="1700" b="1" i="0">
                <a:solidFill>
                  <a:srgbClr val="FFFFFF"/>
                </a:solidFill>
                <a:latin typeface="Poppins"/>
              </a:rPr>
              <a:t>JVM  ·  Virtual Machine</a:t>
            </a:r>
          </a:p>
        </p:txBody>
      </p:sp>
      <p:sp>
        <p:nvSpPr>
          <p:cNvPr id="12" name="TextBox 11"/>
          <p:cNvSpPr txBox="1"/>
          <p:nvPr/>
        </p:nvSpPr>
        <p:spPr>
          <a:xfrm>
            <a:off x="1783080" y="4389120"/>
            <a:ext cx="3931920" cy="914400"/>
          </a:xfrm>
          <a:prstGeom prst="rect">
            <a:avLst/>
          </a:prstGeom>
          <a:noFill/>
        </p:spPr>
        <p:txBody>
          <a:bodyPr wrap="square" lIns="0" rIns="0" tIns="0" bIns="0" anchor="t">
            <a:spAutoFit/>
          </a:bodyPr>
          <a:lstStyle/>
          <a:p>
            <a:pPr algn="l">
              <a:spcAft>
                <a:spcPts val="600"/>
              </a:spcAft>
            </a:pPr>
            <a:r>
              <a:rPr sz="1400" b="0" i="0">
                <a:solidFill>
                  <a:srgbClr val="FFFFFF"/>
                </a:solidFill>
                <a:latin typeface="Poppins"/>
              </a:rPr>
              <a:t>Runs bytecode and manages memory</a:t>
            </a:r>
          </a:p>
        </p:txBody>
      </p:sp>
      <p:sp>
        <p:nvSpPr>
          <p:cNvPr id="13" name="TextBox 12"/>
          <p:cNvSpPr txBox="1"/>
          <p:nvPr/>
        </p:nvSpPr>
        <p:spPr>
          <a:xfrm>
            <a:off x="6949440" y="1600200"/>
            <a:ext cx="4114800" cy="4297680"/>
          </a:xfrm>
          <a:prstGeom prst="rect">
            <a:avLst/>
          </a:prstGeom>
          <a:noFill/>
        </p:spPr>
        <p:txBody>
          <a:bodyPr wrap="square" lIns="0" rIns="0" tIns="0" bIns="0" anchor="t">
            <a:spAutoFit/>
          </a:bodyPr>
          <a:lstStyle/>
          <a:p>
            <a:pPr algn="l">
              <a:spcAft>
                <a:spcPts val="1400"/>
              </a:spcAft>
            </a:pPr>
            <a:r>
              <a:rPr sz="1600" b="1" i="0">
                <a:solidFill>
                  <a:srgbClr val="0366FF"/>
                </a:solidFill>
                <a:latin typeface="Poppins"/>
              </a:rPr>
              <a:t>You install: </a:t>
            </a:r>
            <a:r>
              <a:rPr sz="1600" b="0" i="0">
                <a:solidFill>
                  <a:srgbClr val="1B2433"/>
                </a:solidFill>
                <a:latin typeface="Poppins"/>
              </a:rPr>
              <a:t>the JDK (Java 25).</a:t>
            </a:r>
          </a:p>
          <a:p>
            <a:pPr algn="l">
              <a:spcAft>
                <a:spcPts val="1400"/>
              </a:spcAft>
            </a:pPr>
            <a:r>
              <a:rPr sz="1600" b="1" i="0">
                <a:solidFill>
                  <a:srgbClr val="0366FF"/>
                </a:solidFill>
                <a:latin typeface="Poppins"/>
              </a:rPr>
              <a:t>Users need: </a:t>
            </a:r>
            <a:r>
              <a:rPr sz="1600" b="0" i="0">
                <a:solidFill>
                  <a:srgbClr val="1B2433"/>
                </a:solidFill>
                <a:latin typeface="Poppins"/>
              </a:rPr>
              <a:t>only a runtime to run your program.</a:t>
            </a:r>
          </a:p>
          <a:p>
            <a:pPr algn="l">
              <a:spcAft>
                <a:spcPts val="1400"/>
              </a:spcAft>
            </a:pPr>
            <a:r>
              <a:rPr sz="1600" b="1" i="0">
                <a:solidFill>
                  <a:srgbClr val="0366FF"/>
                </a:solidFill>
                <a:latin typeface="Poppins"/>
              </a:rPr>
              <a:t>The JVM: </a:t>
            </a:r>
            <a:r>
              <a:rPr sz="1600" b="0" i="0">
                <a:solidFill>
                  <a:srgbClr val="1B2433"/>
                </a:solidFill>
                <a:latin typeface="Poppins"/>
              </a:rPr>
              <a:t>the engine inside both.</a:t>
            </a:r>
          </a:p>
          <a:p>
            <a:pPr algn="l">
              <a:spcAft>
                <a:spcPts val="1400"/>
              </a:spcAft>
            </a:pPr>
            <a:r>
              <a:rPr sz="1600" b="1" i="0">
                <a:solidFill>
                  <a:srgbClr val="8C4FF4"/>
                </a:solidFill>
                <a:latin typeface="Poppins"/>
              </a:rPr>
              <a:t>Interview tip: </a:t>
            </a:r>
            <a:r>
              <a:rPr sz="1600" b="0" i="0">
                <a:solidFill>
                  <a:srgbClr val="1B2433"/>
                </a:solidFill>
                <a:latin typeface="Poppins"/>
              </a:rPr>
              <a:t>JDK ⊃ JRE ⊃ JVM.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How a web or mobile app works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pp or browser"/>
          <p:cNvSpPr/>
          <p:nvPr/>
        </p:nvSpPr>
        <p:spPr>
          <a:xfrm>
            <a:off x="841248" y="1645920"/>
            <a:ext cx="3017520" cy="2103120"/>
          </a:xfrm>
          <a:prstGeom prst="roundRect">
            <a:avLst>
              <a:gd name="adj" fmla="val 12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874519"/>
            <a:ext cx="3017520" cy="548640"/>
          </a:xfrm>
          <a:prstGeom prst="rect">
            <a:avLst/>
          </a:prstGeom>
          <a:noFill/>
        </p:spPr>
        <p:txBody>
          <a:bodyPr wrap="square" lIns="0" rIns="0" tIns="0" bIns="0" anchor="t">
            <a:spAutoFit/>
          </a:bodyPr>
          <a:lstStyle/>
          <a:p>
            <a:pPr algn="ctr">
              <a:spcAft>
                <a:spcPts val="600"/>
              </a:spcAft>
            </a:pPr>
            <a:r>
              <a:rPr sz="2000" b="1" i="0">
                <a:solidFill>
                  <a:srgbClr val="0E2841"/>
                </a:solidFill>
                <a:latin typeface="Poppins"/>
              </a:rPr>
              <a:t>App or browser</a:t>
            </a:r>
          </a:p>
        </p:txBody>
      </p:sp>
      <p:sp>
        <p:nvSpPr>
          <p:cNvPr id="6" name="TextBox 5"/>
          <p:cNvSpPr txBox="1"/>
          <p:nvPr/>
        </p:nvSpPr>
        <p:spPr>
          <a:xfrm>
            <a:off x="841248" y="2468880"/>
            <a:ext cx="3017520" cy="1188720"/>
          </a:xfrm>
          <a:prstGeom prst="rect">
            <a:avLst/>
          </a:prstGeom>
          <a:noFill/>
        </p:spPr>
        <p:txBody>
          <a:bodyPr wrap="square" lIns="0" rIns="0" tIns="0" bIns="0" anchor="t">
            <a:spAutoFit/>
          </a:bodyPr>
          <a:lstStyle/>
          <a:p>
            <a:pPr algn="ctr">
              <a:spcAft>
                <a:spcPts val="200"/>
              </a:spcAft>
            </a:pPr>
            <a:r>
              <a:rPr sz="1400" b="0" i="0">
                <a:solidFill>
                  <a:srgbClr val="1B2433"/>
                </a:solidFill>
                <a:latin typeface="Poppins"/>
              </a:rPr>
              <a:t>What the user taps</a:t>
            </a:r>
          </a:p>
        </p:txBody>
      </p:sp>
      <p:sp>
        <p:nvSpPr>
          <p:cNvPr id="7" name="Backend"/>
          <p:cNvSpPr/>
          <p:nvPr/>
        </p:nvSpPr>
        <p:spPr>
          <a:xfrm>
            <a:off x="4453128" y="1645920"/>
            <a:ext cx="3017520" cy="2103120"/>
          </a:xfrm>
          <a:prstGeom prst="roundRect">
            <a:avLst>
              <a:gd name="adj" fmla="val 12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53128" y="1874519"/>
            <a:ext cx="3017520" cy="548640"/>
          </a:xfrm>
          <a:prstGeom prst="rect">
            <a:avLst/>
          </a:prstGeom>
          <a:noFill/>
        </p:spPr>
        <p:txBody>
          <a:bodyPr wrap="square" lIns="0" rIns="0" tIns="0" bIns="0" anchor="t">
            <a:spAutoFit/>
          </a:bodyPr>
          <a:lstStyle/>
          <a:p>
            <a:pPr algn="ctr">
              <a:spcAft>
                <a:spcPts val="600"/>
              </a:spcAft>
            </a:pPr>
            <a:r>
              <a:rPr sz="2000" b="1" i="0">
                <a:solidFill>
                  <a:srgbClr val="FFFFFF"/>
                </a:solidFill>
                <a:latin typeface="Poppins"/>
              </a:rPr>
              <a:t>Backend</a:t>
            </a:r>
          </a:p>
        </p:txBody>
      </p:sp>
      <p:sp>
        <p:nvSpPr>
          <p:cNvPr id="9" name="TextBox 8"/>
          <p:cNvSpPr txBox="1"/>
          <p:nvPr/>
        </p:nvSpPr>
        <p:spPr>
          <a:xfrm>
            <a:off x="4453128" y="2468880"/>
            <a:ext cx="3017520" cy="1188720"/>
          </a:xfrm>
          <a:prstGeom prst="rect">
            <a:avLst/>
          </a:prstGeom>
          <a:noFill/>
        </p:spPr>
        <p:txBody>
          <a:bodyPr wrap="square" lIns="0" rIns="0" tIns="0" bIns="0" anchor="t">
            <a:spAutoFit/>
          </a:bodyPr>
          <a:lstStyle/>
          <a:p>
            <a:pPr algn="ctr">
              <a:spcAft>
                <a:spcPts val="200"/>
              </a:spcAft>
            </a:pPr>
            <a:r>
              <a:rPr sz="1400" b="0" i="0">
                <a:solidFill>
                  <a:srgbClr val="FFFFFF"/>
                </a:solidFill>
                <a:latin typeface="Poppins"/>
              </a:rPr>
              <a:t>Java + Spring Boot</a:t>
            </a:r>
          </a:p>
          <a:p>
            <a:pPr algn="ctr">
              <a:spcAft>
                <a:spcPts val="200"/>
              </a:spcAft>
            </a:pPr>
            <a:r>
              <a:rPr sz="1400" b="0" i="0">
                <a:solidFill>
                  <a:srgbClr val="FFFFFF"/>
                </a:solidFill>
                <a:latin typeface="Poppins"/>
              </a:rPr>
              <a:t>Rules, security, logic</a:t>
            </a:r>
          </a:p>
        </p:txBody>
      </p:sp>
      <p:sp>
        <p:nvSpPr>
          <p:cNvPr id="10" name="Database"/>
          <p:cNvSpPr/>
          <p:nvPr/>
        </p:nvSpPr>
        <p:spPr>
          <a:xfrm>
            <a:off x="8065008" y="1645920"/>
            <a:ext cx="3017520" cy="2103120"/>
          </a:xfrm>
          <a:prstGeom prst="roundRect">
            <a:avLst>
              <a:gd name="adj" fmla="val 12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65008" y="1874519"/>
            <a:ext cx="3017520" cy="548640"/>
          </a:xfrm>
          <a:prstGeom prst="rect">
            <a:avLst/>
          </a:prstGeom>
          <a:noFill/>
        </p:spPr>
        <p:txBody>
          <a:bodyPr wrap="square" lIns="0" rIns="0" tIns="0" bIns="0" anchor="t">
            <a:spAutoFit/>
          </a:bodyPr>
          <a:lstStyle/>
          <a:p>
            <a:pPr algn="ctr">
              <a:spcAft>
                <a:spcPts val="600"/>
              </a:spcAft>
            </a:pPr>
            <a:r>
              <a:rPr sz="2000" b="1" i="0">
                <a:solidFill>
                  <a:srgbClr val="8C4FF4"/>
                </a:solidFill>
                <a:latin typeface="Poppins"/>
              </a:rPr>
              <a:t>Database</a:t>
            </a:r>
          </a:p>
        </p:txBody>
      </p:sp>
      <p:sp>
        <p:nvSpPr>
          <p:cNvPr id="12" name="TextBox 11"/>
          <p:cNvSpPr txBox="1"/>
          <p:nvPr/>
        </p:nvSpPr>
        <p:spPr>
          <a:xfrm>
            <a:off x="8065008" y="2468880"/>
            <a:ext cx="3017520" cy="1188720"/>
          </a:xfrm>
          <a:prstGeom prst="rect">
            <a:avLst/>
          </a:prstGeom>
          <a:noFill/>
        </p:spPr>
        <p:txBody>
          <a:bodyPr wrap="square" lIns="0" rIns="0" tIns="0" bIns="0" anchor="t">
            <a:spAutoFit/>
          </a:bodyPr>
          <a:lstStyle/>
          <a:p>
            <a:pPr algn="ctr">
              <a:spcAft>
                <a:spcPts val="200"/>
              </a:spcAft>
            </a:pPr>
            <a:r>
              <a:rPr sz="1400" b="0" i="0">
                <a:solidFill>
                  <a:srgbClr val="1B2433"/>
                </a:solidFill>
                <a:latin typeface="Poppins"/>
              </a:rPr>
              <a:t>PostgreSQL</a:t>
            </a:r>
          </a:p>
          <a:p>
            <a:pPr algn="ctr">
              <a:spcAft>
                <a:spcPts val="200"/>
              </a:spcAft>
            </a:pPr>
            <a:r>
              <a:rPr sz="1400" b="0" i="0">
                <a:solidFill>
                  <a:srgbClr val="1B2433"/>
                </a:solidFill>
                <a:latin typeface="Poppins"/>
              </a:rPr>
              <a:t>Stores the data</a:t>
            </a:r>
          </a:p>
        </p:txBody>
      </p:sp>
      <p:cxnSp>
        <p:nvCxnSpPr>
          <p:cNvPr id="13" name="Connector 12"/>
          <p:cNvCxnSpPr/>
          <p:nvPr/>
        </p:nvCxnSpPr>
        <p:spPr>
          <a:xfrm>
            <a:off x="3904487" y="2697480"/>
            <a:ext cx="502921" cy="0"/>
          </a:xfrm>
          <a:prstGeom prst="line">
            <a:avLst/>
          </a:prstGeom>
          <a:ln w="2857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516368" y="2697480"/>
            <a:ext cx="502920" cy="0"/>
          </a:xfrm>
          <a:prstGeom prst="line">
            <a:avLst/>
          </a:prstGeom>
          <a:ln w="2857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1248" y="4114800"/>
            <a:ext cx="6766560" cy="457200"/>
          </a:xfrm>
          <a:prstGeom prst="rect">
            <a:avLst/>
          </a:prstGeom>
          <a:noFill/>
        </p:spPr>
        <p:txBody>
          <a:bodyPr wrap="square" lIns="0" rIns="0" tIns="0" bIns="0" anchor="t">
            <a:spAutoFit/>
          </a:bodyPr>
          <a:lstStyle/>
          <a:p>
            <a:pPr algn="l">
              <a:spcAft>
                <a:spcPts val="600"/>
              </a:spcAft>
            </a:pPr>
            <a:r>
              <a:rPr sz="1500" b="1" i="0">
                <a:solidFill>
                  <a:srgbClr val="0366FF"/>
                </a:solidFill>
                <a:latin typeface="Poppins"/>
              </a:rPr>
              <a:t>① Request  </a:t>
            </a:r>
            <a:r>
              <a:rPr sz="1500" b="0" i="0">
                <a:solidFill>
                  <a:srgbClr val="1B2433"/>
                </a:solidFill>
                <a:latin typeface="Poppins"/>
              </a:rPr>
              <a:t>“Book Dr. Sara, 5 pm”  (HTTP)</a:t>
            </a:r>
          </a:p>
        </p:txBody>
      </p:sp>
      <p:sp>
        <p:nvSpPr>
          <p:cNvPr id="16" name="TextBox 15"/>
          <p:cNvSpPr txBox="1"/>
          <p:nvPr/>
        </p:nvSpPr>
        <p:spPr>
          <a:xfrm>
            <a:off x="841248" y="4617720"/>
            <a:ext cx="6766560" cy="457200"/>
          </a:xfrm>
          <a:prstGeom prst="rect">
            <a:avLst/>
          </a:prstGeom>
          <a:noFill/>
        </p:spPr>
        <p:txBody>
          <a:bodyPr wrap="square" lIns="0" rIns="0" tIns="0" bIns="0" anchor="t">
            <a:spAutoFit/>
          </a:bodyPr>
          <a:lstStyle/>
          <a:p>
            <a:pPr algn="l">
              <a:spcAft>
                <a:spcPts val="600"/>
              </a:spcAft>
            </a:pPr>
            <a:r>
              <a:rPr sz="1500" b="1" i="0">
                <a:solidFill>
                  <a:srgbClr val="8C4FF4"/>
                </a:solidFill>
                <a:latin typeface="Poppins"/>
              </a:rPr>
              <a:t>② Save  </a:t>
            </a:r>
            <a:r>
              <a:rPr sz="1500" b="0" i="0">
                <a:solidFill>
                  <a:srgbClr val="1B2433"/>
                </a:solidFill>
                <a:latin typeface="Poppins"/>
              </a:rPr>
              <a:t>INSERT INTO bookings …  (SQL)</a:t>
            </a:r>
          </a:p>
        </p:txBody>
      </p:sp>
      <p:sp>
        <p:nvSpPr>
          <p:cNvPr id="17" name="TextBox 16"/>
          <p:cNvSpPr txBox="1"/>
          <p:nvPr/>
        </p:nvSpPr>
        <p:spPr>
          <a:xfrm>
            <a:off x="841248" y="5074920"/>
            <a:ext cx="6766560" cy="457200"/>
          </a:xfrm>
          <a:prstGeom prst="rect">
            <a:avLst/>
          </a:prstGeom>
          <a:noFill/>
        </p:spPr>
        <p:txBody>
          <a:bodyPr wrap="square" lIns="0" rIns="0" tIns="0" bIns="0" anchor="t">
            <a:spAutoFit/>
          </a:bodyPr>
          <a:lstStyle/>
          <a:p>
            <a:pPr algn="l">
              <a:spcAft>
                <a:spcPts val="600"/>
              </a:spcAft>
            </a:pPr>
            <a:r>
              <a:rPr sz="1500" b="1" i="0">
                <a:solidFill>
                  <a:srgbClr val="0366FF"/>
                </a:solidFill>
                <a:latin typeface="Poppins"/>
              </a:rPr>
              <a:t>③ Response  </a:t>
            </a:r>
            <a:r>
              <a:rPr sz="1500" b="0" i="0">
                <a:solidFill>
                  <a:srgbClr val="1B2433"/>
                </a:solidFill>
                <a:latin typeface="Poppins"/>
              </a:rPr>
              <a:t>“Booked: confirmation #1042”  (JSON)</a:t>
            </a:r>
          </a:p>
        </p:txBody>
      </p:sp>
      <p:sp>
        <p:nvSpPr>
          <p:cNvPr id="18" name="You build"/>
          <p:cNvSpPr/>
          <p:nvPr/>
        </p:nvSpPr>
        <p:spPr>
          <a:xfrm>
            <a:off x="8065008" y="4114800"/>
            <a:ext cx="3017520" cy="141732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47888" y="4114800"/>
            <a:ext cx="2697480" cy="1417320"/>
          </a:xfrm>
          <a:prstGeom prst="rect">
            <a:avLst/>
          </a:prstGeom>
          <a:noFill/>
        </p:spPr>
        <p:txBody>
          <a:bodyPr wrap="square" lIns="0" rIns="0" tIns="0" bIns="0" anchor="ctr">
            <a:spAutoFit/>
          </a:bodyPr>
          <a:lstStyle/>
          <a:p>
            <a:pPr algn="l">
              <a:spcAft>
                <a:spcPts val="600"/>
              </a:spcAft>
            </a:pPr>
            <a:r>
              <a:rPr sz="1500" b="1" i="0">
                <a:solidFill>
                  <a:srgbClr val="0E2841"/>
                </a:solidFill>
                <a:latin typeface="Poppins"/>
              </a:rPr>
              <a:t>You will build the backend. </a:t>
            </a:r>
            <a:r>
              <a:rPr sz="1500" b="0" i="0">
                <a:solidFill>
                  <a:srgbClr val="1B2433"/>
                </a:solidFill>
                <a:latin typeface="Poppins"/>
              </a:rPr>
              <a:t>Weeks 5-8.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What a backend developer does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Builds APIs"/>
          <p:cNvSpPr/>
          <p:nvPr/>
        </p:nvSpPr>
        <p:spPr>
          <a:xfrm>
            <a:off x="841248" y="1554480"/>
            <a:ext cx="2423160" cy="32918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55648"/>
            <a:ext cx="2020824" cy="457200"/>
          </a:xfrm>
          <a:prstGeom prst="rect">
            <a:avLst/>
          </a:prstGeom>
          <a:noFill/>
        </p:spPr>
        <p:txBody>
          <a:bodyPr wrap="square" lIns="0" rIns="0" tIns="0" bIns="0" anchor="t">
            <a:spAutoFit/>
          </a:bodyPr>
          <a:lstStyle/>
          <a:p>
            <a:pPr algn="l">
              <a:spcAft>
                <a:spcPts val="600"/>
              </a:spcAft>
            </a:pPr>
            <a:r>
              <a:rPr sz="1800" b="1" i="0">
                <a:solidFill>
                  <a:srgbClr val="0366FF"/>
                </a:solidFill>
                <a:latin typeface="Poppins"/>
              </a:rPr>
              <a:t>Builds APIs</a:t>
            </a:r>
          </a:p>
        </p:txBody>
      </p:sp>
      <p:sp>
        <p:nvSpPr>
          <p:cNvPr id="6" name="TextBox 5"/>
          <p:cNvSpPr txBox="1"/>
          <p:nvPr/>
        </p:nvSpPr>
        <p:spPr>
          <a:xfrm>
            <a:off x="1042416" y="2212848"/>
            <a:ext cx="2020824" cy="243230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Endpoints the app calls: “create booking”, “list doctors”.</a:t>
            </a:r>
          </a:p>
        </p:txBody>
      </p:sp>
      <p:sp>
        <p:nvSpPr>
          <p:cNvPr id="7" name="TextBox 6"/>
          <p:cNvSpPr txBox="1"/>
          <p:nvPr/>
        </p:nvSpPr>
        <p:spPr>
          <a:xfrm>
            <a:off x="1042416" y="4343400"/>
            <a:ext cx="2011680" cy="365760"/>
          </a:xfrm>
          <a:prstGeom prst="rect">
            <a:avLst/>
          </a:prstGeom>
          <a:noFill/>
        </p:spPr>
        <p:txBody>
          <a:bodyPr wrap="square" lIns="0" rIns="0" tIns="0" bIns="0" anchor="t">
            <a:spAutoFit/>
          </a:bodyPr>
          <a:lstStyle/>
          <a:p>
            <a:pPr algn="l">
              <a:spcAft>
                <a:spcPts val="600"/>
              </a:spcAft>
            </a:pPr>
            <a:r>
              <a:rPr sz="1300" b="1" i="0">
                <a:solidFill>
                  <a:srgbClr val="5B6475"/>
                </a:solidFill>
                <a:latin typeface="Poppins"/>
              </a:rPr>
              <a:t>Week 5</a:t>
            </a:r>
          </a:p>
        </p:txBody>
      </p:sp>
      <p:sp>
        <p:nvSpPr>
          <p:cNvPr id="8" name="Card Stores data"/>
          <p:cNvSpPr/>
          <p:nvPr/>
        </p:nvSpPr>
        <p:spPr>
          <a:xfrm>
            <a:off x="3447288" y="1554480"/>
            <a:ext cx="2423160" cy="329184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48456" y="1755648"/>
            <a:ext cx="2020824"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Stores data</a:t>
            </a:r>
          </a:p>
        </p:txBody>
      </p:sp>
      <p:sp>
        <p:nvSpPr>
          <p:cNvPr id="10" name="TextBox 9"/>
          <p:cNvSpPr txBox="1"/>
          <p:nvPr/>
        </p:nvSpPr>
        <p:spPr>
          <a:xfrm>
            <a:off x="3648456" y="2212848"/>
            <a:ext cx="2020824" cy="243230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Tables, queries, and keeping data correct.</a:t>
            </a:r>
          </a:p>
        </p:txBody>
      </p:sp>
      <p:sp>
        <p:nvSpPr>
          <p:cNvPr id="11" name="TextBox 10"/>
          <p:cNvSpPr txBox="1"/>
          <p:nvPr/>
        </p:nvSpPr>
        <p:spPr>
          <a:xfrm>
            <a:off x="3648456" y="4343400"/>
            <a:ext cx="2011680" cy="365760"/>
          </a:xfrm>
          <a:prstGeom prst="rect">
            <a:avLst/>
          </a:prstGeom>
          <a:noFill/>
        </p:spPr>
        <p:txBody>
          <a:bodyPr wrap="square" lIns="0" rIns="0" tIns="0" bIns="0" anchor="t">
            <a:spAutoFit/>
          </a:bodyPr>
          <a:lstStyle/>
          <a:p>
            <a:pPr algn="l">
              <a:spcAft>
                <a:spcPts val="600"/>
              </a:spcAft>
            </a:pPr>
            <a:r>
              <a:rPr sz="1300" b="1" i="0">
                <a:solidFill>
                  <a:srgbClr val="5B6475"/>
                </a:solidFill>
                <a:latin typeface="Poppins"/>
              </a:rPr>
              <a:t>Week 4, 6</a:t>
            </a:r>
          </a:p>
        </p:txBody>
      </p:sp>
      <p:sp>
        <p:nvSpPr>
          <p:cNvPr id="12" name="Card Applies rules"/>
          <p:cNvSpPr/>
          <p:nvPr/>
        </p:nvSpPr>
        <p:spPr>
          <a:xfrm>
            <a:off x="6053328" y="1554480"/>
            <a:ext cx="2423160" cy="329184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54496" y="1755648"/>
            <a:ext cx="2020824" cy="457200"/>
          </a:xfrm>
          <a:prstGeom prst="rect">
            <a:avLst/>
          </a:prstGeom>
          <a:noFill/>
        </p:spPr>
        <p:txBody>
          <a:bodyPr wrap="square" lIns="0" rIns="0" tIns="0" bIns="0" anchor="t">
            <a:spAutoFit/>
          </a:bodyPr>
          <a:lstStyle/>
          <a:p>
            <a:pPr algn="l">
              <a:spcAft>
                <a:spcPts val="600"/>
              </a:spcAft>
            </a:pPr>
            <a:r>
              <a:rPr sz="1800" b="1" i="0">
                <a:solidFill>
                  <a:srgbClr val="0366FF"/>
                </a:solidFill>
                <a:latin typeface="Poppins"/>
              </a:rPr>
              <a:t>Applies rules</a:t>
            </a:r>
          </a:p>
        </p:txBody>
      </p:sp>
      <p:sp>
        <p:nvSpPr>
          <p:cNvPr id="14" name="TextBox 13"/>
          <p:cNvSpPr txBox="1"/>
          <p:nvPr/>
        </p:nvSpPr>
        <p:spPr>
          <a:xfrm>
            <a:off x="6254496" y="2212848"/>
            <a:ext cx="2020824" cy="243230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“No double booking”, “refund within 24 h”.</a:t>
            </a:r>
          </a:p>
        </p:txBody>
      </p:sp>
      <p:sp>
        <p:nvSpPr>
          <p:cNvPr id="15" name="TextBox 14"/>
          <p:cNvSpPr txBox="1"/>
          <p:nvPr/>
        </p:nvSpPr>
        <p:spPr>
          <a:xfrm>
            <a:off x="6254496" y="4343400"/>
            <a:ext cx="2011680" cy="365760"/>
          </a:xfrm>
          <a:prstGeom prst="rect">
            <a:avLst/>
          </a:prstGeom>
          <a:noFill/>
        </p:spPr>
        <p:txBody>
          <a:bodyPr wrap="square" lIns="0" rIns="0" tIns="0" bIns="0" anchor="t">
            <a:spAutoFit/>
          </a:bodyPr>
          <a:lstStyle/>
          <a:p>
            <a:pPr algn="l">
              <a:spcAft>
                <a:spcPts val="600"/>
              </a:spcAft>
            </a:pPr>
            <a:r>
              <a:rPr sz="1300" b="1" i="0">
                <a:solidFill>
                  <a:srgbClr val="5B6475"/>
                </a:solidFill>
                <a:latin typeface="Poppins"/>
              </a:rPr>
              <a:t>Weeks 1-6</a:t>
            </a:r>
          </a:p>
        </p:txBody>
      </p:sp>
      <p:sp>
        <p:nvSpPr>
          <p:cNvPr id="16" name="Card Secures, tests"/>
          <p:cNvSpPr/>
          <p:nvPr/>
        </p:nvSpPr>
        <p:spPr>
          <a:xfrm>
            <a:off x="8659368" y="1554480"/>
            <a:ext cx="2423160" cy="32918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0536" y="1755648"/>
            <a:ext cx="2020824"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Secures, tests</a:t>
            </a:r>
          </a:p>
        </p:txBody>
      </p:sp>
      <p:sp>
        <p:nvSpPr>
          <p:cNvPr id="18" name="TextBox 17"/>
          <p:cNvSpPr txBox="1"/>
          <p:nvPr/>
        </p:nvSpPr>
        <p:spPr>
          <a:xfrm>
            <a:off x="8860536" y="2212848"/>
            <a:ext cx="2020824" cy="243230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Logins, roles, and automated tests.</a:t>
            </a:r>
          </a:p>
        </p:txBody>
      </p:sp>
      <p:sp>
        <p:nvSpPr>
          <p:cNvPr id="19" name="TextBox 18"/>
          <p:cNvSpPr txBox="1"/>
          <p:nvPr/>
        </p:nvSpPr>
        <p:spPr>
          <a:xfrm>
            <a:off x="8860536" y="4343400"/>
            <a:ext cx="2011680" cy="365760"/>
          </a:xfrm>
          <a:prstGeom prst="rect">
            <a:avLst/>
          </a:prstGeom>
          <a:noFill/>
        </p:spPr>
        <p:txBody>
          <a:bodyPr wrap="square" lIns="0" rIns="0" tIns="0" bIns="0" anchor="t">
            <a:spAutoFit/>
          </a:bodyPr>
          <a:lstStyle/>
          <a:p>
            <a:pPr algn="l">
              <a:spcAft>
                <a:spcPts val="600"/>
              </a:spcAft>
            </a:pPr>
            <a:r>
              <a:rPr sz="1300" b="1" i="0">
                <a:solidFill>
                  <a:srgbClr val="5B6475"/>
                </a:solidFill>
                <a:latin typeface="Poppins"/>
              </a:rPr>
              <a:t>Week 7</a:t>
            </a:r>
          </a:p>
        </p:txBody>
      </p:sp>
      <p:sp>
        <p:nvSpPr>
          <p:cNvPr id="20" name="TextBox 19"/>
          <p:cNvSpPr txBox="1"/>
          <p:nvPr/>
        </p:nvSpPr>
        <p:spPr>
          <a:xfrm>
            <a:off x="841248" y="5166360"/>
            <a:ext cx="10241280" cy="73152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Employers in Egypt and the Gulf hire juniors for exactly these four skills, plus Git and SQL.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Your 8-week journey</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Week 1"/>
          <p:cNvSpPr/>
          <p:nvPr/>
        </p:nvSpPr>
        <p:spPr>
          <a:xfrm>
            <a:off x="841248" y="1554480"/>
            <a:ext cx="2423160" cy="1828800"/>
          </a:xfrm>
          <a:prstGeom prst="roundRect">
            <a:avLst>
              <a:gd name="adj" fmla="val 12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1737360"/>
            <a:ext cx="2011680" cy="457200"/>
          </a:xfrm>
          <a:prstGeom prst="rect">
            <a:avLst/>
          </a:prstGeom>
          <a:noFill/>
        </p:spPr>
        <p:txBody>
          <a:bodyPr wrap="square" lIns="0" rIns="0" tIns="0" bIns="0" anchor="t">
            <a:spAutoFit/>
          </a:bodyPr>
          <a:lstStyle/>
          <a:p>
            <a:pPr algn="l">
              <a:spcAft>
                <a:spcPts val="600"/>
              </a:spcAft>
            </a:pPr>
            <a:r>
              <a:rPr sz="1500" b="1" i="0">
                <a:solidFill>
                  <a:srgbClr val="FFFFFF"/>
                </a:solidFill>
                <a:latin typeface="Poppins"/>
              </a:rPr>
              <a:t>Week 1</a:t>
            </a:r>
          </a:p>
        </p:txBody>
      </p:sp>
      <p:sp>
        <p:nvSpPr>
          <p:cNvPr id="6" name="TextBox 5"/>
          <p:cNvSpPr txBox="1"/>
          <p:nvPr/>
        </p:nvSpPr>
        <p:spPr>
          <a:xfrm>
            <a:off x="1069848" y="2240280"/>
            <a:ext cx="2011680" cy="1005840"/>
          </a:xfrm>
          <a:prstGeom prst="rect">
            <a:avLst/>
          </a:prstGeom>
          <a:noFill/>
        </p:spPr>
        <p:txBody>
          <a:bodyPr wrap="square" lIns="0" rIns="0" tIns="0" bIns="0" anchor="t">
            <a:spAutoFit/>
          </a:bodyPr>
          <a:lstStyle/>
          <a:p>
            <a:pPr algn="l">
              <a:spcAft>
                <a:spcPts val="600"/>
              </a:spcAft>
            </a:pPr>
            <a:r>
              <a:rPr sz="1700" b="1" i="0">
                <a:solidFill>
                  <a:srgbClr val="FFFFFF"/>
                </a:solidFill>
                <a:latin typeface="Poppins"/>
              </a:rPr>
              <a:t>First programs</a:t>
            </a:r>
          </a:p>
        </p:txBody>
      </p:sp>
      <p:sp>
        <p:nvSpPr>
          <p:cNvPr id="7" name="Week 2"/>
          <p:cNvSpPr/>
          <p:nvPr/>
        </p:nvSpPr>
        <p:spPr>
          <a:xfrm>
            <a:off x="3447288" y="1554480"/>
            <a:ext cx="2423160" cy="1828800"/>
          </a:xfrm>
          <a:prstGeom prst="roundRect">
            <a:avLst>
              <a:gd name="adj" fmla="val 12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75887" y="1737360"/>
            <a:ext cx="2011680" cy="457200"/>
          </a:xfrm>
          <a:prstGeom prst="rect">
            <a:avLst/>
          </a:prstGeom>
          <a:noFill/>
        </p:spPr>
        <p:txBody>
          <a:bodyPr wrap="square" lIns="0" rIns="0" tIns="0" bIns="0" anchor="t">
            <a:spAutoFit/>
          </a:bodyPr>
          <a:lstStyle/>
          <a:p>
            <a:pPr algn="l">
              <a:spcAft>
                <a:spcPts val="600"/>
              </a:spcAft>
            </a:pPr>
            <a:r>
              <a:rPr sz="1500" b="1" i="0">
                <a:solidFill>
                  <a:srgbClr val="0366FF"/>
                </a:solidFill>
                <a:latin typeface="Poppins"/>
              </a:rPr>
              <a:t>Week 2</a:t>
            </a:r>
          </a:p>
        </p:txBody>
      </p:sp>
      <p:sp>
        <p:nvSpPr>
          <p:cNvPr id="9" name="TextBox 8"/>
          <p:cNvSpPr txBox="1"/>
          <p:nvPr/>
        </p:nvSpPr>
        <p:spPr>
          <a:xfrm>
            <a:off x="3675887" y="2240280"/>
            <a:ext cx="2011680" cy="1005840"/>
          </a:xfrm>
          <a:prstGeom prst="rect">
            <a:avLst/>
          </a:prstGeom>
          <a:noFill/>
        </p:spPr>
        <p:txBody>
          <a:bodyPr wrap="square" lIns="0" rIns="0" tIns="0" bIns="0" anchor="t">
            <a:spAutoFit/>
          </a:bodyPr>
          <a:lstStyle/>
          <a:p>
            <a:pPr algn="l">
              <a:spcAft>
                <a:spcPts val="600"/>
              </a:spcAft>
            </a:pPr>
            <a:r>
              <a:rPr sz="1700" b="1" i="0">
                <a:solidFill>
                  <a:srgbClr val="1B2433"/>
                </a:solidFill>
                <a:latin typeface="Poppins"/>
              </a:rPr>
              <a:t>Methods, arrays, OOP</a:t>
            </a:r>
          </a:p>
        </p:txBody>
      </p:sp>
      <p:sp>
        <p:nvSpPr>
          <p:cNvPr id="10" name="Week 3"/>
          <p:cNvSpPr/>
          <p:nvPr/>
        </p:nvSpPr>
        <p:spPr>
          <a:xfrm>
            <a:off x="6053328" y="1554480"/>
            <a:ext cx="2423160" cy="1828800"/>
          </a:xfrm>
          <a:prstGeom prst="roundRect">
            <a:avLst>
              <a:gd name="adj" fmla="val 12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81928" y="1737360"/>
            <a:ext cx="2011680" cy="457200"/>
          </a:xfrm>
          <a:prstGeom prst="rect">
            <a:avLst/>
          </a:prstGeom>
          <a:noFill/>
        </p:spPr>
        <p:txBody>
          <a:bodyPr wrap="square" lIns="0" rIns="0" tIns="0" bIns="0" anchor="t">
            <a:spAutoFit/>
          </a:bodyPr>
          <a:lstStyle/>
          <a:p>
            <a:pPr algn="l">
              <a:spcAft>
                <a:spcPts val="600"/>
              </a:spcAft>
            </a:pPr>
            <a:r>
              <a:rPr sz="1500" b="1" i="0">
                <a:solidFill>
                  <a:srgbClr val="0366FF"/>
                </a:solidFill>
                <a:latin typeface="Poppins"/>
              </a:rPr>
              <a:t>Week 3</a:t>
            </a:r>
          </a:p>
        </p:txBody>
      </p:sp>
      <p:sp>
        <p:nvSpPr>
          <p:cNvPr id="12" name="TextBox 11"/>
          <p:cNvSpPr txBox="1"/>
          <p:nvPr/>
        </p:nvSpPr>
        <p:spPr>
          <a:xfrm>
            <a:off x="6281928" y="2240280"/>
            <a:ext cx="2011680" cy="1005840"/>
          </a:xfrm>
          <a:prstGeom prst="rect">
            <a:avLst/>
          </a:prstGeom>
          <a:noFill/>
        </p:spPr>
        <p:txBody>
          <a:bodyPr wrap="square" lIns="0" rIns="0" tIns="0" bIns="0" anchor="t">
            <a:spAutoFit/>
          </a:bodyPr>
          <a:lstStyle/>
          <a:p>
            <a:pPr algn="l">
              <a:spcAft>
                <a:spcPts val="600"/>
              </a:spcAft>
            </a:pPr>
            <a:r>
              <a:rPr sz="1700" b="1" i="0">
                <a:solidFill>
                  <a:srgbClr val="1B2433"/>
                </a:solidFill>
                <a:latin typeface="Poppins"/>
              </a:rPr>
              <a:t>OOP, collections</a:t>
            </a:r>
          </a:p>
        </p:txBody>
      </p:sp>
      <p:sp>
        <p:nvSpPr>
          <p:cNvPr id="13" name="Week 4"/>
          <p:cNvSpPr/>
          <p:nvPr/>
        </p:nvSpPr>
        <p:spPr>
          <a:xfrm>
            <a:off x="8659368" y="1554480"/>
            <a:ext cx="2423160" cy="1828800"/>
          </a:xfrm>
          <a:prstGeom prst="roundRect">
            <a:avLst>
              <a:gd name="adj" fmla="val 12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87968" y="1737360"/>
            <a:ext cx="2011680" cy="457200"/>
          </a:xfrm>
          <a:prstGeom prst="rect">
            <a:avLst/>
          </a:prstGeom>
          <a:noFill/>
        </p:spPr>
        <p:txBody>
          <a:bodyPr wrap="square" lIns="0" rIns="0" tIns="0" bIns="0" anchor="t">
            <a:spAutoFit/>
          </a:bodyPr>
          <a:lstStyle/>
          <a:p>
            <a:pPr algn="l">
              <a:spcAft>
                <a:spcPts val="600"/>
              </a:spcAft>
            </a:pPr>
            <a:r>
              <a:rPr sz="1500" b="1" i="0">
                <a:solidFill>
                  <a:srgbClr val="0366FF"/>
                </a:solidFill>
                <a:latin typeface="Poppins"/>
              </a:rPr>
              <a:t>Week 4</a:t>
            </a:r>
          </a:p>
        </p:txBody>
      </p:sp>
      <p:sp>
        <p:nvSpPr>
          <p:cNvPr id="15" name="TextBox 14"/>
          <p:cNvSpPr txBox="1"/>
          <p:nvPr/>
        </p:nvSpPr>
        <p:spPr>
          <a:xfrm>
            <a:off x="8887968" y="2240280"/>
            <a:ext cx="2011680" cy="1005840"/>
          </a:xfrm>
          <a:prstGeom prst="rect">
            <a:avLst/>
          </a:prstGeom>
          <a:noFill/>
        </p:spPr>
        <p:txBody>
          <a:bodyPr wrap="square" lIns="0" rIns="0" tIns="0" bIns="0" anchor="t">
            <a:spAutoFit/>
          </a:bodyPr>
          <a:lstStyle/>
          <a:p>
            <a:pPr algn="l">
              <a:spcAft>
                <a:spcPts val="600"/>
              </a:spcAft>
            </a:pPr>
            <a:r>
              <a:rPr sz="1700" b="1" i="0">
                <a:solidFill>
                  <a:srgbClr val="1B2433"/>
                </a:solidFill>
                <a:latin typeface="Poppins"/>
              </a:rPr>
              <a:t>Modern Java, SQL</a:t>
            </a:r>
          </a:p>
        </p:txBody>
      </p:sp>
      <p:sp>
        <p:nvSpPr>
          <p:cNvPr id="16" name="Week 5"/>
          <p:cNvSpPr/>
          <p:nvPr/>
        </p:nvSpPr>
        <p:spPr>
          <a:xfrm>
            <a:off x="841248" y="3703320"/>
            <a:ext cx="2423160" cy="1828800"/>
          </a:xfrm>
          <a:prstGeom prst="roundRect">
            <a:avLst>
              <a:gd name="adj" fmla="val 12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9848" y="3886200"/>
            <a:ext cx="2011680" cy="457200"/>
          </a:xfrm>
          <a:prstGeom prst="rect">
            <a:avLst/>
          </a:prstGeom>
          <a:noFill/>
        </p:spPr>
        <p:txBody>
          <a:bodyPr wrap="square" lIns="0" rIns="0" tIns="0" bIns="0" anchor="t">
            <a:spAutoFit/>
          </a:bodyPr>
          <a:lstStyle/>
          <a:p>
            <a:pPr algn="l">
              <a:spcAft>
                <a:spcPts val="600"/>
              </a:spcAft>
            </a:pPr>
            <a:r>
              <a:rPr sz="1500" b="1" i="0">
                <a:solidFill>
                  <a:srgbClr val="8C4FF4"/>
                </a:solidFill>
                <a:latin typeface="Poppins"/>
              </a:rPr>
              <a:t>Week 5</a:t>
            </a:r>
          </a:p>
        </p:txBody>
      </p:sp>
      <p:sp>
        <p:nvSpPr>
          <p:cNvPr id="18" name="TextBox 17"/>
          <p:cNvSpPr txBox="1"/>
          <p:nvPr/>
        </p:nvSpPr>
        <p:spPr>
          <a:xfrm>
            <a:off x="1069848" y="4389120"/>
            <a:ext cx="2011680" cy="1005840"/>
          </a:xfrm>
          <a:prstGeom prst="rect">
            <a:avLst/>
          </a:prstGeom>
          <a:noFill/>
        </p:spPr>
        <p:txBody>
          <a:bodyPr wrap="square" lIns="0" rIns="0" tIns="0" bIns="0" anchor="t">
            <a:spAutoFit/>
          </a:bodyPr>
          <a:lstStyle/>
          <a:p>
            <a:pPr algn="l">
              <a:spcAft>
                <a:spcPts val="600"/>
              </a:spcAft>
            </a:pPr>
            <a:r>
              <a:rPr sz="1700" b="1" i="0">
                <a:solidFill>
                  <a:srgbClr val="1B2433"/>
                </a:solidFill>
                <a:latin typeface="Poppins"/>
              </a:rPr>
              <a:t>Spring Boot REST</a:t>
            </a:r>
          </a:p>
        </p:txBody>
      </p:sp>
      <p:sp>
        <p:nvSpPr>
          <p:cNvPr id="19" name="Week 6"/>
          <p:cNvSpPr/>
          <p:nvPr/>
        </p:nvSpPr>
        <p:spPr>
          <a:xfrm>
            <a:off x="3447288" y="3703320"/>
            <a:ext cx="2423160" cy="1828800"/>
          </a:xfrm>
          <a:prstGeom prst="roundRect">
            <a:avLst>
              <a:gd name="adj" fmla="val 12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675887" y="3886200"/>
            <a:ext cx="2011680" cy="457200"/>
          </a:xfrm>
          <a:prstGeom prst="rect">
            <a:avLst/>
          </a:prstGeom>
          <a:noFill/>
        </p:spPr>
        <p:txBody>
          <a:bodyPr wrap="square" lIns="0" rIns="0" tIns="0" bIns="0" anchor="t">
            <a:spAutoFit/>
          </a:bodyPr>
          <a:lstStyle/>
          <a:p>
            <a:pPr algn="l">
              <a:spcAft>
                <a:spcPts val="600"/>
              </a:spcAft>
            </a:pPr>
            <a:r>
              <a:rPr sz="1500" b="1" i="0">
                <a:solidFill>
                  <a:srgbClr val="8C4FF4"/>
                </a:solidFill>
                <a:latin typeface="Poppins"/>
              </a:rPr>
              <a:t>Week 6</a:t>
            </a:r>
          </a:p>
        </p:txBody>
      </p:sp>
      <p:sp>
        <p:nvSpPr>
          <p:cNvPr id="21" name="TextBox 20"/>
          <p:cNvSpPr txBox="1"/>
          <p:nvPr/>
        </p:nvSpPr>
        <p:spPr>
          <a:xfrm>
            <a:off x="3675887" y="4389120"/>
            <a:ext cx="2011680" cy="1005840"/>
          </a:xfrm>
          <a:prstGeom prst="rect">
            <a:avLst/>
          </a:prstGeom>
          <a:noFill/>
        </p:spPr>
        <p:txBody>
          <a:bodyPr wrap="square" lIns="0" rIns="0" tIns="0" bIns="0" anchor="t">
            <a:spAutoFit/>
          </a:bodyPr>
          <a:lstStyle/>
          <a:p>
            <a:pPr algn="l">
              <a:spcAft>
                <a:spcPts val="600"/>
              </a:spcAft>
            </a:pPr>
            <a:r>
              <a:rPr sz="1700" b="1" i="0">
                <a:solidFill>
                  <a:srgbClr val="1B2433"/>
                </a:solidFill>
                <a:latin typeface="Poppins"/>
              </a:rPr>
              <a:t>Databases, Docker</a:t>
            </a:r>
          </a:p>
        </p:txBody>
      </p:sp>
      <p:sp>
        <p:nvSpPr>
          <p:cNvPr id="22" name="Week 7"/>
          <p:cNvSpPr/>
          <p:nvPr/>
        </p:nvSpPr>
        <p:spPr>
          <a:xfrm>
            <a:off x="6053328" y="3703320"/>
            <a:ext cx="2423160" cy="1828800"/>
          </a:xfrm>
          <a:prstGeom prst="roundRect">
            <a:avLst>
              <a:gd name="adj" fmla="val 12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81928" y="3886200"/>
            <a:ext cx="2011680" cy="457200"/>
          </a:xfrm>
          <a:prstGeom prst="rect">
            <a:avLst/>
          </a:prstGeom>
          <a:noFill/>
        </p:spPr>
        <p:txBody>
          <a:bodyPr wrap="square" lIns="0" rIns="0" tIns="0" bIns="0" anchor="t">
            <a:spAutoFit/>
          </a:bodyPr>
          <a:lstStyle/>
          <a:p>
            <a:pPr algn="l">
              <a:spcAft>
                <a:spcPts val="600"/>
              </a:spcAft>
            </a:pPr>
            <a:r>
              <a:rPr sz="1500" b="1" i="0">
                <a:solidFill>
                  <a:srgbClr val="8C4FF4"/>
                </a:solidFill>
                <a:latin typeface="Poppins"/>
              </a:rPr>
              <a:t>Week 7</a:t>
            </a:r>
          </a:p>
        </p:txBody>
      </p:sp>
      <p:sp>
        <p:nvSpPr>
          <p:cNvPr id="24" name="TextBox 23"/>
          <p:cNvSpPr txBox="1"/>
          <p:nvPr/>
        </p:nvSpPr>
        <p:spPr>
          <a:xfrm>
            <a:off x="6281928" y="4389120"/>
            <a:ext cx="2011680" cy="1005840"/>
          </a:xfrm>
          <a:prstGeom prst="rect">
            <a:avLst/>
          </a:prstGeom>
          <a:noFill/>
        </p:spPr>
        <p:txBody>
          <a:bodyPr wrap="square" lIns="0" rIns="0" tIns="0" bIns="0" anchor="t">
            <a:spAutoFit/>
          </a:bodyPr>
          <a:lstStyle/>
          <a:p>
            <a:pPr algn="l">
              <a:spcAft>
                <a:spcPts val="600"/>
              </a:spcAft>
            </a:pPr>
            <a:r>
              <a:rPr sz="1700" b="1" i="0">
                <a:solidFill>
                  <a:srgbClr val="1B2433"/>
                </a:solidFill>
                <a:latin typeface="Poppins"/>
              </a:rPr>
              <a:t>Security, testing</a:t>
            </a:r>
          </a:p>
        </p:txBody>
      </p:sp>
      <p:sp>
        <p:nvSpPr>
          <p:cNvPr id="25" name="Week 8"/>
          <p:cNvSpPr/>
          <p:nvPr/>
        </p:nvSpPr>
        <p:spPr>
          <a:xfrm>
            <a:off x="8659368" y="3703320"/>
            <a:ext cx="2423160" cy="1828800"/>
          </a:xfrm>
          <a:prstGeom prst="roundRect">
            <a:avLst>
              <a:gd name="adj" fmla="val 12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87968" y="3886200"/>
            <a:ext cx="2011680" cy="457200"/>
          </a:xfrm>
          <a:prstGeom prst="rect">
            <a:avLst/>
          </a:prstGeom>
          <a:noFill/>
        </p:spPr>
        <p:txBody>
          <a:bodyPr wrap="square" lIns="0" rIns="0" tIns="0" bIns="0" anchor="t">
            <a:spAutoFit/>
          </a:bodyPr>
          <a:lstStyle/>
          <a:p>
            <a:pPr algn="l">
              <a:spcAft>
                <a:spcPts val="600"/>
              </a:spcAft>
            </a:pPr>
            <a:r>
              <a:rPr sz="1500" b="1" i="0">
                <a:solidFill>
                  <a:srgbClr val="8C4FF4"/>
                </a:solidFill>
                <a:latin typeface="Poppins"/>
              </a:rPr>
              <a:t>Week 8</a:t>
            </a:r>
          </a:p>
        </p:txBody>
      </p:sp>
      <p:sp>
        <p:nvSpPr>
          <p:cNvPr id="27" name="TextBox 26"/>
          <p:cNvSpPr txBox="1"/>
          <p:nvPr/>
        </p:nvSpPr>
        <p:spPr>
          <a:xfrm>
            <a:off x="8887968" y="4389120"/>
            <a:ext cx="2011680" cy="1005840"/>
          </a:xfrm>
          <a:prstGeom prst="rect">
            <a:avLst/>
          </a:prstGeom>
          <a:noFill/>
        </p:spPr>
        <p:txBody>
          <a:bodyPr wrap="square" lIns="0" rIns="0" tIns="0" bIns="0" anchor="t">
            <a:spAutoFit/>
          </a:bodyPr>
          <a:lstStyle/>
          <a:p>
            <a:pPr algn="l">
              <a:spcAft>
                <a:spcPts val="600"/>
              </a:spcAft>
            </a:pPr>
            <a:r>
              <a:rPr sz="1700" b="1" i="0">
                <a:solidFill>
                  <a:srgbClr val="1B2433"/>
                </a:solidFill>
                <a:latin typeface="Poppins"/>
              </a:rPr>
              <a:t>Cache, events, deploy</a:t>
            </a:r>
          </a:p>
        </p:txBody>
      </p:sp>
      <p:sp>
        <p:nvSpPr>
          <p:cNvPr id="28" name="TextBox 27"/>
          <p:cNvSpPr txBox="1"/>
          <p:nvPr/>
        </p:nvSpPr>
        <p:spPr>
          <a:xfrm>
            <a:off x="841248" y="5852160"/>
            <a:ext cx="10241280" cy="36576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You are here: Week 1.  Java foundations (weeks 1-4) → real backends (weeks 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How we work every day</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ay Stand-up"/>
          <p:cNvSpPr/>
          <p:nvPr/>
        </p:nvSpPr>
        <p:spPr>
          <a:xfrm>
            <a:off x="841248" y="1600200"/>
            <a:ext cx="1572768" cy="1463040"/>
          </a:xfrm>
          <a:prstGeom prst="roundRect">
            <a:avLst>
              <a:gd name="adj" fmla="val 14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783080"/>
            <a:ext cx="1572768" cy="411480"/>
          </a:xfrm>
          <a:prstGeom prst="rect">
            <a:avLst/>
          </a:prstGeom>
          <a:noFill/>
        </p:spPr>
        <p:txBody>
          <a:bodyPr wrap="square" lIns="0" rIns="0" tIns="0" bIns="0" anchor="t">
            <a:spAutoFit/>
          </a:bodyPr>
          <a:lstStyle/>
          <a:p>
            <a:pPr algn="ctr">
              <a:spcAft>
                <a:spcPts val="600"/>
              </a:spcAft>
            </a:pPr>
            <a:r>
              <a:rPr sz="1600" b="1" i="0">
                <a:solidFill>
                  <a:srgbClr val="0366FF"/>
                </a:solidFill>
                <a:latin typeface="Poppins"/>
              </a:rPr>
              <a:t>9:00</a:t>
            </a:r>
          </a:p>
        </p:txBody>
      </p:sp>
      <p:sp>
        <p:nvSpPr>
          <p:cNvPr id="6" name="TextBox 5"/>
          <p:cNvSpPr txBox="1"/>
          <p:nvPr/>
        </p:nvSpPr>
        <p:spPr>
          <a:xfrm>
            <a:off x="932688" y="2240280"/>
            <a:ext cx="1389888" cy="73152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Stand-up</a:t>
            </a:r>
          </a:p>
        </p:txBody>
      </p:sp>
      <p:sp>
        <p:nvSpPr>
          <p:cNvPr id="7" name="Day Study"/>
          <p:cNvSpPr/>
          <p:nvPr/>
        </p:nvSpPr>
        <p:spPr>
          <a:xfrm>
            <a:off x="2560320" y="1600200"/>
            <a:ext cx="1572768" cy="1463040"/>
          </a:xfrm>
          <a:prstGeom prst="roundRect">
            <a:avLst>
              <a:gd name="adj" fmla="val 14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60320" y="1783080"/>
            <a:ext cx="1572768" cy="411480"/>
          </a:xfrm>
          <a:prstGeom prst="rect">
            <a:avLst/>
          </a:prstGeom>
          <a:noFill/>
        </p:spPr>
        <p:txBody>
          <a:bodyPr wrap="square" lIns="0" rIns="0" tIns="0" bIns="0" anchor="t">
            <a:spAutoFit/>
          </a:bodyPr>
          <a:lstStyle/>
          <a:p>
            <a:pPr algn="ctr">
              <a:spcAft>
                <a:spcPts val="600"/>
              </a:spcAft>
            </a:pPr>
            <a:r>
              <a:rPr sz="1600" b="1" i="0">
                <a:solidFill>
                  <a:srgbClr val="8C4FF4"/>
                </a:solidFill>
                <a:latin typeface="Poppins"/>
              </a:rPr>
              <a:t>9:15</a:t>
            </a:r>
          </a:p>
        </p:txBody>
      </p:sp>
      <p:sp>
        <p:nvSpPr>
          <p:cNvPr id="9" name="TextBox 8"/>
          <p:cNvSpPr txBox="1"/>
          <p:nvPr/>
        </p:nvSpPr>
        <p:spPr>
          <a:xfrm>
            <a:off x="2651760" y="2240280"/>
            <a:ext cx="1389888" cy="73152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Study</a:t>
            </a:r>
          </a:p>
        </p:txBody>
      </p:sp>
      <p:sp>
        <p:nvSpPr>
          <p:cNvPr id="10" name="Day Problem solving"/>
          <p:cNvSpPr/>
          <p:nvPr/>
        </p:nvSpPr>
        <p:spPr>
          <a:xfrm>
            <a:off x="4279392" y="1600200"/>
            <a:ext cx="1572768" cy="1463040"/>
          </a:xfrm>
          <a:prstGeom prst="roundRect">
            <a:avLst>
              <a:gd name="adj" fmla="val 14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279392" y="1783080"/>
            <a:ext cx="1572768" cy="411480"/>
          </a:xfrm>
          <a:prstGeom prst="rect">
            <a:avLst/>
          </a:prstGeom>
          <a:noFill/>
        </p:spPr>
        <p:txBody>
          <a:bodyPr wrap="square" lIns="0" rIns="0" tIns="0" bIns="0" anchor="t">
            <a:spAutoFit/>
          </a:bodyPr>
          <a:lstStyle/>
          <a:p>
            <a:pPr algn="ctr">
              <a:spcAft>
                <a:spcPts val="600"/>
              </a:spcAft>
            </a:pPr>
            <a:r>
              <a:rPr sz="1600" b="1" i="0">
                <a:solidFill>
                  <a:srgbClr val="0366FF"/>
                </a:solidFill>
                <a:latin typeface="Poppins"/>
              </a:rPr>
              <a:t>11:30</a:t>
            </a:r>
          </a:p>
        </p:txBody>
      </p:sp>
      <p:sp>
        <p:nvSpPr>
          <p:cNvPr id="12" name="TextBox 11"/>
          <p:cNvSpPr txBox="1"/>
          <p:nvPr/>
        </p:nvSpPr>
        <p:spPr>
          <a:xfrm>
            <a:off x="4370831" y="2240280"/>
            <a:ext cx="1389888" cy="73152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Problem solving</a:t>
            </a:r>
          </a:p>
        </p:txBody>
      </p:sp>
      <p:sp>
        <p:nvSpPr>
          <p:cNvPr id="13" name="Day Break"/>
          <p:cNvSpPr/>
          <p:nvPr/>
        </p:nvSpPr>
        <p:spPr>
          <a:xfrm>
            <a:off x="5998464" y="1600200"/>
            <a:ext cx="1572768" cy="1463040"/>
          </a:xfrm>
          <a:prstGeom prst="roundRect">
            <a:avLst>
              <a:gd name="adj" fmla="val 14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998464" y="1783080"/>
            <a:ext cx="1572768" cy="411480"/>
          </a:xfrm>
          <a:prstGeom prst="rect">
            <a:avLst/>
          </a:prstGeom>
          <a:noFill/>
        </p:spPr>
        <p:txBody>
          <a:bodyPr wrap="square" lIns="0" rIns="0" tIns="0" bIns="0" anchor="t">
            <a:spAutoFit/>
          </a:bodyPr>
          <a:lstStyle/>
          <a:p>
            <a:pPr algn="ctr">
              <a:spcAft>
                <a:spcPts val="600"/>
              </a:spcAft>
            </a:pPr>
            <a:r>
              <a:rPr sz="1600" b="1" i="0">
                <a:solidFill>
                  <a:srgbClr val="5B6475"/>
                </a:solidFill>
                <a:latin typeface="Poppins"/>
              </a:rPr>
              <a:t>13:00</a:t>
            </a:r>
          </a:p>
        </p:txBody>
      </p:sp>
      <p:sp>
        <p:nvSpPr>
          <p:cNvPr id="15" name="TextBox 14"/>
          <p:cNvSpPr txBox="1"/>
          <p:nvPr/>
        </p:nvSpPr>
        <p:spPr>
          <a:xfrm>
            <a:off x="6089903" y="2240280"/>
            <a:ext cx="1389888" cy="73152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Break</a:t>
            </a:r>
          </a:p>
        </p:txBody>
      </p:sp>
      <p:sp>
        <p:nvSpPr>
          <p:cNvPr id="16" name="Day Build"/>
          <p:cNvSpPr/>
          <p:nvPr/>
        </p:nvSpPr>
        <p:spPr>
          <a:xfrm>
            <a:off x="7717536" y="1600200"/>
            <a:ext cx="1572768" cy="1463040"/>
          </a:xfrm>
          <a:prstGeom prst="roundRect">
            <a:avLst>
              <a:gd name="adj" fmla="val 14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17536" y="1783080"/>
            <a:ext cx="1572768" cy="411480"/>
          </a:xfrm>
          <a:prstGeom prst="rect">
            <a:avLst/>
          </a:prstGeom>
          <a:noFill/>
        </p:spPr>
        <p:txBody>
          <a:bodyPr wrap="square" lIns="0" rIns="0" tIns="0" bIns="0" anchor="t">
            <a:spAutoFit/>
          </a:bodyPr>
          <a:lstStyle/>
          <a:p>
            <a:pPr algn="ctr">
              <a:spcAft>
                <a:spcPts val="600"/>
              </a:spcAft>
            </a:pPr>
            <a:r>
              <a:rPr sz="1600" b="1" i="0">
                <a:solidFill>
                  <a:srgbClr val="0366FF"/>
                </a:solidFill>
                <a:latin typeface="Poppins"/>
              </a:rPr>
              <a:t>14:00</a:t>
            </a:r>
          </a:p>
        </p:txBody>
      </p:sp>
      <p:sp>
        <p:nvSpPr>
          <p:cNvPr id="18" name="TextBox 17"/>
          <p:cNvSpPr txBox="1"/>
          <p:nvPr/>
        </p:nvSpPr>
        <p:spPr>
          <a:xfrm>
            <a:off x="7808975" y="2240280"/>
            <a:ext cx="1389888" cy="73152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Build</a:t>
            </a:r>
          </a:p>
        </p:txBody>
      </p:sp>
      <p:sp>
        <p:nvSpPr>
          <p:cNvPr id="19" name="Day Push and log"/>
          <p:cNvSpPr/>
          <p:nvPr/>
        </p:nvSpPr>
        <p:spPr>
          <a:xfrm>
            <a:off x="9436607" y="1600200"/>
            <a:ext cx="1572768" cy="1463040"/>
          </a:xfrm>
          <a:prstGeom prst="roundRect">
            <a:avLst>
              <a:gd name="adj" fmla="val 14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436607" y="1783080"/>
            <a:ext cx="1572768" cy="411480"/>
          </a:xfrm>
          <a:prstGeom prst="rect">
            <a:avLst/>
          </a:prstGeom>
          <a:noFill/>
        </p:spPr>
        <p:txBody>
          <a:bodyPr wrap="square" lIns="0" rIns="0" tIns="0" bIns="0" anchor="t">
            <a:spAutoFit/>
          </a:bodyPr>
          <a:lstStyle/>
          <a:p>
            <a:pPr algn="ctr">
              <a:spcAft>
                <a:spcPts val="600"/>
              </a:spcAft>
            </a:pPr>
            <a:r>
              <a:rPr sz="1600" b="1" i="0">
                <a:solidFill>
                  <a:srgbClr val="8C4FF4"/>
                </a:solidFill>
                <a:latin typeface="Poppins"/>
              </a:rPr>
              <a:t>16:45</a:t>
            </a:r>
          </a:p>
        </p:txBody>
      </p:sp>
      <p:sp>
        <p:nvSpPr>
          <p:cNvPr id="21" name="TextBox 20"/>
          <p:cNvSpPr txBox="1"/>
          <p:nvPr/>
        </p:nvSpPr>
        <p:spPr>
          <a:xfrm>
            <a:off x="9528047" y="2240280"/>
            <a:ext cx="1389888" cy="731520"/>
          </a:xfrm>
          <a:prstGeom prst="rect">
            <a:avLst/>
          </a:prstGeom>
          <a:noFill/>
        </p:spPr>
        <p:txBody>
          <a:bodyPr wrap="square" lIns="0" rIns="0" tIns="0" bIns="0" anchor="t">
            <a:spAutoFit/>
          </a:bodyPr>
          <a:lstStyle/>
          <a:p>
            <a:pPr algn="ctr">
              <a:spcAft>
                <a:spcPts val="600"/>
              </a:spcAft>
            </a:pPr>
            <a:r>
              <a:rPr sz="1400" b="0" i="0">
                <a:solidFill>
                  <a:srgbClr val="1B2433"/>
                </a:solidFill>
                <a:latin typeface="Poppins"/>
              </a:rPr>
              <a:t>Push and log</a:t>
            </a:r>
          </a:p>
        </p:txBody>
      </p:sp>
      <p:sp>
        <p:nvSpPr>
          <p:cNvPr id="22" name="Card Stuck for 45 min?"/>
          <p:cNvSpPr/>
          <p:nvPr/>
        </p:nvSpPr>
        <p:spPr>
          <a:xfrm>
            <a:off x="841248" y="3474720"/>
            <a:ext cx="3291840" cy="237744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42416" y="3675887"/>
            <a:ext cx="2889504" cy="457200"/>
          </a:xfrm>
          <a:prstGeom prst="rect">
            <a:avLst/>
          </a:prstGeom>
          <a:noFill/>
        </p:spPr>
        <p:txBody>
          <a:bodyPr wrap="square" lIns="0" rIns="0" tIns="0" bIns="0" anchor="t">
            <a:spAutoFit/>
          </a:bodyPr>
          <a:lstStyle/>
          <a:p>
            <a:pPr algn="l">
              <a:spcAft>
                <a:spcPts val="600"/>
              </a:spcAft>
            </a:pPr>
            <a:r>
              <a:rPr sz="1600" b="1" i="0">
                <a:solidFill>
                  <a:srgbClr val="0E2841"/>
                </a:solidFill>
                <a:latin typeface="Poppins"/>
              </a:rPr>
              <a:t>Stuck for 45 min?</a:t>
            </a:r>
          </a:p>
        </p:txBody>
      </p:sp>
      <p:sp>
        <p:nvSpPr>
          <p:cNvPr id="24" name="TextBox 23"/>
          <p:cNvSpPr txBox="1"/>
          <p:nvPr/>
        </p:nvSpPr>
        <p:spPr>
          <a:xfrm>
            <a:off x="1042416" y="4133087"/>
            <a:ext cx="2889504" cy="151790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Ask in the team channel. Asking early is a professional skill.</a:t>
            </a:r>
          </a:p>
        </p:txBody>
      </p:sp>
      <p:sp>
        <p:nvSpPr>
          <p:cNvPr id="25" name="Card Every day"/>
          <p:cNvSpPr/>
          <p:nvPr/>
        </p:nvSpPr>
        <p:spPr>
          <a:xfrm>
            <a:off x="4315968" y="3474720"/>
            <a:ext cx="3291840" cy="23774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17136" y="3675887"/>
            <a:ext cx="2889504" cy="45720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Every day</a:t>
            </a:r>
          </a:p>
        </p:txBody>
      </p:sp>
      <p:sp>
        <p:nvSpPr>
          <p:cNvPr id="27" name="TextBox 26"/>
          <p:cNvSpPr txBox="1"/>
          <p:nvPr/>
        </p:nvSpPr>
        <p:spPr>
          <a:xfrm>
            <a:off x="4517136" y="4133087"/>
            <a:ext cx="2889504" cy="151790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Commit your code and post a 3-line log: done, next, blockers.</a:t>
            </a:r>
          </a:p>
        </p:txBody>
      </p:sp>
      <p:sp>
        <p:nvSpPr>
          <p:cNvPr id="28" name="Card Mon and Wed"/>
          <p:cNvSpPr/>
          <p:nvPr/>
        </p:nvSpPr>
        <p:spPr>
          <a:xfrm>
            <a:off x="7790688" y="3474720"/>
            <a:ext cx="3291840" cy="237744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991856" y="3675887"/>
            <a:ext cx="2889504" cy="457200"/>
          </a:xfrm>
          <a:prstGeom prst="rect">
            <a:avLst/>
          </a:prstGeom>
          <a:noFill/>
        </p:spPr>
        <p:txBody>
          <a:bodyPr wrap="square" lIns="0" rIns="0" tIns="0" bIns="0" anchor="t">
            <a:spAutoFit/>
          </a:bodyPr>
          <a:lstStyle/>
          <a:p>
            <a:pPr algn="l">
              <a:spcAft>
                <a:spcPts val="600"/>
              </a:spcAft>
            </a:pPr>
            <a:r>
              <a:rPr sz="1600" b="1" i="0">
                <a:solidFill>
                  <a:srgbClr val="8C4FF4"/>
                </a:solidFill>
                <a:latin typeface="Poppins"/>
              </a:rPr>
              <a:t>Mon and Wed</a:t>
            </a:r>
          </a:p>
        </p:txBody>
      </p:sp>
      <p:sp>
        <p:nvSpPr>
          <p:cNvPr id="30" name="TextBox 29"/>
          <p:cNvSpPr txBox="1"/>
          <p:nvPr/>
        </p:nvSpPr>
        <p:spPr>
          <a:xfrm>
            <a:off x="7991856" y="4133087"/>
            <a:ext cx="2889504" cy="151790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Live sessions 9:00-13:00, then lab work on the session topic.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Check your tools</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02</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JDK 25, IntelliJ IDEA and Git, working on your laptop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Check your setup</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508760"/>
            <a:ext cx="3200400" cy="457200"/>
          </a:xfrm>
          <a:prstGeom prst="rect">
            <a:avLst/>
          </a:prstGeom>
          <a:noFill/>
        </p:spPr>
        <p:txBody>
          <a:bodyPr wrap="square" lIns="0" rIns="0" tIns="0" bIns="0" anchor="t">
            <a:spAutoFit/>
          </a:bodyPr>
          <a:lstStyle/>
          <a:p>
            <a:pPr algn="l">
              <a:spcAft>
                <a:spcPts val="600"/>
              </a:spcAft>
            </a:pPr>
            <a:r>
              <a:rPr sz="2000" b="1" i="0">
                <a:solidFill>
                  <a:srgbClr val="0366FF"/>
                </a:solidFill>
                <a:latin typeface="Poppins"/>
              </a:rPr>
              <a:t>JDK 25</a:t>
            </a:r>
          </a:p>
        </p:txBody>
      </p:sp>
      <p:sp>
        <p:nvSpPr>
          <p:cNvPr id="5" name="Code"/>
          <p:cNvSpPr/>
          <p:nvPr/>
        </p:nvSpPr>
        <p:spPr>
          <a:xfrm>
            <a:off x="841248" y="2057400"/>
            <a:ext cx="3246120" cy="146304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182880" bIns="137160"/>
          <a:lstStyle/>
          <a:p>
            <a:pPr algn="l">
              <a:lnSpc>
                <a:spcPct val="105000"/>
              </a:lnSpc>
              <a:spcAft>
                <a:spcPts val="0"/>
              </a:spcAft>
            </a:pPr>
            <a:r>
              <a:rPr sz="1500" i="0">
                <a:solidFill>
                  <a:srgbClr val="EEF2FA"/>
                </a:solidFill>
                <a:latin typeface="Consolas"/>
              </a:rPr>
              <a:t>java</a:t>
            </a:r>
            <a:r>
              <a:rPr sz="1500" i="0">
                <a:solidFill>
                  <a:srgbClr val="EEF2FA"/>
                </a:solidFill>
                <a:latin typeface="Consolas"/>
              </a:rPr>
              <a:t> -</a:t>
            </a:r>
            <a:r>
              <a:rPr sz="1500" i="0">
                <a:solidFill>
                  <a:srgbClr val="EEF2FA"/>
                </a:solidFill>
                <a:latin typeface="Consolas"/>
              </a:rPr>
              <a:t>version</a:t>
            </a:r>
          </a:p>
          <a:p>
            <a:pPr algn="l">
              <a:lnSpc>
                <a:spcPct val="105000"/>
              </a:lnSpc>
              <a:spcAft>
                <a:spcPts val="0"/>
              </a:spcAft>
            </a:pPr>
            <a:r>
              <a:rPr sz="1500" i="0">
                <a:solidFill>
                  <a:srgbClr val="EEF2FA"/>
                </a:solidFill>
                <a:latin typeface="Consolas"/>
              </a:rPr>
              <a:t>javac</a:t>
            </a:r>
            <a:r>
              <a:rPr sz="1500" i="0">
                <a:solidFill>
                  <a:srgbClr val="EEF2FA"/>
                </a:solidFill>
                <a:latin typeface="Consolas"/>
              </a:rPr>
              <a:t> -</a:t>
            </a:r>
            <a:r>
              <a:rPr sz="1500" i="0">
                <a:solidFill>
                  <a:srgbClr val="EEF2FA"/>
                </a:solidFill>
                <a:latin typeface="Consolas"/>
              </a:rPr>
              <a:t>version</a:t>
            </a:r>
          </a:p>
        </p:txBody>
      </p:sp>
      <p:sp>
        <p:nvSpPr>
          <p:cNvPr id="6" name="TextBox 5"/>
          <p:cNvSpPr txBox="1"/>
          <p:nvPr/>
        </p:nvSpPr>
        <p:spPr>
          <a:xfrm>
            <a:off x="841248" y="3703320"/>
            <a:ext cx="3200400" cy="365760"/>
          </a:xfrm>
          <a:prstGeom prst="rect">
            <a:avLst/>
          </a:prstGeom>
          <a:noFill/>
        </p:spPr>
        <p:txBody>
          <a:bodyPr wrap="square" lIns="0" rIns="0" tIns="0" bIns="0" anchor="t">
            <a:spAutoFit/>
          </a:bodyPr>
          <a:lstStyle/>
          <a:p>
            <a:pPr algn="l">
              <a:spcAft>
                <a:spcPts val="600"/>
              </a:spcAft>
            </a:pPr>
            <a:r>
              <a:rPr sz="1300" b="1" i="0">
                <a:solidFill>
                  <a:srgbClr val="5B6475"/>
                </a:solidFill>
                <a:latin typeface="Poppins"/>
              </a:rPr>
              <a:t>You should see</a:t>
            </a:r>
          </a:p>
        </p:txBody>
      </p:sp>
      <p:sp>
        <p:nvSpPr>
          <p:cNvPr id="7" name="Expected JDK 25"/>
          <p:cNvSpPr/>
          <p:nvPr/>
        </p:nvSpPr>
        <p:spPr>
          <a:xfrm>
            <a:off x="841248" y="4069080"/>
            <a:ext cx="3246120" cy="8229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69080"/>
            <a:ext cx="2926080" cy="822960"/>
          </a:xfrm>
          <a:prstGeom prst="rect">
            <a:avLst/>
          </a:prstGeom>
          <a:noFill/>
        </p:spPr>
        <p:txBody>
          <a:bodyPr wrap="square" lIns="0" rIns="0" tIns="0" bIns="0" anchor="ctr">
            <a:spAutoFit/>
          </a:bodyPr>
          <a:lstStyle/>
          <a:p>
            <a:pPr algn="l">
              <a:spcAft>
                <a:spcPts val="600"/>
              </a:spcAft>
            </a:pPr>
            <a:r>
              <a:rPr sz="1400" b="0" i="0">
                <a:solidFill>
                  <a:srgbClr val="0E2841"/>
                </a:solidFill>
                <a:latin typeface="Consolas"/>
              </a:rPr>
              <a:t>openjdk version "25…"</a:t>
            </a:r>
          </a:p>
        </p:txBody>
      </p:sp>
      <p:sp>
        <p:nvSpPr>
          <p:cNvPr id="9" name="TextBox 8"/>
          <p:cNvSpPr txBox="1"/>
          <p:nvPr/>
        </p:nvSpPr>
        <p:spPr>
          <a:xfrm>
            <a:off x="4315968" y="1508760"/>
            <a:ext cx="3200400" cy="457200"/>
          </a:xfrm>
          <a:prstGeom prst="rect">
            <a:avLst/>
          </a:prstGeom>
          <a:noFill/>
        </p:spPr>
        <p:txBody>
          <a:bodyPr wrap="square" lIns="0" rIns="0" tIns="0" bIns="0" anchor="t">
            <a:spAutoFit/>
          </a:bodyPr>
          <a:lstStyle/>
          <a:p>
            <a:pPr algn="l">
              <a:spcAft>
                <a:spcPts val="600"/>
              </a:spcAft>
            </a:pPr>
            <a:r>
              <a:rPr sz="2000" b="1" i="0">
                <a:solidFill>
                  <a:srgbClr val="8C4FF4"/>
                </a:solidFill>
                <a:latin typeface="Poppins"/>
              </a:rPr>
              <a:t>IntelliJ IDEA</a:t>
            </a:r>
          </a:p>
        </p:txBody>
      </p:sp>
      <p:sp>
        <p:nvSpPr>
          <p:cNvPr id="10" name="Code"/>
          <p:cNvSpPr/>
          <p:nvPr/>
        </p:nvSpPr>
        <p:spPr>
          <a:xfrm>
            <a:off x="4315968" y="2057400"/>
            <a:ext cx="3246120" cy="146304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182880" bIns="137160"/>
          <a:lstStyle/>
          <a:p>
            <a:pPr algn="l">
              <a:lnSpc>
                <a:spcPct val="105000"/>
              </a:lnSpc>
              <a:spcAft>
                <a:spcPts val="0"/>
              </a:spcAft>
            </a:pPr>
            <a:r>
              <a:rPr sz="1500" i="0">
                <a:solidFill>
                  <a:srgbClr val="EEF2FA"/>
                </a:solidFill>
                <a:latin typeface="Consolas"/>
              </a:rPr>
              <a:t>New</a:t>
            </a:r>
            <a:r>
              <a:rPr sz="1500" i="0">
                <a:solidFill>
                  <a:srgbClr val="EEF2FA"/>
                </a:solidFill>
                <a:latin typeface="Consolas"/>
              </a:rPr>
              <a:t> </a:t>
            </a:r>
            <a:r>
              <a:rPr sz="1500" i="0">
                <a:solidFill>
                  <a:srgbClr val="EEF2FA"/>
                </a:solidFill>
                <a:latin typeface="Consolas"/>
              </a:rPr>
              <a:t>Project</a:t>
            </a:r>
            <a:r>
              <a:rPr sz="1500" i="0">
                <a:solidFill>
                  <a:srgbClr val="EEF2FA"/>
                </a:solidFill>
                <a:latin typeface="Consolas"/>
              </a:rPr>
              <a:t> → </a:t>
            </a:r>
            <a:r>
              <a:rPr sz="1500" i="0">
                <a:solidFill>
                  <a:srgbClr val="EEF2FA"/>
                </a:solidFill>
                <a:latin typeface="Consolas"/>
              </a:rPr>
              <a:t>Java</a:t>
            </a:r>
          </a:p>
          <a:p>
            <a:pPr algn="l">
              <a:lnSpc>
                <a:spcPct val="105000"/>
              </a:lnSpc>
              <a:spcAft>
                <a:spcPts val="0"/>
              </a:spcAft>
            </a:pPr>
            <a:r>
              <a:rPr sz="1500" i="0">
                <a:solidFill>
                  <a:srgbClr val="EEF2FA"/>
                </a:solidFill>
                <a:latin typeface="Consolas"/>
              </a:rPr>
              <a:t>SDK</a:t>
            </a:r>
            <a:r>
              <a:rPr sz="1500" i="0">
                <a:solidFill>
                  <a:srgbClr val="EEF2FA"/>
                </a:solidFill>
                <a:latin typeface="Consolas"/>
              </a:rPr>
              <a:t>: </a:t>
            </a:r>
            <a:r>
              <a:rPr sz="1500" i="0">
                <a:solidFill>
                  <a:srgbClr val="FFD58A"/>
                </a:solidFill>
                <a:latin typeface="Consolas"/>
              </a:rPr>
              <a:t>25</a:t>
            </a:r>
            <a:r>
              <a:rPr sz="1500" i="0">
                <a:solidFill>
                  <a:srgbClr val="EEF2FA"/>
                </a:solidFill>
                <a:latin typeface="Consolas"/>
              </a:rPr>
              <a:t> → </a:t>
            </a:r>
            <a:r>
              <a:rPr sz="1500" i="0">
                <a:solidFill>
                  <a:srgbClr val="EEF2FA"/>
                </a:solidFill>
                <a:latin typeface="Consolas"/>
              </a:rPr>
              <a:t>Create</a:t>
            </a:r>
          </a:p>
        </p:txBody>
      </p:sp>
      <p:sp>
        <p:nvSpPr>
          <p:cNvPr id="11" name="TextBox 10"/>
          <p:cNvSpPr txBox="1"/>
          <p:nvPr/>
        </p:nvSpPr>
        <p:spPr>
          <a:xfrm>
            <a:off x="4315968" y="3703320"/>
            <a:ext cx="3200400" cy="365760"/>
          </a:xfrm>
          <a:prstGeom prst="rect">
            <a:avLst/>
          </a:prstGeom>
          <a:noFill/>
        </p:spPr>
        <p:txBody>
          <a:bodyPr wrap="square" lIns="0" rIns="0" tIns="0" bIns="0" anchor="t">
            <a:spAutoFit/>
          </a:bodyPr>
          <a:lstStyle/>
          <a:p>
            <a:pPr algn="l">
              <a:spcAft>
                <a:spcPts val="600"/>
              </a:spcAft>
            </a:pPr>
            <a:r>
              <a:rPr sz="1300" b="1" i="0">
                <a:solidFill>
                  <a:srgbClr val="5B6475"/>
                </a:solidFill>
                <a:latin typeface="Poppins"/>
              </a:rPr>
              <a:t>You should see</a:t>
            </a:r>
          </a:p>
        </p:txBody>
      </p:sp>
      <p:sp>
        <p:nvSpPr>
          <p:cNvPr id="12" name="Expected IntelliJ IDEA"/>
          <p:cNvSpPr/>
          <p:nvPr/>
        </p:nvSpPr>
        <p:spPr>
          <a:xfrm>
            <a:off x="4315968" y="4069080"/>
            <a:ext cx="3246120" cy="8229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98848" y="4069080"/>
            <a:ext cx="2926080" cy="822960"/>
          </a:xfrm>
          <a:prstGeom prst="rect">
            <a:avLst/>
          </a:prstGeom>
          <a:noFill/>
        </p:spPr>
        <p:txBody>
          <a:bodyPr wrap="square" lIns="0" rIns="0" tIns="0" bIns="0" anchor="ctr">
            <a:spAutoFit/>
          </a:bodyPr>
          <a:lstStyle/>
          <a:p>
            <a:pPr algn="l">
              <a:spcAft>
                <a:spcPts val="600"/>
              </a:spcAft>
            </a:pPr>
            <a:r>
              <a:rPr sz="1400" b="0" i="0">
                <a:solidFill>
                  <a:srgbClr val="0E2841"/>
                </a:solidFill>
                <a:latin typeface="Consolas"/>
              </a:rPr>
              <a:t>A green ▶ Run button</a:t>
            </a:r>
          </a:p>
        </p:txBody>
      </p:sp>
      <p:sp>
        <p:nvSpPr>
          <p:cNvPr id="14" name="TextBox 13"/>
          <p:cNvSpPr txBox="1"/>
          <p:nvPr/>
        </p:nvSpPr>
        <p:spPr>
          <a:xfrm>
            <a:off x="7790688" y="1508760"/>
            <a:ext cx="3200400" cy="457200"/>
          </a:xfrm>
          <a:prstGeom prst="rect">
            <a:avLst/>
          </a:prstGeom>
          <a:noFill/>
        </p:spPr>
        <p:txBody>
          <a:bodyPr wrap="square" lIns="0" rIns="0" tIns="0" bIns="0" anchor="t">
            <a:spAutoFit/>
          </a:bodyPr>
          <a:lstStyle/>
          <a:p>
            <a:pPr algn="l">
              <a:spcAft>
                <a:spcPts val="600"/>
              </a:spcAft>
            </a:pPr>
            <a:r>
              <a:rPr sz="2000" b="1" i="0">
                <a:solidFill>
                  <a:srgbClr val="0366FF"/>
                </a:solidFill>
                <a:latin typeface="Poppins"/>
              </a:rPr>
              <a:t>Git</a:t>
            </a:r>
          </a:p>
        </p:txBody>
      </p:sp>
      <p:sp>
        <p:nvSpPr>
          <p:cNvPr id="15" name="Code"/>
          <p:cNvSpPr/>
          <p:nvPr/>
        </p:nvSpPr>
        <p:spPr>
          <a:xfrm>
            <a:off x="7790688" y="2057400"/>
            <a:ext cx="3246120" cy="146304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182880" bIns="137160"/>
          <a:lstStyle/>
          <a:p>
            <a:pPr algn="l">
              <a:lnSpc>
                <a:spcPct val="105000"/>
              </a:lnSpc>
              <a:spcAft>
                <a:spcPts val="0"/>
              </a:spcAft>
            </a:pPr>
            <a:r>
              <a:rPr sz="1500" i="0">
                <a:solidFill>
                  <a:srgbClr val="EEF2FA"/>
                </a:solidFill>
                <a:latin typeface="Consolas"/>
              </a:rPr>
              <a:t>git</a:t>
            </a:r>
            <a:r>
              <a:rPr sz="1500" i="0">
                <a:solidFill>
                  <a:srgbClr val="EEF2FA"/>
                </a:solidFill>
                <a:latin typeface="Consolas"/>
              </a:rPr>
              <a:t> --</a:t>
            </a:r>
            <a:r>
              <a:rPr sz="1500" i="0">
                <a:solidFill>
                  <a:srgbClr val="EEF2FA"/>
                </a:solidFill>
                <a:latin typeface="Consolas"/>
              </a:rPr>
              <a:t>version</a:t>
            </a:r>
          </a:p>
        </p:txBody>
      </p:sp>
      <p:sp>
        <p:nvSpPr>
          <p:cNvPr id="16" name="TextBox 15"/>
          <p:cNvSpPr txBox="1"/>
          <p:nvPr/>
        </p:nvSpPr>
        <p:spPr>
          <a:xfrm>
            <a:off x="7790688" y="3703320"/>
            <a:ext cx="3200400" cy="365760"/>
          </a:xfrm>
          <a:prstGeom prst="rect">
            <a:avLst/>
          </a:prstGeom>
          <a:noFill/>
        </p:spPr>
        <p:txBody>
          <a:bodyPr wrap="square" lIns="0" rIns="0" tIns="0" bIns="0" anchor="t">
            <a:spAutoFit/>
          </a:bodyPr>
          <a:lstStyle/>
          <a:p>
            <a:pPr algn="l">
              <a:spcAft>
                <a:spcPts val="600"/>
              </a:spcAft>
            </a:pPr>
            <a:r>
              <a:rPr sz="1300" b="1" i="0">
                <a:solidFill>
                  <a:srgbClr val="5B6475"/>
                </a:solidFill>
                <a:latin typeface="Poppins"/>
              </a:rPr>
              <a:t>You should see</a:t>
            </a:r>
          </a:p>
        </p:txBody>
      </p:sp>
      <p:sp>
        <p:nvSpPr>
          <p:cNvPr id="17" name="Expected Git"/>
          <p:cNvSpPr/>
          <p:nvPr/>
        </p:nvSpPr>
        <p:spPr>
          <a:xfrm>
            <a:off x="7790688" y="4069080"/>
            <a:ext cx="3246120" cy="8229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73567" y="4069080"/>
            <a:ext cx="2926080" cy="822960"/>
          </a:xfrm>
          <a:prstGeom prst="rect">
            <a:avLst/>
          </a:prstGeom>
          <a:noFill/>
        </p:spPr>
        <p:txBody>
          <a:bodyPr wrap="square" lIns="0" rIns="0" tIns="0" bIns="0" anchor="ctr">
            <a:spAutoFit/>
          </a:bodyPr>
          <a:lstStyle/>
          <a:p>
            <a:pPr algn="l">
              <a:spcAft>
                <a:spcPts val="600"/>
              </a:spcAft>
            </a:pPr>
            <a:r>
              <a:rPr sz="1400" b="0" i="0">
                <a:solidFill>
                  <a:srgbClr val="0E2841"/>
                </a:solidFill>
                <a:latin typeface="Consolas"/>
              </a:rPr>
              <a:t>git version 2.4x…</a:t>
            </a:r>
          </a:p>
        </p:txBody>
      </p:sp>
      <p:sp>
        <p:nvSpPr>
          <p:cNvPr id="19" name="TextBox 18"/>
          <p:cNvSpPr txBox="1"/>
          <p:nvPr/>
        </p:nvSpPr>
        <p:spPr>
          <a:xfrm>
            <a:off x="841248" y="5166360"/>
            <a:ext cx="10241280" cy="457200"/>
          </a:xfrm>
          <a:prstGeom prst="rect">
            <a:avLst/>
          </a:prstGeom>
          <a:noFill/>
        </p:spPr>
        <p:txBody>
          <a:bodyPr wrap="square" lIns="0" rIns="0" tIns="0" bIns="0" anchor="t">
            <a:spAutoFit/>
          </a:bodyPr>
          <a:lstStyle/>
          <a:p>
            <a:pPr algn="l">
              <a:spcAft>
                <a:spcPts val="600"/>
              </a:spcAft>
            </a:pPr>
            <a:r>
              <a:rPr sz="1500" b="0" i="0">
                <a:solidFill>
                  <a:srgbClr val="5B6475"/>
                </a:solidFill>
                <a:latin typeface="Poppins"/>
              </a:rPr>
              <a:t>Not working? Check PATH and JAVA_HOME, then reopen the terminal. Still stuck: tell me now.</a:t>
            </a:r>
          </a:p>
        </p:txBody>
      </p:sp>
      <p:sp>
        <p:nvSpPr>
          <p:cNvPr id="20" name="TextBox 19"/>
          <p:cNvSpPr txBox="1"/>
          <p:nvPr/>
        </p:nvSpPr>
        <p:spPr>
          <a:xfrm>
            <a:off x="841248" y="5669280"/>
            <a:ext cx="10241280" cy="457200"/>
          </a:xfrm>
          <a:prstGeom prst="rect">
            <a:avLst/>
          </a:prstGeom>
          <a:noFill/>
        </p:spPr>
        <p:txBody>
          <a:bodyPr wrap="square" lIns="0" rIns="0" tIns="0" bIns="0" anchor="t">
            <a:spAutoFit/>
          </a:bodyPr>
          <a:lstStyle/>
          <a:p>
            <a:pPr algn="l">
              <a:spcAft>
                <a:spcPts val="600"/>
              </a:spcAft>
            </a:pPr>
            <a:r>
              <a:rPr sz="1500" b="0" i="0">
                <a:solidFill>
                  <a:srgbClr val="1B2433"/>
                </a:solidFill>
                <a:latin typeface="Poppins"/>
              </a:rPr>
              <a:t>Downloads:  </a:t>
            </a:r>
            <a:r>
              <a:rPr sz="1500" b="0" i="0" u="sng">
                <a:solidFill>
                  <a:srgbClr val="0366FF"/>
                </a:solidFill>
                <a:latin typeface="Poppins"/>
                <a:hlinkClick r:id="rId3">
                  <a:extLst>
                    <a:ext uri="{A12FA001-AC4F-418D-AE19-62706E023703}">
                      <ahyp:hlinkClr xmlns:ahyp="http://schemas.microsoft.com/office/drawing/2018/hyperlinkcolor" val="tx"/>
                    </a:ext>
                  </a:extLst>
                </a:hlinkClick>
              </a:rPr>
              <a:t>Temurin JDK 25</a:t>
            </a:r>
            <a:r>
              <a:rPr sz="1500" b="0" i="0">
                <a:solidFill>
                  <a:srgbClr val="1B2433"/>
                </a:solidFill>
                <a:latin typeface="Poppins"/>
              </a:rPr>
              <a:t>   ·   </a:t>
            </a:r>
            <a:r>
              <a:rPr sz="1500" b="0" i="0" u="sng">
                <a:solidFill>
                  <a:srgbClr val="0366FF"/>
                </a:solidFill>
                <a:latin typeface="Poppins"/>
                <a:hlinkClick r:id="rId4">
                  <a:extLst>
                    <a:ext uri="{A12FA001-AC4F-418D-AE19-62706E023703}">
                      <ahyp:hlinkClr xmlns:ahyp="http://schemas.microsoft.com/office/drawing/2018/hyperlinkcolor" val="tx"/>
                    </a:ext>
                  </a:extLst>
                </a:hlinkClick>
              </a:rPr>
              <a:t>IntelliJ IDEA</a:t>
            </a:r>
            <a:r>
              <a:rPr sz="1500" b="0" i="0">
                <a:solidFill>
                  <a:srgbClr val="1B2433"/>
                </a:solidFill>
                <a:latin typeface="Poppins"/>
              </a:rPr>
              <a:t>   ·   </a:t>
            </a:r>
            <a:r>
              <a:rPr sz="1500" b="0" i="0" u="sng">
                <a:solidFill>
                  <a:srgbClr val="0366FF"/>
                </a:solidFill>
                <a:latin typeface="Poppins"/>
                <a:hlinkClick r:id="rId5">
                  <a:extLst>
                    <a:ext uri="{A12FA001-AC4F-418D-AE19-62706E023703}">
                      <ahyp:hlinkClr xmlns:ahyp="http://schemas.microsoft.com/office/drawing/2018/hyperlinkcolor" val="tx"/>
                    </a:ext>
                  </a:extLst>
                </a:hlinkClick>
              </a:rPr>
              <a:t>Git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IntelliJ in five steps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600200"/>
            <a:ext cx="685800" cy="68580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1</a:t>
            </a:r>
          </a:p>
        </p:txBody>
      </p:sp>
      <p:cxnSp>
        <p:nvCxnSpPr>
          <p:cNvPr id="5" name="Connector 4"/>
          <p:cNvCxnSpPr/>
          <p:nvPr/>
        </p:nvCxnSpPr>
        <p:spPr>
          <a:xfrm>
            <a:off x="1591056" y="1938528"/>
            <a:ext cx="1261872" cy="0"/>
          </a:xfrm>
          <a:prstGeom prst="line">
            <a:avLst/>
          </a:prstGeom>
          <a:ln w="2222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2514600"/>
            <a:ext cx="1920240" cy="457200"/>
          </a:xfrm>
          <a:prstGeom prst="rect">
            <a:avLst/>
          </a:prstGeom>
          <a:noFill/>
        </p:spPr>
        <p:txBody>
          <a:bodyPr wrap="square" lIns="0" rIns="0" tIns="0" bIns="0" anchor="t">
            <a:spAutoFit/>
          </a:bodyPr>
          <a:lstStyle/>
          <a:p>
            <a:pPr algn="l">
              <a:spcAft>
                <a:spcPts val="600"/>
              </a:spcAft>
            </a:pPr>
            <a:r>
              <a:rPr sz="1600" b="1" i="0">
                <a:solidFill>
                  <a:srgbClr val="1B2433"/>
                </a:solidFill>
                <a:latin typeface="Poppins"/>
              </a:rPr>
              <a:t>New Project</a:t>
            </a:r>
          </a:p>
        </p:txBody>
      </p:sp>
      <p:sp>
        <p:nvSpPr>
          <p:cNvPr id="7" name="TextBox 6"/>
          <p:cNvSpPr txBox="1"/>
          <p:nvPr/>
        </p:nvSpPr>
        <p:spPr>
          <a:xfrm>
            <a:off x="841248" y="2971800"/>
            <a:ext cx="1874519" cy="146304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Language: Java. Build system: IntelliJ.</a:t>
            </a:r>
          </a:p>
        </p:txBody>
      </p:sp>
      <p:sp>
        <p:nvSpPr>
          <p:cNvPr id="8" name="Oval 7"/>
          <p:cNvSpPr/>
          <p:nvPr/>
        </p:nvSpPr>
        <p:spPr>
          <a:xfrm>
            <a:off x="2916936" y="1600200"/>
            <a:ext cx="685800" cy="685800"/>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2</a:t>
            </a:r>
          </a:p>
        </p:txBody>
      </p:sp>
      <p:cxnSp>
        <p:nvCxnSpPr>
          <p:cNvPr id="9" name="Connector 8"/>
          <p:cNvCxnSpPr/>
          <p:nvPr/>
        </p:nvCxnSpPr>
        <p:spPr>
          <a:xfrm>
            <a:off x="3666744" y="1938528"/>
            <a:ext cx="1261872" cy="0"/>
          </a:xfrm>
          <a:prstGeom prst="line">
            <a:avLst/>
          </a:prstGeom>
          <a:ln w="2222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916936" y="2514600"/>
            <a:ext cx="1920240" cy="457200"/>
          </a:xfrm>
          <a:prstGeom prst="rect">
            <a:avLst/>
          </a:prstGeom>
          <a:noFill/>
        </p:spPr>
        <p:txBody>
          <a:bodyPr wrap="square" lIns="0" rIns="0" tIns="0" bIns="0" anchor="t">
            <a:spAutoFit/>
          </a:bodyPr>
          <a:lstStyle/>
          <a:p>
            <a:pPr algn="l">
              <a:spcAft>
                <a:spcPts val="600"/>
              </a:spcAft>
            </a:pPr>
            <a:r>
              <a:rPr sz="1600" b="1" i="0">
                <a:solidFill>
                  <a:srgbClr val="1B2433"/>
                </a:solidFill>
                <a:latin typeface="Poppins"/>
              </a:rPr>
              <a:t>Pick JDK 25</a:t>
            </a:r>
          </a:p>
        </p:txBody>
      </p:sp>
      <p:sp>
        <p:nvSpPr>
          <p:cNvPr id="11" name="TextBox 10"/>
          <p:cNvSpPr txBox="1"/>
          <p:nvPr/>
        </p:nvSpPr>
        <p:spPr>
          <a:xfrm>
            <a:off x="2916936" y="2971800"/>
            <a:ext cx="1874519" cy="146304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Choose the JDK you installed.</a:t>
            </a:r>
          </a:p>
        </p:txBody>
      </p:sp>
      <p:sp>
        <p:nvSpPr>
          <p:cNvPr id="12" name="Oval 11"/>
          <p:cNvSpPr/>
          <p:nvPr/>
        </p:nvSpPr>
        <p:spPr>
          <a:xfrm>
            <a:off x="4992624" y="1600200"/>
            <a:ext cx="685800" cy="68580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3</a:t>
            </a:r>
          </a:p>
        </p:txBody>
      </p:sp>
      <p:cxnSp>
        <p:nvCxnSpPr>
          <p:cNvPr id="13" name="Connector 12"/>
          <p:cNvCxnSpPr/>
          <p:nvPr/>
        </p:nvCxnSpPr>
        <p:spPr>
          <a:xfrm>
            <a:off x="5742432" y="1938528"/>
            <a:ext cx="1261872" cy="0"/>
          </a:xfrm>
          <a:prstGeom prst="line">
            <a:avLst/>
          </a:prstGeom>
          <a:ln w="2222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92624" y="2514600"/>
            <a:ext cx="1920240" cy="457200"/>
          </a:xfrm>
          <a:prstGeom prst="rect">
            <a:avLst/>
          </a:prstGeom>
          <a:noFill/>
        </p:spPr>
        <p:txBody>
          <a:bodyPr wrap="square" lIns="0" rIns="0" tIns="0" bIns="0" anchor="t">
            <a:spAutoFit/>
          </a:bodyPr>
          <a:lstStyle/>
          <a:p>
            <a:pPr algn="l">
              <a:spcAft>
                <a:spcPts val="600"/>
              </a:spcAft>
            </a:pPr>
            <a:r>
              <a:rPr sz="1600" b="1" i="0">
                <a:solidFill>
                  <a:srgbClr val="1B2433"/>
                </a:solidFill>
                <a:latin typeface="Poppins"/>
              </a:rPr>
              <a:t>Create a class</a:t>
            </a:r>
          </a:p>
        </p:txBody>
      </p:sp>
      <p:sp>
        <p:nvSpPr>
          <p:cNvPr id="15" name="TextBox 14"/>
          <p:cNvSpPr txBox="1"/>
          <p:nvPr/>
        </p:nvSpPr>
        <p:spPr>
          <a:xfrm>
            <a:off x="4992624" y="2971800"/>
            <a:ext cx="1874519" cy="146304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Right-click src → New → Java Class: Main</a:t>
            </a:r>
          </a:p>
        </p:txBody>
      </p:sp>
      <p:sp>
        <p:nvSpPr>
          <p:cNvPr id="16" name="Oval 15"/>
          <p:cNvSpPr/>
          <p:nvPr/>
        </p:nvSpPr>
        <p:spPr>
          <a:xfrm>
            <a:off x="7068312" y="1600200"/>
            <a:ext cx="685800" cy="685800"/>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4</a:t>
            </a:r>
          </a:p>
        </p:txBody>
      </p:sp>
      <p:cxnSp>
        <p:nvCxnSpPr>
          <p:cNvPr id="17" name="Connector 16"/>
          <p:cNvCxnSpPr/>
          <p:nvPr/>
        </p:nvCxnSpPr>
        <p:spPr>
          <a:xfrm>
            <a:off x="7818120" y="1938528"/>
            <a:ext cx="1261872" cy="0"/>
          </a:xfrm>
          <a:prstGeom prst="line">
            <a:avLst/>
          </a:prstGeom>
          <a:ln w="22225">
            <a:solidFill>
              <a:srgbClr val="8D98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68312" y="2514600"/>
            <a:ext cx="1920240" cy="457200"/>
          </a:xfrm>
          <a:prstGeom prst="rect">
            <a:avLst/>
          </a:prstGeom>
          <a:noFill/>
        </p:spPr>
        <p:txBody>
          <a:bodyPr wrap="square" lIns="0" rIns="0" tIns="0" bIns="0" anchor="t">
            <a:spAutoFit/>
          </a:bodyPr>
          <a:lstStyle/>
          <a:p>
            <a:pPr algn="l">
              <a:spcAft>
                <a:spcPts val="600"/>
              </a:spcAft>
            </a:pPr>
            <a:r>
              <a:rPr sz="1600" b="1" i="0">
                <a:solidFill>
                  <a:srgbClr val="1B2433"/>
                </a:solidFill>
                <a:latin typeface="Poppins"/>
              </a:rPr>
              <a:t>Write code</a:t>
            </a:r>
          </a:p>
        </p:txBody>
      </p:sp>
      <p:sp>
        <p:nvSpPr>
          <p:cNvPr id="19" name="TextBox 18"/>
          <p:cNvSpPr txBox="1"/>
          <p:nvPr/>
        </p:nvSpPr>
        <p:spPr>
          <a:xfrm>
            <a:off x="7068312" y="2971800"/>
            <a:ext cx="1874519" cy="146304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Type main, then Tab for a template.</a:t>
            </a:r>
          </a:p>
        </p:txBody>
      </p:sp>
      <p:sp>
        <p:nvSpPr>
          <p:cNvPr id="20" name="Oval 19"/>
          <p:cNvSpPr/>
          <p:nvPr/>
        </p:nvSpPr>
        <p:spPr>
          <a:xfrm>
            <a:off x="9144000" y="1600200"/>
            <a:ext cx="685800" cy="68580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5</a:t>
            </a:r>
          </a:p>
        </p:txBody>
      </p:sp>
      <p:sp>
        <p:nvSpPr>
          <p:cNvPr id="21" name="TextBox 20"/>
          <p:cNvSpPr txBox="1"/>
          <p:nvPr/>
        </p:nvSpPr>
        <p:spPr>
          <a:xfrm>
            <a:off x="9144000" y="2514600"/>
            <a:ext cx="1920240" cy="457200"/>
          </a:xfrm>
          <a:prstGeom prst="rect">
            <a:avLst/>
          </a:prstGeom>
          <a:noFill/>
        </p:spPr>
        <p:txBody>
          <a:bodyPr wrap="square" lIns="0" rIns="0" tIns="0" bIns="0" anchor="t">
            <a:spAutoFit/>
          </a:bodyPr>
          <a:lstStyle/>
          <a:p>
            <a:pPr algn="l">
              <a:spcAft>
                <a:spcPts val="600"/>
              </a:spcAft>
            </a:pPr>
            <a:r>
              <a:rPr sz="1600" b="1" i="0">
                <a:solidFill>
                  <a:srgbClr val="1B2433"/>
                </a:solidFill>
                <a:latin typeface="Poppins"/>
              </a:rPr>
              <a:t>Run</a:t>
            </a:r>
          </a:p>
        </p:txBody>
      </p:sp>
      <p:sp>
        <p:nvSpPr>
          <p:cNvPr id="22" name="TextBox 21"/>
          <p:cNvSpPr txBox="1"/>
          <p:nvPr/>
        </p:nvSpPr>
        <p:spPr>
          <a:xfrm>
            <a:off x="9144000" y="2971800"/>
            <a:ext cx="1874519" cy="146304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Click ▶ or Shift+F10 (Ctrl+R on Mac).</a:t>
            </a:r>
          </a:p>
        </p:txBody>
      </p:sp>
      <p:sp>
        <p:nvSpPr>
          <p:cNvPr id="23" name="Tip band"/>
          <p:cNvSpPr/>
          <p:nvPr/>
        </p:nvSpPr>
        <p:spPr>
          <a:xfrm>
            <a:off x="841248" y="4754880"/>
            <a:ext cx="10241280" cy="10515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97280" y="4754880"/>
            <a:ext cx="9784080" cy="1051560"/>
          </a:xfrm>
          <a:prstGeom prst="rect">
            <a:avLst/>
          </a:prstGeom>
          <a:noFill/>
        </p:spPr>
        <p:txBody>
          <a:bodyPr wrap="square" lIns="0" rIns="0" tIns="0" bIns="0" anchor="ctr">
            <a:spAutoFit/>
          </a:bodyPr>
          <a:lstStyle/>
          <a:p>
            <a:pPr algn="l">
              <a:spcAft>
                <a:spcPts val="600"/>
              </a:spcAft>
            </a:pPr>
            <a:r>
              <a:rPr sz="1600" b="1" i="0">
                <a:solidFill>
                  <a:srgbClr val="0366FF"/>
                </a:solidFill>
                <a:latin typeface="Poppins"/>
              </a:rPr>
              <a:t>Shortcut to learn today: </a:t>
            </a:r>
            <a:r>
              <a:rPr sz="1600" b="0" i="0">
                <a:solidFill>
                  <a:srgbClr val="1B2433"/>
                </a:solidFill>
                <a:latin typeface="Poppins"/>
              </a:rPr>
              <a:t>type </a:t>
            </a:r>
            <a:r>
              <a:rPr sz="1600" b="0" i="0">
                <a:solidFill>
                  <a:srgbClr val="8C4FF4"/>
                </a:solidFill>
                <a:latin typeface="Consolas"/>
              </a:rPr>
              <a:t>sout</a:t>
            </a:r>
            <a:r>
              <a:rPr sz="1600" b="0" i="0">
                <a:solidFill>
                  <a:srgbClr val="1B2433"/>
                </a:solidFill>
                <a:latin typeface="Poppins"/>
              </a:rPr>
              <a:t> then Tab to get System.out.println().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Your first program</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03</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Hello, World, then the form every real project uses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Hello, World in Java 25</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54480"/>
            <a:ext cx="5669280" cy="210312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2000" i="0">
                <a:solidFill>
                  <a:srgbClr val="B9A6FF"/>
                </a:solidFill>
                <a:latin typeface="Consolas"/>
              </a:rPr>
              <a:t>void</a:t>
            </a:r>
            <a:r>
              <a:rPr sz="2000" i="0">
                <a:solidFill>
                  <a:srgbClr val="EEF2FA"/>
                </a:solidFill>
                <a:latin typeface="Consolas"/>
              </a:rPr>
              <a:t> </a:t>
            </a:r>
            <a:r>
              <a:rPr sz="2000" i="0">
                <a:solidFill>
                  <a:srgbClr val="EEF2FA"/>
                </a:solidFill>
                <a:latin typeface="Consolas"/>
              </a:rPr>
              <a:t>main</a:t>
            </a:r>
            <a:r>
              <a:rPr sz="2000" i="0">
                <a:solidFill>
                  <a:srgbClr val="EEF2FA"/>
                </a:solidFill>
                <a:latin typeface="Consolas"/>
              </a:rPr>
              <a:t>() {</a:t>
            </a:r>
          </a:p>
          <a:p>
            <a:pPr algn="l">
              <a:lnSpc>
                <a:spcPct val="105000"/>
              </a:lnSpc>
              <a:spcAft>
                <a:spcPts val="0"/>
              </a:spcAft>
            </a:pPr>
            <a:r>
              <a:rPr sz="2000" i="0">
                <a:solidFill>
                  <a:srgbClr val="EEF2FA"/>
                </a:solidFill>
                <a:latin typeface="Consolas"/>
              </a:rPr>
              <a:t>    </a:t>
            </a:r>
            <a:r>
              <a:rPr sz="2000" i="0">
                <a:solidFill>
                  <a:srgbClr val="EEF2FA"/>
                </a:solidFill>
                <a:latin typeface="Consolas"/>
              </a:rPr>
              <a:t>IO</a:t>
            </a:r>
            <a:r>
              <a:rPr sz="2000" i="0">
                <a:solidFill>
                  <a:srgbClr val="EEF2FA"/>
                </a:solidFill>
                <a:latin typeface="Consolas"/>
              </a:rPr>
              <a:t>.</a:t>
            </a:r>
            <a:r>
              <a:rPr sz="2000" i="0">
                <a:solidFill>
                  <a:srgbClr val="EEF2FA"/>
                </a:solidFill>
                <a:latin typeface="Consolas"/>
              </a:rPr>
              <a:t>println</a:t>
            </a:r>
            <a:r>
              <a:rPr sz="2000" i="0">
                <a:solidFill>
                  <a:srgbClr val="EEF2FA"/>
                </a:solidFill>
                <a:latin typeface="Consolas"/>
              </a:rPr>
              <a:t>(</a:t>
            </a:r>
            <a:r>
              <a:rPr sz="2000" i="0">
                <a:solidFill>
                  <a:srgbClr val="9EF0C9"/>
                </a:solidFill>
                <a:latin typeface="Consolas"/>
              </a:rPr>
              <a:t>"Hello, World!"</a:t>
            </a:r>
            <a:r>
              <a:rPr sz="2000" i="0">
                <a:solidFill>
                  <a:srgbClr val="EEF2FA"/>
                </a:solidFill>
                <a:latin typeface="Consolas"/>
              </a:rPr>
              <a:t>);</a:t>
            </a:r>
          </a:p>
          <a:p>
            <a:pPr algn="l">
              <a:lnSpc>
                <a:spcPct val="105000"/>
              </a:lnSpc>
              <a:spcAft>
                <a:spcPts val="0"/>
              </a:spcAft>
            </a:pPr>
            <a:r>
              <a:rPr sz="2000" i="0">
                <a:solidFill>
                  <a:srgbClr val="EEF2FA"/>
                </a:solidFill>
                <a:latin typeface="Consolas"/>
              </a:rPr>
              <a:t>}</a:t>
            </a:r>
          </a:p>
        </p:txBody>
      </p:sp>
      <p:sp>
        <p:nvSpPr>
          <p:cNvPr id="5" name="TextBox 4"/>
          <p:cNvSpPr txBox="1"/>
          <p:nvPr/>
        </p:nvSpPr>
        <p:spPr>
          <a:xfrm>
            <a:off x="1069848" y="1645920"/>
            <a:ext cx="521208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demos/HelloCompact.java  ·  JAVA 25</a:t>
            </a:r>
          </a:p>
        </p:txBody>
      </p:sp>
      <p:sp>
        <p:nvSpPr>
          <p:cNvPr id="6" name="TextBox 5"/>
          <p:cNvSpPr txBox="1"/>
          <p:nvPr/>
        </p:nvSpPr>
        <p:spPr>
          <a:xfrm>
            <a:off x="6858000" y="1600200"/>
            <a:ext cx="4206240" cy="4114800"/>
          </a:xfrm>
          <a:prstGeom prst="rect">
            <a:avLst/>
          </a:prstGeom>
          <a:noFill/>
        </p:spPr>
        <p:txBody>
          <a:bodyPr wrap="square" lIns="0" rIns="0" tIns="0" bIns="0" anchor="t">
            <a:spAutoFit/>
          </a:bodyPr>
          <a:lstStyle/>
          <a:p>
            <a:pPr algn="l">
              <a:spcAft>
                <a:spcPts val="1400"/>
              </a:spcAft>
            </a:pPr>
            <a:r>
              <a:rPr sz="1600" b="0" i="0">
                <a:solidFill>
                  <a:srgbClr val="8C4FF4"/>
                </a:solidFill>
                <a:latin typeface="Consolas"/>
              </a:rPr>
              <a:t>void main()  </a:t>
            </a:r>
            <a:r>
              <a:rPr sz="1600" b="0" i="0">
                <a:solidFill>
                  <a:srgbClr val="1B2433"/>
                </a:solidFill>
                <a:latin typeface="Poppins"/>
              </a:rPr>
              <a:t>Where the program starts.</a:t>
            </a:r>
          </a:p>
          <a:p>
            <a:pPr algn="l">
              <a:spcAft>
                <a:spcPts val="1400"/>
              </a:spcAft>
            </a:pPr>
            <a:r>
              <a:rPr sz="1600" b="0" i="0">
                <a:solidFill>
                  <a:srgbClr val="8C4FF4"/>
                </a:solidFill>
                <a:latin typeface="Consolas"/>
              </a:rPr>
              <a:t>IO.println(…)  </a:t>
            </a:r>
            <a:r>
              <a:rPr sz="1600" b="0" i="0">
                <a:solidFill>
                  <a:srgbClr val="1B2433"/>
                </a:solidFill>
                <a:latin typeface="Poppins"/>
              </a:rPr>
              <a:t>Prints a line of text.</a:t>
            </a:r>
          </a:p>
          <a:p>
            <a:pPr algn="l">
              <a:spcAft>
                <a:spcPts val="1400"/>
              </a:spcAft>
            </a:pPr>
            <a:r>
              <a:rPr sz="1600" b="0" i="0">
                <a:solidFill>
                  <a:srgbClr val="8C4FF4"/>
                </a:solidFill>
                <a:latin typeface="Consolas"/>
              </a:rPr>
              <a:t>"Hello…"  </a:t>
            </a:r>
            <a:r>
              <a:rPr sz="1600" b="0" i="0">
                <a:solidFill>
                  <a:srgbClr val="1B2433"/>
                </a:solidFill>
                <a:latin typeface="Poppins"/>
              </a:rPr>
              <a:t>A String: text in double quotes.</a:t>
            </a:r>
          </a:p>
          <a:p>
            <a:pPr algn="l">
              <a:spcAft>
                <a:spcPts val="1400"/>
              </a:spcAft>
            </a:pPr>
            <a:r>
              <a:rPr sz="1600" b="0" i="0">
                <a:solidFill>
                  <a:srgbClr val="8C4FF4"/>
                </a:solidFill>
                <a:latin typeface="Consolas"/>
              </a:rPr>
              <a:t>;  </a:t>
            </a:r>
            <a:r>
              <a:rPr sz="1600" b="0" i="0">
                <a:solidFill>
                  <a:srgbClr val="1B2433"/>
                </a:solidFill>
                <a:latin typeface="Poppins"/>
              </a:rPr>
              <a:t>Ends each statement.</a:t>
            </a:r>
          </a:p>
          <a:p>
            <a:pPr algn="l">
              <a:spcAft>
                <a:spcPts val="1400"/>
              </a:spcAft>
            </a:pPr>
            <a:r>
              <a:rPr sz="1600" b="0" i="0">
                <a:solidFill>
                  <a:srgbClr val="8C4FF4"/>
                </a:solidFill>
                <a:latin typeface="Consolas"/>
              </a:rPr>
              <a:t>{ }  </a:t>
            </a:r>
            <a:r>
              <a:rPr sz="1600" b="0" i="0">
                <a:solidFill>
                  <a:srgbClr val="1B2433"/>
                </a:solidFill>
                <a:latin typeface="Poppins"/>
              </a:rPr>
              <a:t>Groups lines into a block.</a:t>
            </a:r>
          </a:p>
        </p:txBody>
      </p:sp>
      <p:sp>
        <p:nvSpPr>
          <p:cNvPr id="7" name="Try band"/>
          <p:cNvSpPr/>
          <p:nvPr/>
        </p:nvSpPr>
        <p:spPr>
          <a:xfrm>
            <a:off x="841248" y="4023360"/>
            <a:ext cx="5669280" cy="17373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4114800"/>
            <a:ext cx="5303520" cy="1554480"/>
          </a:xfrm>
          <a:prstGeom prst="rect">
            <a:avLst/>
          </a:prstGeom>
          <a:noFill/>
        </p:spPr>
        <p:txBody>
          <a:bodyPr wrap="square" lIns="0" rIns="0" tIns="0" bIns="0" anchor="ctr">
            <a:spAutoFit/>
          </a:bodyPr>
          <a:lstStyle/>
          <a:p>
            <a:pPr algn="l">
              <a:spcAft>
                <a:spcPts val="800"/>
              </a:spcAft>
            </a:pPr>
            <a:r>
              <a:rPr sz="1600" b="1" i="0">
                <a:solidFill>
                  <a:srgbClr val="0E2841"/>
                </a:solidFill>
                <a:latin typeface="Poppins"/>
              </a:rPr>
              <a:t>Try it: </a:t>
            </a:r>
            <a:r>
              <a:rPr sz="1600" b="0" i="0">
                <a:solidFill>
                  <a:srgbClr val="1B2433"/>
                </a:solidFill>
                <a:latin typeface="Poppins"/>
              </a:rPr>
              <a:t>print your name and city on two lines.</a:t>
            </a:r>
          </a:p>
          <a:p>
            <a:pPr algn="l">
              <a:spcAft>
                <a:spcPts val="800"/>
              </a:spcAft>
            </a:pPr>
            <a:r>
              <a:rPr sz="1600" b="1" i="0">
                <a:solidFill>
                  <a:srgbClr val="0E2841"/>
                </a:solidFill>
                <a:latin typeface="Poppins"/>
              </a:rPr>
              <a:t>Then break it: </a:t>
            </a:r>
            <a:r>
              <a:rPr sz="1600" b="0" i="0">
                <a:solidFill>
                  <a:srgbClr val="1B2433"/>
                </a:solidFill>
                <a:latin typeface="Poppins"/>
              </a:rPr>
              <a:t>delete the ; and read the error.</a:t>
            </a:r>
          </a:p>
        </p:txBody>
      </p:sp>
      <p:sp>
        <p:nvSpPr>
          <p:cNvPr id="9" name="TextBox 8"/>
          <p:cNvSpPr txBox="1"/>
          <p:nvPr/>
        </p:nvSpPr>
        <p:spPr>
          <a:xfrm>
            <a:off x="6858000" y="5486400"/>
            <a:ext cx="4206240" cy="36576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Read more: </a:t>
            </a:r>
            <a:r>
              <a:rPr sz="1400" b="0" i="0" u="sng">
                <a:solidFill>
                  <a:srgbClr val="0366FF"/>
                </a:solidFill>
                <a:latin typeface="Poppins"/>
                <a:hlinkClick r:id="rId3">
                  <a:extLst>
                    <a:ext uri="{A12FA001-AC4F-418D-AE19-62706E023703}">
                      <ahyp:hlinkClr xmlns:ahyp="http://schemas.microsoft.com/office/drawing/2018/hyperlinkcolor" val="tx"/>
                    </a:ext>
                  </a:extLst>
                </a:hlinkClick>
              </a:rPr>
              <a:t>JEP 512: compact source files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The classic form you will see everywhere</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54480"/>
            <a:ext cx="6766560" cy="237744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700" i="0">
                <a:solidFill>
                  <a:srgbClr val="B9A6FF"/>
                </a:solidFill>
                <a:latin typeface="Consolas"/>
              </a:rPr>
              <a:t>public</a:t>
            </a:r>
            <a:r>
              <a:rPr sz="1700" i="0">
                <a:solidFill>
                  <a:srgbClr val="EEF2FA"/>
                </a:solidFill>
                <a:latin typeface="Consolas"/>
              </a:rPr>
              <a:t> </a:t>
            </a:r>
            <a:r>
              <a:rPr sz="1700" i="0">
                <a:solidFill>
                  <a:srgbClr val="B9A6FF"/>
                </a:solidFill>
                <a:latin typeface="Consolas"/>
              </a:rPr>
              <a:t>class</a:t>
            </a:r>
            <a:r>
              <a:rPr sz="1700" i="0">
                <a:solidFill>
                  <a:srgbClr val="EEF2FA"/>
                </a:solidFill>
                <a:latin typeface="Consolas"/>
              </a:rPr>
              <a:t> </a:t>
            </a:r>
            <a:r>
              <a:rPr sz="1700" i="0">
                <a:solidFill>
                  <a:srgbClr val="EEF2FA"/>
                </a:solidFill>
                <a:latin typeface="Consolas"/>
              </a:rPr>
              <a:t>Main</a:t>
            </a:r>
            <a:r>
              <a:rPr sz="1700" i="0">
                <a:solidFill>
                  <a:srgbClr val="EEF2FA"/>
                </a:solidFill>
                <a:latin typeface="Consolas"/>
              </a:rPr>
              <a:t> {</a:t>
            </a:r>
          </a:p>
          <a:p>
            <a:pPr algn="l">
              <a:lnSpc>
                <a:spcPct val="105000"/>
              </a:lnSpc>
              <a:spcAft>
                <a:spcPts val="0"/>
              </a:spcAft>
            </a:pPr>
            <a:r>
              <a:rPr sz="1700" i="0">
                <a:solidFill>
                  <a:srgbClr val="EEF2FA"/>
                </a:solidFill>
                <a:latin typeface="Consolas"/>
              </a:rPr>
              <a:t>    </a:t>
            </a:r>
            <a:r>
              <a:rPr sz="1700" i="0">
                <a:solidFill>
                  <a:srgbClr val="B9A6FF"/>
                </a:solidFill>
                <a:latin typeface="Consolas"/>
              </a:rPr>
              <a:t>public</a:t>
            </a:r>
            <a:r>
              <a:rPr sz="1700" i="0">
                <a:solidFill>
                  <a:srgbClr val="EEF2FA"/>
                </a:solidFill>
                <a:latin typeface="Consolas"/>
              </a:rPr>
              <a:t> </a:t>
            </a:r>
            <a:r>
              <a:rPr sz="1700" i="0">
                <a:solidFill>
                  <a:srgbClr val="B9A6FF"/>
                </a:solidFill>
                <a:latin typeface="Consolas"/>
              </a:rPr>
              <a:t>static</a:t>
            </a:r>
            <a:r>
              <a:rPr sz="1700" i="0">
                <a:solidFill>
                  <a:srgbClr val="EEF2FA"/>
                </a:solidFill>
                <a:latin typeface="Consolas"/>
              </a:rPr>
              <a:t> </a:t>
            </a:r>
            <a:r>
              <a:rPr sz="1700" i="0">
                <a:solidFill>
                  <a:srgbClr val="B9A6FF"/>
                </a:solidFill>
                <a:latin typeface="Consolas"/>
              </a:rPr>
              <a:t>void</a:t>
            </a:r>
            <a:r>
              <a:rPr sz="1700" i="0">
                <a:solidFill>
                  <a:srgbClr val="EEF2FA"/>
                </a:solidFill>
                <a:latin typeface="Consolas"/>
              </a:rPr>
              <a:t> </a:t>
            </a:r>
            <a:r>
              <a:rPr sz="1700" i="0">
                <a:solidFill>
                  <a:srgbClr val="EEF2FA"/>
                </a:solidFill>
                <a:latin typeface="Consolas"/>
              </a:rPr>
              <a:t>main</a:t>
            </a:r>
            <a:r>
              <a:rPr sz="1700" i="0">
                <a:solidFill>
                  <a:srgbClr val="EEF2FA"/>
                </a:solidFill>
                <a:latin typeface="Consolas"/>
              </a:rPr>
              <a:t>(</a:t>
            </a:r>
            <a:r>
              <a:rPr sz="1700" i="0">
                <a:solidFill>
                  <a:srgbClr val="B9A6FF"/>
                </a:solidFill>
                <a:latin typeface="Consolas"/>
              </a:rPr>
              <a:t>String</a:t>
            </a:r>
            <a:r>
              <a:rPr sz="1700" i="0">
                <a:solidFill>
                  <a:srgbClr val="EEF2FA"/>
                </a:solidFill>
                <a:latin typeface="Consolas"/>
              </a:rPr>
              <a:t>[] </a:t>
            </a:r>
            <a:r>
              <a:rPr sz="1700" i="0">
                <a:solidFill>
                  <a:srgbClr val="EEF2FA"/>
                </a:solidFill>
                <a:latin typeface="Consolas"/>
              </a:rPr>
              <a:t>args</a:t>
            </a:r>
            <a:r>
              <a:rPr sz="1700" i="0">
                <a:solidFill>
                  <a:srgbClr val="EEF2FA"/>
                </a:solidFill>
                <a:latin typeface="Consolas"/>
              </a:rPr>
              <a:t>) {</a:t>
            </a:r>
          </a:p>
          <a:p>
            <a:pPr algn="l">
              <a:lnSpc>
                <a:spcPct val="105000"/>
              </a:lnSpc>
              <a:spcAft>
                <a:spcPts val="0"/>
              </a:spcAft>
            </a:pPr>
            <a:r>
              <a:rPr sz="1700" i="0">
                <a:solidFill>
                  <a:srgbClr val="EEF2FA"/>
                </a:solidFill>
                <a:latin typeface="Consolas"/>
              </a:rPr>
              <a:t>        </a:t>
            </a:r>
            <a:r>
              <a:rPr sz="1700" i="0">
                <a:solidFill>
                  <a:srgbClr val="B9A6FF"/>
                </a:solidFill>
                <a:latin typeface="Consolas"/>
              </a:rPr>
              <a:t>System</a:t>
            </a:r>
            <a:r>
              <a:rPr sz="1700" i="0">
                <a:solidFill>
                  <a:srgbClr val="EEF2FA"/>
                </a:solidFill>
                <a:latin typeface="Consolas"/>
              </a:rPr>
              <a:t>.</a:t>
            </a:r>
            <a:r>
              <a:rPr sz="1700" i="0">
                <a:solidFill>
                  <a:srgbClr val="EEF2FA"/>
                </a:solidFill>
                <a:latin typeface="Consolas"/>
              </a:rPr>
              <a:t>out</a:t>
            </a:r>
            <a:r>
              <a:rPr sz="1700" i="0">
                <a:solidFill>
                  <a:srgbClr val="EEF2FA"/>
                </a:solidFill>
                <a:latin typeface="Consolas"/>
              </a:rPr>
              <a:t>.</a:t>
            </a:r>
            <a:r>
              <a:rPr sz="1700" i="0">
                <a:solidFill>
                  <a:srgbClr val="EEF2FA"/>
                </a:solidFill>
                <a:latin typeface="Consolas"/>
              </a:rPr>
              <a:t>println</a:t>
            </a:r>
            <a:r>
              <a:rPr sz="1700" i="0">
                <a:solidFill>
                  <a:srgbClr val="EEF2FA"/>
                </a:solidFill>
                <a:latin typeface="Consolas"/>
              </a:rPr>
              <a:t>(</a:t>
            </a:r>
            <a:r>
              <a:rPr sz="1700" i="0">
                <a:solidFill>
                  <a:srgbClr val="9EF0C9"/>
                </a:solidFill>
                <a:latin typeface="Consolas"/>
              </a:rPr>
              <a:t>"Hello, World!"</a:t>
            </a:r>
            <a:r>
              <a:rPr sz="1700" i="0">
                <a:solidFill>
                  <a:srgbClr val="EEF2FA"/>
                </a:solidFill>
                <a:latin typeface="Consolas"/>
              </a:rPr>
              <a:t>);</a:t>
            </a:r>
          </a:p>
          <a:p>
            <a:pPr algn="l">
              <a:lnSpc>
                <a:spcPct val="105000"/>
              </a:lnSpc>
              <a:spcAft>
                <a:spcPts val="0"/>
              </a:spcAft>
            </a:pPr>
            <a:r>
              <a:rPr sz="1700" i="0">
                <a:solidFill>
                  <a:srgbClr val="EEF2FA"/>
                </a:solidFill>
                <a:latin typeface="Consolas"/>
              </a:rPr>
              <a:t>    }</a:t>
            </a:r>
          </a:p>
          <a:p>
            <a:pPr algn="l">
              <a:lnSpc>
                <a:spcPct val="105000"/>
              </a:lnSpc>
              <a:spcAft>
                <a:spcPts val="0"/>
              </a:spcAft>
            </a:pPr>
            <a:r>
              <a:rPr sz="1700" i="0">
                <a:solidFill>
                  <a:srgbClr val="EEF2FA"/>
                </a:solidFill>
                <a:latin typeface="Consolas"/>
              </a:rPr>
              <a:t>}</a:t>
            </a:r>
          </a:p>
        </p:txBody>
      </p:sp>
      <p:sp>
        <p:nvSpPr>
          <p:cNvPr id="5" name="TextBox 4"/>
          <p:cNvSpPr txBox="1"/>
          <p:nvPr/>
        </p:nvSpPr>
        <p:spPr>
          <a:xfrm>
            <a:off x="1069848" y="1645920"/>
            <a:ext cx="630936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demos/Main.java</a:t>
            </a:r>
          </a:p>
        </p:txBody>
      </p:sp>
      <p:sp>
        <p:nvSpPr>
          <p:cNvPr id="6" name="Oval 5"/>
          <p:cNvSpPr/>
          <p:nvPr/>
        </p:nvSpPr>
        <p:spPr>
          <a:xfrm>
            <a:off x="841248" y="4215383"/>
            <a:ext cx="384048" cy="38404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i="0">
                <a:solidFill>
                  <a:srgbClr val="FFFFFF"/>
                </a:solidFill>
                <a:latin typeface="Poppins"/>
              </a:rPr>
              <a:t>1</a:t>
            </a:r>
          </a:p>
        </p:txBody>
      </p:sp>
      <p:sp>
        <p:nvSpPr>
          <p:cNvPr id="7" name="TextBox 6"/>
          <p:cNvSpPr txBox="1"/>
          <p:nvPr/>
        </p:nvSpPr>
        <p:spPr>
          <a:xfrm>
            <a:off x="1371600" y="4160520"/>
            <a:ext cx="9692640" cy="502920"/>
          </a:xfrm>
          <a:prstGeom prst="rect">
            <a:avLst/>
          </a:prstGeom>
          <a:noFill/>
        </p:spPr>
        <p:txBody>
          <a:bodyPr wrap="square" lIns="0" rIns="0" tIns="0" bIns="0" anchor="ctr">
            <a:spAutoFit/>
          </a:bodyPr>
          <a:lstStyle/>
          <a:p>
            <a:pPr algn="l">
              <a:spcAft>
                <a:spcPts val="600"/>
              </a:spcAft>
            </a:pPr>
            <a:r>
              <a:rPr sz="1500" b="0" i="0">
                <a:solidFill>
                  <a:srgbClr val="8C4FF4"/>
                </a:solidFill>
                <a:latin typeface="Consolas"/>
              </a:rPr>
              <a:t>public class Main</a:t>
            </a:r>
            <a:r>
              <a:rPr sz="1500" b="0" i="0">
                <a:solidFill>
                  <a:srgbClr val="1B2433"/>
                </a:solidFill>
                <a:latin typeface="Poppins"/>
              </a:rPr>
              <a:t>   The class name must match the file name: Main.java</a:t>
            </a:r>
          </a:p>
        </p:txBody>
      </p:sp>
      <p:sp>
        <p:nvSpPr>
          <p:cNvPr id="8" name="Oval 7"/>
          <p:cNvSpPr/>
          <p:nvPr/>
        </p:nvSpPr>
        <p:spPr>
          <a:xfrm>
            <a:off x="841248" y="4837175"/>
            <a:ext cx="384048" cy="38404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i="0">
                <a:solidFill>
                  <a:srgbClr val="FFFFFF"/>
                </a:solidFill>
                <a:latin typeface="Poppins"/>
              </a:rPr>
              <a:t>2</a:t>
            </a:r>
          </a:p>
        </p:txBody>
      </p:sp>
      <p:sp>
        <p:nvSpPr>
          <p:cNvPr id="9" name="TextBox 8"/>
          <p:cNvSpPr txBox="1"/>
          <p:nvPr/>
        </p:nvSpPr>
        <p:spPr>
          <a:xfrm>
            <a:off x="1371600" y="4782312"/>
            <a:ext cx="9692640" cy="502920"/>
          </a:xfrm>
          <a:prstGeom prst="rect">
            <a:avLst/>
          </a:prstGeom>
          <a:noFill/>
        </p:spPr>
        <p:txBody>
          <a:bodyPr wrap="square" lIns="0" rIns="0" tIns="0" bIns="0" anchor="ctr">
            <a:spAutoFit/>
          </a:bodyPr>
          <a:lstStyle/>
          <a:p>
            <a:pPr algn="l">
              <a:spcAft>
                <a:spcPts val="600"/>
              </a:spcAft>
            </a:pPr>
            <a:r>
              <a:rPr sz="1500" b="0" i="0">
                <a:solidFill>
                  <a:srgbClr val="8C4FF4"/>
                </a:solidFill>
                <a:latin typeface="Consolas"/>
              </a:rPr>
              <a:t>public static void main(String[] args)</a:t>
            </a:r>
            <a:r>
              <a:rPr sz="1500" b="0" i="0">
                <a:solidFill>
                  <a:srgbClr val="1B2433"/>
                </a:solidFill>
                <a:latin typeface="Poppins"/>
              </a:rPr>
              <a:t>   The entry point the JVM looks for</a:t>
            </a:r>
          </a:p>
        </p:txBody>
      </p:sp>
      <p:sp>
        <p:nvSpPr>
          <p:cNvPr id="10" name="Oval 9"/>
          <p:cNvSpPr/>
          <p:nvPr/>
        </p:nvSpPr>
        <p:spPr>
          <a:xfrm>
            <a:off x="841248" y="5458968"/>
            <a:ext cx="384048" cy="38404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i="0">
                <a:solidFill>
                  <a:srgbClr val="FFFFFF"/>
                </a:solidFill>
                <a:latin typeface="Poppins"/>
              </a:rPr>
              <a:t>3</a:t>
            </a:r>
          </a:p>
        </p:txBody>
      </p:sp>
      <p:sp>
        <p:nvSpPr>
          <p:cNvPr id="11" name="TextBox 10"/>
          <p:cNvSpPr txBox="1"/>
          <p:nvPr/>
        </p:nvSpPr>
        <p:spPr>
          <a:xfrm>
            <a:off x="1371600" y="5404104"/>
            <a:ext cx="9692640" cy="502920"/>
          </a:xfrm>
          <a:prstGeom prst="rect">
            <a:avLst/>
          </a:prstGeom>
          <a:noFill/>
        </p:spPr>
        <p:txBody>
          <a:bodyPr wrap="square" lIns="0" rIns="0" tIns="0" bIns="0" anchor="ctr">
            <a:spAutoFit/>
          </a:bodyPr>
          <a:lstStyle/>
          <a:p>
            <a:pPr algn="l">
              <a:spcAft>
                <a:spcPts val="600"/>
              </a:spcAft>
            </a:pPr>
            <a:r>
              <a:rPr sz="1500" b="0" i="0">
                <a:solidFill>
                  <a:srgbClr val="8C4FF4"/>
                </a:solidFill>
                <a:latin typeface="Consolas"/>
              </a:rPr>
              <a:t>System.out.println(…)</a:t>
            </a:r>
            <a:r>
              <a:rPr sz="1500" b="0" i="0">
                <a:solidFill>
                  <a:srgbClr val="1B2433"/>
                </a:solidFill>
                <a:latin typeface="Poppins"/>
              </a:rPr>
              <a:t>   Prints a line (shortcut: sout + Tab)</a:t>
            </a:r>
          </a:p>
        </p:txBody>
      </p:sp>
      <p:sp>
        <p:nvSpPr>
          <p:cNvPr id="12" name="Card Why both?"/>
          <p:cNvSpPr/>
          <p:nvPr/>
        </p:nvSpPr>
        <p:spPr>
          <a:xfrm>
            <a:off x="7909560" y="1554480"/>
            <a:ext cx="3154680" cy="237744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10728" y="1755648"/>
            <a:ext cx="275234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Why both?</a:t>
            </a:r>
          </a:p>
        </p:txBody>
      </p:sp>
      <p:sp>
        <p:nvSpPr>
          <p:cNvPr id="14" name="TextBox 13"/>
          <p:cNvSpPr txBox="1"/>
          <p:nvPr/>
        </p:nvSpPr>
        <p:spPr>
          <a:xfrm>
            <a:off x="8110728" y="2212848"/>
            <a:ext cx="2752344" cy="1517904"/>
          </a:xfrm>
          <a:prstGeom prst="rect">
            <a:avLst/>
          </a:prstGeom>
          <a:noFill/>
        </p:spPr>
        <p:txBody>
          <a:bodyPr wrap="square" lIns="0" rIns="0" tIns="0" bIns="0" anchor="t">
            <a:spAutoFit/>
          </a:bodyPr>
          <a:lstStyle/>
          <a:p>
            <a:pPr algn="l">
              <a:spcAft>
                <a:spcPts val="400"/>
              </a:spcAft>
            </a:pPr>
            <a:r>
              <a:rPr sz="1400" b="0" i="0">
                <a:solidFill>
                  <a:srgbClr val="1B2433"/>
                </a:solidFill>
                <a:latin typeface="Poppins"/>
              </a:rPr>
              <a:t>The short form helps you start. The classic form is what you will read and write at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Compile and run from the terminal</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54480"/>
            <a:ext cx="6400800" cy="329184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600" i="0">
                <a:solidFill>
                  <a:srgbClr val="EEF2FA"/>
                </a:solidFill>
                <a:latin typeface="Consolas"/>
              </a:rPr>
              <a:t>$ </a:t>
            </a:r>
            <a:r>
              <a:rPr sz="1600" i="0">
                <a:solidFill>
                  <a:srgbClr val="EEF2FA"/>
                </a:solidFill>
                <a:latin typeface="Consolas"/>
              </a:rPr>
              <a:t>javac</a:t>
            </a:r>
            <a:r>
              <a:rPr sz="1600" i="0">
                <a:solidFill>
                  <a:srgbClr val="EEF2FA"/>
                </a:solidFill>
                <a:latin typeface="Consolas"/>
              </a:rPr>
              <a:t> </a:t>
            </a:r>
            <a:r>
              <a:rPr sz="1600" i="0">
                <a:solidFill>
                  <a:srgbClr val="EEF2FA"/>
                </a:solidFill>
                <a:latin typeface="Consolas"/>
              </a:rPr>
              <a:t>Main</a:t>
            </a:r>
            <a:r>
              <a:rPr sz="1600" i="0">
                <a:solidFill>
                  <a:srgbClr val="EEF2FA"/>
                </a:solidFill>
                <a:latin typeface="Consolas"/>
              </a:rPr>
              <a:t>.</a:t>
            </a:r>
            <a:r>
              <a:rPr sz="1600" i="0">
                <a:solidFill>
                  <a:srgbClr val="EEF2FA"/>
                </a:solidFill>
                <a:latin typeface="Consolas"/>
              </a:rPr>
              <a:t>java</a:t>
            </a:r>
            <a:r>
              <a:rPr sz="1600" i="0">
                <a:solidFill>
                  <a:srgbClr val="EEF2FA"/>
                </a:solidFill>
                <a:latin typeface="Consolas"/>
              </a:rPr>
              <a:t>     </a:t>
            </a:r>
            <a:r>
              <a:rPr sz="1600" i="1">
                <a:solidFill>
                  <a:srgbClr val="8FD8DB"/>
                </a:solidFill>
                <a:latin typeface="Consolas"/>
              </a:rPr>
              <a:t># compile → Main.class</a:t>
            </a:r>
          </a:p>
          <a:p>
            <a:pPr algn="l">
              <a:lnSpc>
                <a:spcPct val="105000"/>
              </a:lnSpc>
              <a:spcAft>
                <a:spcPts val="0"/>
              </a:spcAft>
            </a:pPr>
            <a:r>
              <a:rPr sz="1600" i="0">
                <a:solidFill>
                  <a:srgbClr val="EEF2FA"/>
                </a:solidFill>
                <a:latin typeface="Consolas"/>
              </a:rPr>
              <a:t>$ </a:t>
            </a:r>
            <a:r>
              <a:rPr sz="1600" i="0">
                <a:solidFill>
                  <a:srgbClr val="EEF2FA"/>
                </a:solidFill>
                <a:latin typeface="Consolas"/>
              </a:rPr>
              <a:t>ls</a:t>
            </a:r>
          </a:p>
          <a:p>
            <a:pPr algn="l">
              <a:lnSpc>
                <a:spcPct val="105000"/>
              </a:lnSpc>
              <a:spcAft>
                <a:spcPts val="0"/>
              </a:spcAft>
            </a:pPr>
            <a:r>
              <a:rPr sz="1600" i="0">
                <a:solidFill>
                  <a:srgbClr val="EEF2FA"/>
                </a:solidFill>
                <a:latin typeface="Consolas"/>
              </a:rPr>
              <a:t>Main</a:t>
            </a:r>
            <a:r>
              <a:rPr sz="1600" i="0">
                <a:solidFill>
                  <a:srgbClr val="EEF2FA"/>
                </a:solidFill>
                <a:latin typeface="Consolas"/>
              </a:rPr>
              <a:t>.</a:t>
            </a:r>
            <a:r>
              <a:rPr sz="1600" i="0">
                <a:solidFill>
                  <a:srgbClr val="B9A6FF"/>
                </a:solidFill>
                <a:latin typeface="Consolas"/>
              </a:rPr>
              <a:t>class</a:t>
            </a:r>
            <a:r>
              <a:rPr sz="1600" i="0">
                <a:solidFill>
                  <a:srgbClr val="EEF2FA"/>
                </a:solidFill>
                <a:latin typeface="Consolas"/>
              </a:rPr>
              <a:t>  </a:t>
            </a:r>
            <a:r>
              <a:rPr sz="1600" i="0">
                <a:solidFill>
                  <a:srgbClr val="EEF2FA"/>
                </a:solidFill>
                <a:latin typeface="Consolas"/>
              </a:rPr>
              <a:t>Main</a:t>
            </a:r>
            <a:r>
              <a:rPr sz="1600" i="0">
                <a:solidFill>
                  <a:srgbClr val="EEF2FA"/>
                </a:solidFill>
                <a:latin typeface="Consolas"/>
              </a:rPr>
              <a:t>.</a:t>
            </a:r>
            <a:r>
              <a:rPr sz="1600" i="0">
                <a:solidFill>
                  <a:srgbClr val="EEF2FA"/>
                </a:solidFill>
                <a:latin typeface="Consolas"/>
              </a:rPr>
              <a:t>java</a:t>
            </a:r>
          </a:p>
          <a:p>
            <a:pPr algn="l">
              <a:lnSpc>
                <a:spcPct val="105000"/>
              </a:lnSpc>
              <a:spcAft>
                <a:spcPts val="0"/>
              </a:spcAft>
            </a:pPr>
            <a:r>
              <a:rPr sz="1600" i="0">
                <a:solidFill>
                  <a:srgbClr val="EEF2FA"/>
                </a:solidFill>
                <a:latin typeface="Consolas"/>
              </a:rPr>
              <a:t>$ </a:t>
            </a:r>
            <a:r>
              <a:rPr sz="1600" i="0">
                <a:solidFill>
                  <a:srgbClr val="EEF2FA"/>
                </a:solidFill>
                <a:latin typeface="Consolas"/>
              </a:rPr>
              <a:t>java</a:t>
            </a:r>
            <a:r>
              <a:rPr sz="1600" i="0">
                <a:solidFill>
                  <a:srgbClr val="EEF2FA"/>
                </a:solidFill>
                <a:latin typeface="Consolas"/>
              </a:rPr>
              <a:t> </a:t>
            </a:r>
            <a:r>
              <a:rPr sz="1600" i="0">
                <a:solidFill>
                  <a:srgbClr val="EEF2FA"/>
                </a:solidFill>
                <a:latin typeface="Consolas"/>
              </a:rPr>
              <a:t>Main</a:t>
            </a:r>
            <a:r>
              <a:rPr sz="1600" i="0">
                <a:solidFill>
                  <a:srgbClr val="EEF2FA"/>
                </a:solidFill>
                <a:latin typeface="Consolas"/>
              </a:rPr>
              <a:t>           </a:t>
            </a:r>
            <a:r>
              <a:rPr sz="1600" i="1">
                <a:solidFill>
                  <a:srgbClr val="8FD8DB"/>
                </a:solidFill>
                <a:latin typeface="Consolas"/>
              </a:rPr>
              <a:t># run the bytecode</a:t>
            </a:r>
          </a:p>
          <a:p>
            <a:pPr algn="l">
              <a:lnSpc>
                <a:spcPct val="105000"/>
              </a:lnSpc>
              <a:spcAft>
                <a:spcPts val="0"/>
              </a:spcAft>
            </a:pPr>
            <a:r>
              <a:rPr sz="1600" i="0">
                <a:solidFill>
                  <a:srgbClr val="EEF2FA"/>
                </a:solidFill>
                <a:latin typeface="Consolas"/>
              </a:rPr>
              <a:t>Hello</a:t>
            </a:r>
            <a:r>
              <a:rPr sz="1600" i="0">
                <a:solidFill>
                  <a:srgbClr val="EEF2FA"/>
                </a:solidFill>
                <a:latin typeface="Consolas"/>
              </a:rPr>
              <a:t>, </a:t>
            </a:r>
            <a:r>
              <a:rPr sz="1600" i="0">
                <a:solidFill>
                  <a:srgbClr val="EEF2FA"/>
                </a:solidFill>
                <a:latin typeface="Consolas"/>
              </a:rPr>
              <a:t>World</a:t>
            </a:r>
            <a:r>
              <a:rPr sz="1600" i="0">
                <a:solidFill>
                  <a:srgbClr val="EEF2FA"/>
                </a:solidFill>
                <a:latin typeface="Consolas"/>
              </a:rPr>
              <a:t>!</a:t>
            </a:r>
          </a:p>
          <a:p>
            <a:pPr algn="l">
              <a:lnSpc>
                <a:spcPct val="105000"/>
              </a:lnSpc>
              <a:spcAft>
                <a:spcPts val="0"/>
              </a:spcAft>
            </a:pPr>
            <a:r>
              <a:rPr sz="1600" i="0">
                <a:solidFill>
                  <a:srgbClr val="EEF2FA"/>
                </a:solidFill>
                <a:latin typeface="Consolas"/>
              </a:rPr>
              <a:t> </a:t>
            </a:r>
          </a:p>
          <a:p>
            <a:pPr algn="l">
              <a:lnSpc>
                <a:spcPct val="105000"/>
              </a:lnSpc>
              <a:spcAft>
                <a:spcPts val="0"/>
              </a:spcAft>
            </a:pPr>
            <a:r>
              <a:rPr sz="1600" i="0">
                <a:solidFill>
                  <a:srgbClr val="EEF2FA"/>
                </a:solidFill>
                <a:latin typeface="Consolas"/>
              </a:rPr>
              <a:t>$ </a:t>
            </a:r>
            <a:r>
              <a:rPr sz="1600" i="0">
                <a:solidFill>
                  <a:srgbClr val="EEF2FA"/>
                </a:solidFill>
                <a:latin typeface="Consolas"/>
              </a:rPr>
              <a:t>java</a:t>
            </a:r>
            <a:r>
              <a:rPr sz="1600" i="0">
                <a:solidFill>
                  <a:srgbClr val="EEF2FA"/>
                </a:solidFill>
                <a:latin typeface="Consolas"/>
              </a:rPr>
              <a:t> </a:t>
            </a:r>
            <a:r>
              <a:rPr sz="1600" i="0">
                <a:solidFill>
                  <a:srgbClr val="EEF2FA"/>
                </a:solidFill>
                <a:latin typeface="Consolas"/>
              </a:rPr>
              <a:t>Main</a:t>
            </a:r>
            <a:r>
              <a:rPr sz="1600" i="0">
                <a:solidFill>
                  <a:srgbClr val="EEF2FA"/>
                </a:solidFill>
                <a:latin typeface="Consolas"/>
              </a:rPr>
              <a:t>.</a:t>
            </a:r>
            <a:r>
              <a:rPr sz="1600" i="0">
                <a:solidFill>
                  <a:srgbClr val="EEF2FA"/>
                </a:solidFill>
                <a:latin typeface="Consolas"/>
              </a:rPr>
              <a:t>java</a:t>
            </a:r>
            <a:r>
              <a:rPr sz="1600" i="0">
                <a:solidFill>
                  <a:srgbClr val="EEF2FA"/>
                </a:solidFill>
                <a:latin typeface="Consolas"/>
              </a:rPr>
              <a:t>      </a:t>
            </a:r>
            <a:r>
              <a:rPr sz="1600" i="1">
                <a:solidFill>
                  <a:srgbClr val="8FD8DB"/>
                </a:solidFill>
                <a:latin typeface="Consolas"/>
              </a:rPr>
              <a:t># compile + run in one step</a:t>
            </a:r>
          </a:p>
        </p:txBody>
      </p:sp>
      <p:sp>
        <p:nvSpPr>
          <p:cNvPr id="5" name="TextBox 4"/>
          <p:cNvSpPr txBox="1"/>
          <p:nvPr/>
        </p:nvSpPr>
        <p:spPr>
          <a:xfrm>
            <a:off x="1069848" y="1645920"/>
            <a:ext cx="59436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TERMINAL</a:t>
            </a:r>
          </a:p>
        </p:txBody>
      </p:sp>
      <p:sp>
        <p:nvSpPr>
          <p:cNvPr id="6" name="Card What just happened"/>
          <p:cNvSpPr/>
          <p:nvPr/>
        </p:nvSpPr>
        <p:spPr>
          <a:xfrm>
            <a:off x="7589520" y="1554480"/>
            <a:ext cx="3474720" cy="32918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90688" y="1755648"/>
            <a:ext cx="307238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What just happened</a:t>
            </a:r>
          </a:p>
        </p:txBody>
      </p:sp>
      <p:sp>
        <p:nvSpPr>
          <p:cNvPr id="8" name="TextBox 7"/>
          <p:cNvSpPr txBox="1"/>
          <p:nvPr/>
        </p:nvSpPr>
        <p:spPr>
          <a:xfrm>
            <a:off x="7790688" y="2212848"/>
            <a:ext cx="307238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a:solidFill>
                  <a:srgbClr val="1B2433"/>
                </a:solidFill>
                <a:latin typeface="Poppins"/>
              </a:rPr>
              <a:t>javac created Main.class (bytecode)</a:t>
            </a:r>
          </a:p>
          <a:p>
            <a:pPr algn="l" marL="228600" indent="-201168">
              <a:spcAft>
                <a:spcPts val="400"/>
              </a:spcAft>
              <a:buClr>
                <a:srgbClr val="0366FF"/>
              </a:buClr>
              <a:buChar char="•"/>
            </a:pPr>
            <a:r>
              <a:rPr sz="1400" b="0" i="0">
                <a:solidFill>
                  <a:srgbClr val="1B2433"/>
                </a:solidFill>
                <a:latin typeface="Poppins"/>
              </a:rPr>
              <a:t>java started the JVM and ran it</a:t>
            </a:r>
          </a:p>
          <a:p>
            <a:pPr algn="l" marL="228600" indent="-201168">
              <a:spcAft>
                <a:spcPts val="400"/>
              </a:spcAft>
              <a:buClr>
                <a:srgbClr val="0366FF"/>
              </a:buClr>
              <a:buChar char="•"/>
            </a:pPr>
            <a:r>
              <a:rPr sz="1400" b="0" i="0">
                <a:solidFill>
                  <a:srgbClr val="1B2433"/>
                </a:solidFill>
                <a:latin typeface="Poppins"/>
              </a:rPr>
              <a:t>java Main.java does both, handy for small files</a:t>
            </a:r>
          </a:p>
        </p:txBody>
      </p:sp>
      <p:sp>
        <p:nvSpPr>
          <p:cNvPr id="9" name="TextBox 8"/>
          <p:cNvSpPr txBox="1"/>
          <p:nvPr/>
        </p:nvSpPr>
        <p:spPr>
          <a:xfrm>
            <a:off x="841248" y="5166360"/>
            <a:ext cx="10241280" cy="64008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Remember the flow from section 01: Main.java → javac → Main.class → JVM → output.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Read the error message, then fix it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rror 1"/>
          <p:cNvSpPr/>
          <p:nvPr/>
        </p:nvSpPr>
        <p:spPr>
          <a:xfrm>
            <a:off x="841248" y="1508760"/>
            <a:ext cx="4983480" cy="19659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1691639"/>
            <a:ext cx="4572000"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Missing semicolon</a:t>
            </a:r>
          </a:p>
        </p:txBody>
      </p:sp>
      <p:sp>
        <p:nvSpPr>
          <p:cNvPr id="6" name="TextBox 5"/>
          <p:cNvSpPr txBox="1"/>
          <p:nvPr/>
        </p:nvSpPr>
        <p:spPr>
          <a:xfrm>
            <a:off x="1069848" y="2240280"/>
            <a:ext cx="457200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Consolas"/>
              </a:rPr>
              <a:t>error: ';' expected</a:t>
            </a:r>
          </a:p>
        </p:txBody>
      </p:sp>
      <p:sp>
        <p:nvSpPr>
          <p:cNvPr id="7" name="Error 2"/>
          <p:cNvSpPr/>
          <p:nvPr/>
        </p:nvSpPr>
        <p:spPr>
          <a:xfrm>
            <a:off x="6053328" y="1508760"/>
            <a:ext cx="4983480" cy="196596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81928" y="1691639"/>
            <a:ext cx="4572000"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Wrong capital letter: system.out</a:t>
            </a:r>
          </a:p>
        </p:txBody>
      </p:sp>
      <p:sp>
        <p:nvSpPr>
          <p:cNvPr id="9" name="TextBox 8"/>
          <p:cNvSpPr txBox="1"/>
          <p:nvPr/>
        </p:nvSpPr>
        <p:spPr>
          <a:xfrm>
            <a:off x="6281928" y="2240280"/>
            <a:ext cx="457200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Consolas"/>
              </a:rPr>
              <a:t>error: package system does not exist</a:t>
            </a:r>
          </a:p>
        </p:txBody>
      </p:sp>
      <p:sp>
        <p:nvSpPr>
          <p:cNvPr id="10" name="Error 3"/>
          <p:cNvSpPr/>
          <p:nvPr/>
        </p:nvSpPr>
        <p:spPr>
          <a:xfrm>
            <a:off x="841248" y="3703320"/>
            <a:ext cx="4983480" cy="19659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9848" y="3886200"/>
            <a:ext cx="4572000"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Class name ≠ file name</a:t>
            </a:r>
          </a:p>
        </p:txBody>
      </p:sp>
      <p:sp>
        <p:nvSpPr>
          <p:cNvPr id="12" name="TextBox 11"/>
          <p:cNvSpPr txBox="1"/>
          <p:nvPr/>
        </p:nvSpPr>
        <p:spPr>
          <a:xfrm>
            <a:off x="1069848" y="4434840"/>
            <a:ext cx="457200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Consolas"/>
              </a:rPr>
              <a:t>error: class Hello is public, should be declared in a file named Hello.java</a:t>
            </a:r>
          </a:p>
        </p:txBody>
      </p:sp>
      <p:sp>
        <p:nvSpPr>
          <p:cNvPr id="13" name="Error 4"/>
          <p:cNvSpPr/>
          <p:nvPr/>
        </p:nvSpPr>
        <p:spPr>
          <a:xfrm>
            <a:off x="6053328" y="3703320"/>
            <a:ext cx="4983480" cy="19659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81928" y="3886200"/>
            <a:ext cx="4572000"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Missing closing quote</a:t>
            </a:r>
          </a:p>
        </p:txBody>
      </p:sp>
      <p:sp>
        <p:nvSpPr>
          <p:cNvPr id="15" name="TextBox 14"/>
          <p:cNvSpPr txBox="1"/>
          <p:nvPr/>
        </p:nvSpPr>
        <p:spPr>
          <a:xfrm>
            <a:off x="6281928" y="4434840"/>
            <a:ext cx="457200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Consolas"/>
              </a:rPr>
              <a:t>error: unclosed string literal</a:t>
            </a:r>
          </a:p>
        </p:txBody>
      </p:sp>
      <p:sp>
        <p:nvSpPr>
          <p:cNvPr id="16" name="TextBox 15"/>
          <p:cNvSpPr txBox="1"/>
          <p:nvPr/>
        </p:nvSpPr>
        <p:spPr>
          <a:xfrm>
            <a:off x="841248" y="5943600"/>
            <a:ext cx="10241280" cy="365760"/>
          </a:xfrm>
          <a:prstGeom prst="rect">
            <a:avLst/>
          </a:prstGeom>
          <a:noFill/>
        </p:spPr>
        <p:txBody>
          <a:bodyPr wrap="square" lIns="0" rIns="0" tIns="0" bIns="0" anchor="t">
            <a:spAutoFit/>
          </a:bodyPr>
          <a:lstStyle/>
          <a:p>
            <a:pPr algn="l">
              <a:spcAft>
                <a:spcPts val="600"/>
              </a:spcAft>
            </a:pPr>
            <a:r>
              <a:rPr sz="1400" b="0" i="0">
                <a:solidFill>
                  <a:srgbClr val="5B6475"/>
                </a:solidFill>
                <a:latin typeface="Poppins"/>
              </a:rPr>
              <a:t>Java is case-sensitive: Main, main and MAIN are three different names.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Variables, types and operators</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04</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How programs remember and calculate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 variable is a labeled box</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508760"/>
            <a:ext cx="2148840" cy="411480"/>
          </a:xfrm>
          <a:prstGeom prst="rect">
            <a:avLst/>
          </a:prstGeom>
          <a:noFill/>
        </p:spPr>
        <p:txBody>
          <a:bodyPr wrap="square" lIns="0" rIns="0" tIns="0" bIns="0" anchor="t">
            <a:spAutoFit/>
          </a:bodyPr>
          <a:lstStyle/>
          <a:p>
            <a:pPr algn="ctr">
              <a:spcAft>
                <a:spcPts val="600"/>
              </a:spcAft>
            </a:pPr>
            <a:r>
              <a:rPr sz="1600" b="1" i="0">
                <a:solidFill>
                  <a:srgbClr val="0366FF"/>
                </a:solidFill>
                <a:latin typeface="Poppins"/>
              </a:rPr>
              <a:t>age</a:t>
            </a:r>
          </a:p>
        </p:txBody>
      </p:sp>
      <p:sp>
        <p:nvSpPr>
          <p:cNvPr id="5" name="Var age"/>
          <p:cNvSpPr/>
          <p:nvPr/>
        </p:nvSpPr>
        <p:spPr>
          <a:xfrm>
            <a:off x="841248" y="1920240"/>
            <a:ext cx="2148840" cy="1234440"/>
          </a:xfrm>
          <a:prstGeom prst="roundRect">
            <a:avLst>
              <a:gd name="adj" fmla="val 10000"/>
            </a:avLst>
          </a:prstGeom>
          <a:solidFill>
            <a:srgbClr val="EAF1FF"/>
          </a:solidFill>
          <a:ln w="15875">
            <a:solidFill>
              <a:srgbClr val="0366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8" y="1920240"/>
            <a:ext cx="2148840" cy="1234440"/>
          </a:xfrm>
          <a:prstGeom prst="rect">
            <a:avLst/>
          </a:prstGeom>
          <a:noFill/>
        </p:spPr>
        <p:txBody>
          <a:bodyPr wrap="square" lIns="0" rIns="0" tIns="0" bIns="0" anchor="ctr">
            <a:spAutoFit/>
          </a:bodyPr>
          <a:lstStyle/>
          <a:p>
            <a:pPr algn="ctr">
              <a:spcAft>
                <a:spcPts val="600"/>
              </a:spcAft>
            </a:pPr>
            <a:r>
              <a:rPr sz="2200" b="0" i="0">
                <a:solidFill>
                  <a:srgbClr val="1B2433"/>
                </a:solidFill>
                <a:latin typeface="Consolas"/>
              </a:rPr>
              <a:t>22</a:t>
            </a:r>
          </a:p>
        </p:txBody>
      </p:sp>
      <p:sp>
        <p:nvSpPr>
          <p:cNvPr id="7" name="TextBox 6"/>
          <p:cNvSpPr txBox="1"/>
          <p:nvPr/>
        </p:nvSpPr>
        <p:spPr>
          <a:xfrm>
            <a:off x="841248" y="3246120"/>
            <a:ext cx="2148840" cy="365760"/>
          </a:xfrm>
          <a:prstGeom prst="rect">
            <a:avLst/>
          </a:prstGeom>
          <a:noFill/>
        </p:spPr>
        <p:txBody>
          <a:bodyPr wrap="square" lIns="0" rIns="0" tIns="0" bIns="0" anchor="t">
            <a:spAutoFit/>
          </a:bodyPr>
          <a:lstStyle/>
          <a:p>
            <a:pPr algn="ctr">
              <a:spcAft>
                <a:spcPts val="600"/>
              </a:spcAft>
            </a:pPr>
            <a:r>
              <a:rPr sz="1300" b="0" i="0">
                <a:solidFill>
                  <a:srgbClr val="5B6475"/>
                </a:solidFill>
                <a:latin typeface="Poppins"/>
              </a:rPr>
              <a:t>type: int</a:t>
            </a:r>
          </a:p>
        </p:txBody>
      </p:sp>
      <p:sp>
        <p:nvSpPr>
          <p:cNvPr id="8" name="TextBox 7"/>
          <p:cNvSpPr txBox="1"/>
          <p:nvPr/>
        </p:nvSpPr>
        <p:spPr>
          <a:xfrm>
            <a:off x="3218688" y="1508760"/>
            <a:ext cx="2148840" cy="411480"/>
          </a:xfrm>
          <a:prstGeom prst="rect">
            <a:avLst/>
          </a:prstGeom>
          <a:noFill/>
        </p:spPr>
        <p:txBody>
          <a:bodyPr wrap="square" lIns="0" rIns="0" tIns="0" bIns="0" anchor="t">
            <a:spAutoFit/>
          </a:bodyPr>
          <a:lstStyle/>
          <a:p>
            <a:pPr algn="ctr">
              <a:spcAft>
                <a:spcPts val="600"/>
              </a:spcAft>
            </a:pPr>
            <a:r>
              <a:rPr sz="1600" b="1" i="0">
                <a:solidFill>
                  <a:srgbClr val="8C4FF4"/>
                </a:solidFill>
                <a:latin typeface="Poppins"/>
              </a:rPr>
              <a:t>price</a:t>
            </a:r>
          </a:p>
        </p:txBody>
      </p:sp>
      <p:sp>
        <p:nvSpPr>
          <p:cNvPr id="9" name="Var price"/>
          <p:cNvSpPr/>
          <p:nvPr/>
        </p:nvSpPr>
        <p:spPr>
          <a:xfrm>
            <a:off x="3218688" y="1920240"/>
            <a:ext cx="2148840" cy="1234440"/>
          </a:xfrm>
          <a:prstGeom prst="roundRect">
            <a:avLst>
              <a:gd name="adj" fmla="val 10000"/>
            </a:avLst>
          </a:prstGeom>
          <a:solidFill>
            <a:srgbClr val="F1EAFE"/>
          </a:solidFill>
          <a:ln w="15875">
            <a:solidFill>
              <a:srgbClr val="8C4FF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218688" y="1920240"/>
            <a:ext cx="2148840" cy="1234440"/>
          </a:xfrm>
          <a:prstGeom prst="rect">
            <a:avLst/>
          </a:prstGeom>
          <a:noFill/>
        </p:spPr>
        <p:txBody>
          <a:bodyPr wrap="square" lIns="0" rIns="0" tIns="0" bIns="0" anchor="ctr">
            <a:spAutoFit/>
          </a:bodyPr>
          <a:lstStyle/>
          <a:p>
            <a:pPr algn="ctr">
              <a:spcAft>
                <a:spcPts val="600"/>
              </a:spcAft>
            </a:pPr>
            <a:r>
              <a:rPr sz="2200" b="0" i="0">
                <a:solidFill>
                  <a:srgbClr val="1B2433"/>
                </a:solidFill>
                <a:latin typeface="Consolas"/>
              </a:rPr>
              <a:t>49.99</a:t>
            </a:r>
          </a:p>
        </p:txBody>
      </p:sp>
      <p:sp>
        <p:nvSpPr>
          <p:cNvPr id="11" name="TextBox 10"/>
          <p:cNvSpPr txBox="1"/>
          <p:nvPr/>
        </p:nvSpPr>
        <p:spPr>
          <a:xfrm>
            <a:off x="3218688" y="3246120"/>
            <a:ext cx="2148840" cy="365760"/>
          </a:xfrm>
          <a:prstGeom prst="rect">
            <a:avLst/>
          </a:prstGeom>
          <a:noFill/>
        </p:spPr>
        <p:txBody>
          <a:bodyPr wrap="square" lIns="0" rIns="0" tIns="0" bIns="0" anchor="t">
            <a:spAutoFit/>
          </a:bodyPr>
          <a:lstStyle/>
          <a:p>
            <a:pPr algn="ctr">
              <a:spcAft>
                <a:spcPts val="600"/>
              </a:spcAft>
            </a:pPr>
            <a:r>
              <a:rPr sz="1300" b="0" i="0">
                <a:solidFill>
                  <a:srgbClr val="5B6475"/>
                </a:solidFill>
                <a:latin typeface="Poppins"/>
              </a:rPr>
              <a:t>type: double</a:t>
            </a:r>
          </a:p>
        </p:txBody>
      </p:sp>
      <p:sp>
        <p:nvSpPr>
          <p:cNvPr id="12" name="TextBox 11"/>
          <p:cNvSpPr txBox="1"/>
          <p:nvPr/>
        </p:nvSpPr>
        <p:spPr>
          <a:xfrm>
            <a:off x="5596128" y="1508760"/>
            <a:ext cx="2148840" cy="411480"/>
          </a:xfrm>
          <a:prstGeom prst="rect">
            <a:avLst/>
          </a:prstGeom>
          <a:noFill/>
        </p:spPr>
        <p:txBody>
          <a:bodyPr wrap="square" lIns="0" rIns="0" tIns="0" bIns="0" anchor="t">
            <a:spAutoFit/>
          </a:bodyPr>
          <a:lstStyle/>
          <a:p>
            <a:pPr algn="ctr">
              <a:spcAft>
                <a:spcPts val="600"/>
              </a:spcAft>
            </a:pPr>
            <a:r>
              <a:rPr sz="1600" b="1" i="0">
                <a:solidFill>
                  <a:srgbClr val="0E2841"/>
                </a:solidFill>
                <a:latin typeface="Poppins"/>
              </a:rPr>
              <a:t>name</a:t>
            </a:r>
          </a:p>
        </p:txBody>
      </p:sp>
      <p:sp>
        <p:nvSpPr>
          <p:cNvPr id="13" name="Var name"/>
          <p:cNvSpPr/>
          <p:nvPr/>
        </p:nvSpPr>
        <p:spPr>
          <a:xfrm>
            <a:off x="5596128" y="1920240"/>
            <a:ext cx="2148840" cy="1234440"/>
          </a:xfrm>
          <a:prstGeom prst="roundRect">
            <a:avLst>
              <a:gd name="adj" fmla="val 10000"/>
            </a:avLst>
          </a:prstGeom>
          <a:solidFill>
            <a:srgbClr val="E3F9FA"/>
          </a:solidFill>
          <a:ln w="15875">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596128" y="1920240"/>
            <a:ext cx="2148840" cy="1234440"/>
          </a:xfrm>
          <a:prstGeom prst="rect">
            <a:avLst/>
          </a:prstGeom>
          <a:noFill/>
        </p:spPr>
        <p:txBody>
          <a:bodyPr wrap="square" lIns="0" rIns="0" tIns="0" bIns="0" anchor="ctr">
            <a:spAutoFit/>
          </a:bodyPr>
          <a:lstStyle/>
          <a:p>
            <a:pPr algn="ctr">
              <a:spcAft>
                <a:spcPts val="600"/>
              </a:spcAft>
            </a:pPr>
            <a:r>
              <a:rPr sz="2200" b="0" i="0">
                <a:solidFill>
                  <a:srgbClr val="1B2433"/>
                </a:solidFill>
                <a:latin typeface="Consolas"/>
              </a:rPr>
              <a:t>"Mona"</a:t>
            </a:r>
          </a:p>
        </p:txBody>
      </p:sp>
      <p:sp>
        <p:nvSpPr>
          <p:cNvPr id="15" name="TextBox 14"/>
          <p:cNvSpPr txBox="1"/>
          <p:nvPr/>
        </p:nvSpPr>
        <p:spPr>
          <a:xfrm>
            <a:off x="5596128" y="3246120"/>
            <a:ext cx="2148840" cy="365760"/>
          </a:xfrm>
          <a:prstGeom prst="rect">
            <a:avLst/>
          </a:prstGeom>
          <a:noFill/>
        </p:spPr>
        <p:txBody>
          <a:bodyPr wrap="square" lIns="0" rIns="0" tIns="0" bIns="0" anchor="t">
            <a:spAutoFit/>
          </a:bodyPr>
          <a:lstStyle/>
          <a:p>
            <a:pPr algn="ctr">
              <a:spcAft>
                <a:spcPts val="600"/>
              </a:spcAft>
            </a:pPr>
            <a:r>
              <a:rPr sz="1300" b="0" i="0">
                <a:solidFill>
                  <a:srgbClr val="5B6475"/>
                </a:solidFill>
                <a:latin typeface="Poppins"/>
              </a:rPr>
              <a:t>type: String</a:t>
            </a:r>
          </a:p>
        </p:txBody>
      </p:sp>
      <p:sp>
        <p:nvSpPr>
          <p:cNvPr id="16" name="Code"/>
          <p:cNvSpPr/>
          <p:nvPr/>
        </p:nvSpPr>
        <p:spPr>
          <a:xfrm>
            <a:off x="841248" y="3840480"/>
            <a:ext cx="6903720" cy="210312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600" i="0">
                <a:solidFill>
                  <a:srgbClr val="B9A6FF"/>
                </a:solidFill>
                <a:latin typeface="Consolas"/>
              </a:rPr>
              <a:t>int</a:t>
            </a:r>
            <a:r>
              <a:rPr sz="1600" i="0">
                <a:solidFill>
                  <a:srgbClr val="EEF2FA"/>
                </a:solidFill>
                <a:latin typeface="Consolas"/>
              </a:rPr>
              <a:t> </a:t>
            </a:r>
            <a:r>
              <a:rPr sz="1600" i="0">
                <a:solidFill>
                  <a:srgbClr val="EEF2FA"/>
                </a:solidFill>
                <a:latin typeface="Consolas"/>
              </a:rPr>
              <a:t>age</a:t>
            </a:r>
            <a:r>
              <a:rPr sz="1600" i="0">
                <a:solidFill>
                  <a:srgbClr val="EEF2FA"/>
                </a:solidFill>
                <a:latin typeface="Consolas"/>
              </a:rPr>
              <a:t> = </a:t>
            </a:r>
            <a:r>
              <a:rPr sz="1600" i="0">
                <a:solidFill>
                  <a:srgbClr val="FFD58A"/>
                </a:solidFill>
                <a:latin typeface="Consolas"/>
              </a:rPr>
              <a:t>22</a:t>
            </a:r>
            <a:r>
              <a:rPr sz="1600" i="0">
                <a:solidFill>
                  <a:srgbClr val="EEF2FA"/>
                </a:solidFill>
                <a:latin typeface="Consolas"/>
              </a:rPr>
              <a:t>;          </a:t>
            </a:r>
            <a:r>
              <a:rPr sz="1600" i="1">
                <a:solidFill>
                  <a:srgbClr val="8FD8DB"/>
                </a:solidFill>
                <a:latin typeface="Consolas"/>
              </a:rPr>
              <a:t>// declare + assign</a:t>
            </a:r>
          </a:p>
          <a:p>
            <a:pPr algn="l">
              <a:lnSpc>
                <a:spcPct val="105000"/>
              </a:lnSpc>
              <a:spcAft>
                <a:spcPts val="0"/>
              </a:spcAft>
            </a:pPr>
            <a:r>
              <a:rPr sz="1600" i="0">
                <a:solidFill>
                  <a:srgbClr val="B9A6FF"/>
                </a:solidFill>
                <a:latin typeface="Consolas"/>
              </a:rPr>
              <a:t>double</a:t>
            </a:r>
            <a:r>
              <a:rPr sz="1600" i="0">
                <a:solidFill>
                  <a:srgbClr val="EEF2FA"/>
                </a:solidFill>
                <a:latin typeface="Consolas"/>
              </a:rPr>
              <a:t> </a:t>
            </a:r>
            <a:r>
              <a:rPr sz="1600" i="0">
                <a:solidFill>
                  <a:srgbClr val="EEF2FA"/>
                </a:solidFill>
                <a:latin typeface="Consolas"/>
              </a:rPr>
              <a:t>price</a:t>
            </a:r>
            <a:r>
              <a:rPr sz="1600" i="0">
                <a:solidFill>
                  <a:srgbClr val="EEF2FA"/>
                </a:solidFill>
                <a:latin typeface="Consolas"/>
              </a:rPr>
              <a:t> = </a:t>
            </a:r>
            <a:r>
              <a:rPr sz="1600" i="0">
                <a:solidFill>
                  <a:srgbClr val="FFD58A"/>
                </a:solidFill>
                <a:latin typeface="Consolas"/>
              </a:rPr>
              <a:t>49</a:t>
            </a:r>
            <a:r>
              <a:rPr sz="1600" i="0">
                <a:solidFill>
                  <a:srgbClr val="EEF2FA"/>
                </a:solidFill>
                <a:latin typeface="Consolas"/>
              </a:rPr>
              <a:t>.</a:t>
            </a:r>
            <a:r>
              <a:rPr sz="1600" i="0">
                <a:solidFill>
                  <a:srgbClr val="FFD58A"/>
                </a:solidFill>
                <a:latin typeface="Consolas"/>
              </a:rPr>
              <a:t>99</a:t>
            </a:r>
            <a:r>
              <a:rPr sz="1600" i="0">
                <a:solidFill>
                  <a:srgbClr val="EEF2FA"/>
                </a:solidFill>
                <a:latin typeface="Consolas"/>
              </a:rPr>
              <a:t>;</a:t>
            </a:r>
          </a:p>
          <a:p>
            <a:pPr algn="l">
              <a:lnSpc>
                <a:spcPct val="105000"/>
              </a:lnSpc>
              <a:spcAft>
                <a:spcPts val="0"/>
              </a:spcAft>
            </a:pPr>
            <a:r>
              <a:rPr sz="1600" i="0">
                <a:solidFill>
                  <a:srgbClr val="B9A6FF"/>
                </a:solidFill>
                <a:latin typeface="Consolas"/>
              </a:rPr>
              <a:t>String</a:t>
            </a:r>
            <a:r>
              <a:rPr sz="1600" i="0">
                <a:solidFill>
                  <a:srgbClr val="EEF2FA"/>
                </a:solidFill>
                <a:latin typeface="Consolas"/>
              </a:rPr>
              <a:t> </a:t>
            </a:r>
            <a:r>
              <a:rPr sz="1600" i="0">
                <a:solidFill>
                  <a:srgbClr val="EEF2FA"/>
                </a:solidFill>
                <a:latin typeface="Consolas"/>
              </a:rPr>
              <a:t>name</a:t>
            </a:r>
            <a:r>
              <a:rPr sz="1600" i="0">
                <a:solidFill>
                  <a:srgbClr val="EEF2FA"/>
                </a:solidFill>
                <a:latin typeface="Consolas"/>
              </a:rPr>
              <a:t> = </a:t>
            </a:r>
            <a:r>
              <a:rPr sz="1600" i="0">
                <a:solidFill>
                  <a:srgbClr val="9EF0C9"/>
                </a:solidFill>
                <a:latin typeface="Consolas"/>
              </a:rPr>
              <a:t>"Mona"</a:t>
            </a:r>
            <a:r>
              <a:rPr sz="1600" i="0">
                <a:solidFill>
                  <a:srgbClr val="EEF2FA"/>
                </a:solidFill>
                <a:latin typeface="Consolas"/>
              </a:rPr>
              <a:t>;</a:t>
            </a:r>
          </a:p>
          <a:p>
            <a:pPr algn="l">
              <a:lnSpc>
                <a:spcPct val="105000"/>
              </a:lnSpc>
              <a:spcAft>
                <a:spcPts val="0"/>
              </a:spcAft>
            </a:pPr>
            <a:r>
              <a:rPr sz="1600" i="0">
                <a:solidFill>
                  <a:srgbClr val="EEF2FA"/>
                </a:solidFill>
                <a:latin typeface="Consolas"/>
              </a:rPr>
              <a:t>age</a:t>
            </a:r>
            <a:r>
              <a:rPr sz="1600" i="0">
                <a:solidFill>
                  <a:srgbClr val="EEF2FA"/>
                </a:solidFill>
                <a:latin typeface="Consolas"/>
              </a:rPr>
              <a:t> = </a:t>
            </a:r>
            <a:r>
              <a:rPr sz="1600" i="0">
                <a:solidFill>
                  <a:srgbClr val="FFD58A"/>
                </a:solidFill>
                <a:latin typeface="Consolas"/>
              </a:rPr>
              <a:t>23</a:t>
            </a:r>
            <a:r>
              <a:rPr sz="1600" i="0">
                <a:solidFill>
                  <a:srgbClr val="EEF2FA"/>
                </a:solidFill>
                <a:latin typeface="Consolas"/>
              </a:rPr>
              <a:t>;              </a:t>
            </a:r>
            <a:r>
              <a:rPr sz="1600" i="1">
                <a:solidFill>
                  <a:srgbClr val="8FD8DB"/>
                </a:solidFill>
                <a:latin typeface="Consolas"/>
              </a:rPr>
              <a:t>// change the value</a:t>
            </a:r>
          </a:p>
        </p:txBody>
      </p:sp>
      <p:sp>
        <p:nvSpPr>
          <p:cNvPr id="17" name="TextBox 16"/>
          <p:cNvSpPr txBox="1"/>
          <p:nvPr/>
        </p:nvSpPr>
        <p:spPr>
          <a:xfrm>
            <a:off x="1069848" y="3931920"/>
            <a:ext cx="644652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demos/Variables.java</a:t>
            </a:r>
          </a:p>
        </p:txBody>
      </p:sp>
      <p:sp>
        <p:nvSpPr>
          <p:cNvPr id="18" name="Card Three parts"/>
          <p:cNvSpPr/>
          <p:nvPr/>
        </p:nvSpPr>
        <p:spPr>
          <a:xfrm>
            <a:off x="8092440" y="1508760"/>
            <a:ext cx="2971800" cy="44348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93608" y="1709928"/>
            <a:ext cx="256946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Three parts</a:t>
            </a:r>
          </a:p>
        </p:txBody>
      </p:sp>
      <p:sp>
        <p:nvSpPr>
          <p:cNvPr id="20" name="TextBox 19"/>
          <p:cNvSpPr txBox="1"/>
          <p:nvPr/>
        </p:nvSpPr>
        <p:spPr>
          <a:xfrm>
            <a:off x="8293608" y="2167128"/>
            <a:ext cx="2569464" cy="3575303"/>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a:solidFill>
                  <a:srgbClr val="1B2433"/>
                </a:solidFill>
                <a:latin typeface="Poppins"/>
              </a:rPr>
              <a:t>Type: what kind of data</a:t>
            </a:r>
          </a:p>
          <a:p>
            <a:pPr algn="l" marL="228600" indent="-201168">
              <a:spcAft>
                <a:spcPts val="400"/>
              </a:spcAft>
              <a:buClr>
                <a:srgbClr val="0366FF"/>
              </a:buClr>
              <a:buChar char="•"/>
            </a:pPr>
            <a:r>
              <a:rPr sz="1400" b="0" i="0">
                <a:solidFill>
                  <a:srgbClr val="1B2433"/>
                </a:solidFill>
                <a:latin typeface="Poppins"/>
              </a:rPr>
              <a:t>Name: how you refer to it</a:t>
            </a:r>
          </a:p>
          <a:p>
            <a:pPr algn="l" marL="228600" indent="-201168">
              <a:spcAft>
                <a:spcPts val="400"/>
              </a:spcAft>
              <a:buClr>
                <a:srgbClr val="0366FF"/>
              </a:buClr>
              <a:buChar char="•"/>
            </a:pPr>
            <a:r>
              <a:rPr sz="1400" b="0" i="0">
                <a:solidFill>
                  <a:srgbClr val="1B2433"/>
                </a:solidFill>
                <a:latin typeface="Poppins"/>
              </a:rPr>
              <a:t>Value: the data itself</a:t>
            </a:r>
          </a:p>
          <a:p>
            <a:pPr algn="l" marL="228600" indent="-201168">
              <a:spcAft>
                <a:spcPts val="400"/>
              </a:spcAft>
              <a:buClr>
                <a:srgbClr val="0366FF"/>
              </a:buClr>
              <a:buChar char="•"/>
            </a:pPr>
            <a:r>
              <a:rPr sz="1400" b="0" i="0">
                <a:solidFill>
                  <a:srgbClr val="1B2433"/>
                </a:solidFill>
                <a:latin typeface="Poppins"/>
              </a:rPr>
              <a:t>= means “store”, not “equals”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The types you will use every day</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41248" y="1508760"/>
          <a:ext cx="10241280" cy="4206240"/>
        </p:xfrm>
        <a:graphic>
          <a:graphicData uri="http://schemas.openxmlformats.org/drawingml/2006/table">
            <a:tbl>
              <a:tblPr firstRow="1" bandRow="1">
                <a:tableStyleId>{5C22544A-7EE6-4342-B048-85BDC9FD1C3A}</a:tableStyleId>
              </a:tblPr>
              <a:tblGrid>
                <a:gridCol w="1737360"/>
                <a:gridCol w="4023360"/>
                <a:gridCol w="4480560"/>
              </a:tblGrid>
              <a:tr h="600891">
                <a:tc>
                  <a:txBody>
                    <a:bodyPr wrap="square" anchor="ctr"/>
                    <a:lstStyle/>
                    <a:p>
                      <a:pPr algn="l">
                        <a:spcAft>
                          <a:spcPts val="0"/>
                        </a:spcAft>
                      </a:pPr>
                      <a:r>
                        <a:rPr sz="1500" b="1" i="0">
                          <a:solidFill>
                            <a:srgbClr val="FFFFFF"/>
                          </a:solidFill>
                          <a:latin typeface="Poppins"/>
                        </a:rPr>
                        <a:t>Type</a:t>
                      </a:r>
                    </a:p>
                  </a:txBody>
                  <a:tcPr>
                    <a:solidFill>
                      <a:srgbClr val="0366FF"/>
                    </a:solidFill>
                  </a:tcPr>
                </a:tc>
                <a:tc>
                  <a:txBody>
                    <a:bodyPr wrap="square" anchor="ctr"/>
                    <a:lstStyle/>
                    <a:p>
                      <a:pPr algn="l">
                        <a:spcAft>
                          <a:spcPts val="0"/>
                        </a:spcAft>
                      </a:pPr>
                      <a:r>
                        <a:rPr sz="1500" b="1" i="0">
                          <a:solidFill>
                            <a:srgbClr val="FFFFFF"/>
                          </a:solidFill>
                          <a:latin typeface="Poppins"/>
                        </a:rPr>
                        <a:t>Holds</a:t>
                      </a:r>
                    </a:p>
                  </a:txBody>
                  <a:tcPr>
                    <a:solidFill>
                      <a:srgbClr val="0366FF"/>
                    </a:solidFill>
                  </a:tcPr>
                </a:tc>
                <a:tc>
                  <a:txBody>
                    <a:bodyPr wrap="square" anchor="ctr"/>
                    <a:lstStyle/>
                    <a:p>
                      <a:pPr algn="l">
                        <a:spcAft>
                          <a:spcPts val="0"/>
                        </a:spcAft>
                      </a:pPr>
                      <a:r>
                        <a:rPr sz="1500" b="1" i="0">
                          <a:solidFill>
                            <a:srgbClr val="FFFFFF"/>
                          </a:solidFill>
                          <a:latin typeface="Poppins"/>
                        </a:rPr>
                        <a:t>Example</a:t>
                      </a:r>
                    </a:p>
                  </a:txBody>
                  <a:tcPr>
                    <a:solidFill>
                      <a:srgbClr val="0366FF"/>
                    </a:solidFill>
                  </a:tcPr>
                </a:tc>
              </a:tr>
              <a:tr h="600891">
                <a:tc>
                  <a:txBody>
                    <a:bodyPr wrap="square" anchor="ctr"/>
                    <a:lstStyle/>
                    <a:p>
                      <a:pPr algn="l">
                        <a:spcAft>
                          <a:spcPts val="0"/>
                        </a:spcAft>
                      </a:pPr>
                      <a:r>
                        <a:rPr sz="1500" b="0" i="0">
                          <a:solidFill>
                            <a:srgbClr val="8C4FF4"/>
                          </a:solidFill>
                          <a:latin typeface="Consolas"/>
                        </a:rPr>
                        <a:t>int</a:t>
                      </a:r>
                    </a:p>
                  </a:txBody>
                  <a:tcPr>
                    <a:solidFill>
                      <a:srgbClr val="F3F5F9"/>
                    </a:solidFill>
                  </a:tcPr>
                </a:tc>
                <a:tc>
                  <a:txBody>
                    <a:bodyPr wrap="square" anchor="ctr"/>
                    <a:lstStyle/>
                    <a:p>
                      <a:pPr algn="l">
                        <a:spcAft>
                          <a:spcPts val="0"/>
                        </a:spcAft>
                      </a:pPr>
                      <a:r>
                        <a:rPr sz="1500" b="0" i="0">
                          <a:solidFill>
                            <a:srgbClr val="1B2433"/>
                          </a:solidFill>
                          <a:latin typeface="Poppins"/>
                        </a:rPr>
                        <a:t>Whole numbers (up to ~2.1 billion)</a:t>
                      </a:r>
                    </a:p>
                  </a:txBody>
                  <a:tcPr>
                    <a:solidFill>
                      <a:srgbClr val="F3F5F9"/>
                    </a:solidFill>
                  </a:tcPr>
                </a:tc>
                <a:tc>
                  <a:txBody>
                    <a:bodyPr wrap="square" anchor="ctr"/>
                    <a:lstStyle/>
                    <a:p>
                      <a:pPr algn="l">
                        <a:spcAft>
                          <a:spcPts val="0"/>
                        </a:spcAft>
                      </a:pPr>
                      <a:r>
                        <a:rPr sz="1500" b="0" i="0">
                          <a:solidFill>
                            <a:srgbClr val="1B2433"/>
                          </a:solidFill>
                          <a:latin typeface="Consolas"/>
                        </a:rPr>
                        <a:t>int students = 30;</a:t>
                      </a:r>
                    </a:p>
                  </a:txBody>
                  <a:tcPr>
                    <a:solidFill>
                      <a:srgbClr val="F3F5F9"/>
                    </a:solidFill>
                  </a:tcPr>
                </a:tc>
              </a:tr>
              <a:tr h="600891">
                <a:tc>
                  <a:txBody>
                    <a:bodyPr wrap="square" anchor="ctr"/>
                    <a:lstStyle/>
                    <a:p>
                      <a:pPr algn="l">
                        <a:spcAft>
                          <a:spcPts val="0"/>
                        </a:spcAft>
                      </a:pPr>
                      <a:r>
                        <a:rPr sz="1500" b="0" i="0">
                          <a:solidFill>
                            <a:srgbClr val="8C4FF4"/>
                          </a:solidFill>
                          <a:latin typeface="Consolas"/>
                        </a:rPr>
                        <a:t>long</a:t>
                      </a:r>
                    </a:p>
                  </a:txBody>
                  <a:tcPr>
                    <a:solidFill>
                      <a:srgbClr val="FFFFFF"/>
                    </a:solidFill>
                  </a:tcPr>
                </a:tc>
                <a:tc>
                  <a:txBody>
                    <a:bodyPr wrap="square" anchor="ctr"/>
                    <a:lstStyle/>
                    <a:p>
                      <a:pPr algn="l">
                        <a:spcAft>
                          <a:spcPts val="0"/>
                        </a:spcAft>
                      </a:pPr>
                      <a:r>
                        <a:rPr sz="1500" b="0" i="0">
                          <a:solidFill>
                            <a:srgbClr val="1B2433"/>
                          </a:solidFill>
                          <a:latin typeface="Poppins"/>
                        </a:rPr>
                        <a:t>Very large whole numbers</a:t>
                      </a:r>
                    </a:p>
                  </a:txBody>
                  <a:tcPr>
                    <a:solidFill>
                      <a:srgbClr val="FFFFFF"/>
                    </a:solidFill>
                  </a:tcPr>
                </a:tc>
                <a:tc>
                  <a:txBody>
                    <a:bodyPr wrap="square" anchor="ctr"/>
                    <a:lstStyle/>
                    <a:p>
                      <a:pPr algn="l">
                        <a:spcAft>
                          <a:spcPts val="0"/>
                        </a:spcAft>
                      </a:pPr>
                      <a:r>
                        <a:rPr sz="1500" b="0" i="0">
                          <a:solidFill>
                            <a:srgbClr val="1B2433"/>
                          </a:solidFill>
                          <a:latin typeface="Consolas"/>
                        </a:rPr>
                        <a:t>long views = 3_000_000_000L;</a:t>
                      </a:r>
                    </a:p>
                  </a:txBody>
                  <a:tcPr>
                    <a:solidFill>
                      <a:srgbClr val="FFFFFF"/>
                    </a:solidFill>
                  </a:tcPr>
                </a:tc>
              </a:tr>
              <a:tr h="600891">
                <a:tc>
                  <a:txBody>
                    <a:bodyPr wrap="square" anchor="ctr"/>
                    <a:lstStyle/>
                    <a:p>
                      <a:pPr algn="l">
                        <a:spcAft>
                          <a:spcPts val="0"/>
                        </a:spcAft>
                      </a:pPr>
                      <a:r>
                        <a:rPr sz="1500" b="0" i="0">
                          <a:solidFill>
                            <a:srgbClr val="8C4FF4"/>
                          </a:solidFill>
                          <a:latin typeface="Consolas"/>
                        </a:rPr>
                        <a:t>double</a:t>
                      </a:r>
                    </a:p>
                  </a:txBody>
                  <a:tcPr>
                    <a:solidFill>
                      <a:srgbClr val="F3F5F9"/>
                    </a:solidFill>
                  </a:tcPr>
                </a:tc>
                <a:tc>
                  <a:txBody>
                    <a:bodyPr wrap="square" anchor="ctr"/>
                    <a:lstStyle/>
                    <a:p>
                      <a:pPr algn="l">
                        <a:spcAft>
                          <a:spcPts val="0"/>
                        </a:spcAft>
                      </a:pPr>
                      <a:r>
                        <a:rPr sz="1500" b="0" i="0">
                          <a:solidFill>
                            <a:srgbClr val="1B2433"/>
                          </a:solidFill>
                          <a:latin typeface="Poppins"/>
                        </a:rPr>
                        <a:t>Decimal numbers</a:t>
                      </a:r>
                    </a:p>
                  </a:txBody>
                  <a:tcPr>
                    <a:solidFill>
                      <a:srgbClr val="F3F5F9"/>
                    </a:solidFill>
                  </a:tcPr>
                </a:tc>
                <a:tc>
                  <a:txBody>
                    <a:bodyPr wrap="square" anchor="ctr"/>
                    <a:lstStyle/>
                    <a:p>
                      <a:pPr algn="l">
                        <a:spcAft>
                          <a:spcPts val="0"/>
                        </a:spcAft>
                      </a:pPr>
                      <a:r>
                        <a:rPr sz="1500" b="0" i="0">
                          <a:solidFill>
                            <a:srgbClr val="1B2433"/>
                          </a:solidFill>
                          <a:latin typeface="Consolas"/>
                        </a:rPr>
                        <a:t>double salary = 15000.50;</a:t>
                      </a:r>
                    </a:p>
                  </a:txBody>
                  <a:tcPr>
                    <a:solidFill>
                      <a:srgbClr val="F3F5F9"/>
                    </a:solidFill>
                  </a:tcPr>
                </a:tc>
              </a:tr>
              <a:tr h="600891">
                <a:tc>
                  <a:txBody>
                    <a:bodyPr wrap="square" anchor="ctr"/>
                    <a:lstStyle/>
                    <a:p>
                      <a:pPr algn="l">
                        <a:spcAft>
                          <a:spcPts val="0"/>
                        </a:spcAft>
                      </a:pPr>
                      <a:r>
                        <a:rPr sz="1500" b="0" i="0">
                          <a:solidFill>
                            <a:srgbClr val="8C4FF4"/>
                          </a:solidFill>
                          <a:latin typeface="Consolas"/>
                        </a:rPr>
                        <a:t>boolean</a:t>
                      </a:r>
                    </a:p>
                  </a:txBody>
                  <a:tcPr>
                    <a:solidFill>
                      <a:srgbClr val="FFFFFF"/>
                    </a:solidFill>
                  </a:tcPr>
                </a:tc>
                <a:tc>
                  <a:txBody>
                    <a:bodyPr wrap="square" anchor="ctr"/>
                    <a:lstStyle/>
                    <a:p>
                      <a:pPr algn="l">
                        <a:spcAft>
                          <a:spcPts val="0"/>
                        </a:spcAft>
                      </a:pPr>
                      <a:r>
                        <a:rPr sz="1500" b="0" i="0">
                          <a:solidFill>
                            <a:srgbClr val="1B2433"/>
                          </a:solidFill>
                          <a:latin typeface="Poppins"/>
                        </a:rPr>
                        <a:t>true or false</a:t>
                      </a:r>
                    </a:p>
                  </a:txBody>
                  <a:tcPr>
                    <a:solidFill>
                      <a:srgbClr val="FFFFFF"/>
                    </a:solidFill>
                  </a:tcPr>
                </a:tc>
                <a:tc>
                  <a:txBody>
                    <a:bodyPr wrap="square" anchor="ctr"/>
                    <a:lstStyle/>
                    <a:p>
                      <a:pPr algn="l">
                        <a:spcAft>
                          <a:spcPts val="0"/>
                        </a:spcAft>
                      </a:pPr>
                      <a:r>
                        <a:rPr sz="1500" b="0" i="0">
                          <a:solidFill>
                            <a:srgbClr val="1B2433"/>
                          </a:solidFill>
                          <a:latin typeface="Consolas"/>
                        </a:rPr>
                        <a:t>boolean isActive = true;</a:t>
                      </a:r>
                    </a:p>
                  </a:txBody>
                  <a:tcPr>
                    <a:solidFill>
                      <a:srgbClr val="FFFFFF"/>
                    </a:solidFill>
                  </a:tcPr>
                </a:tc>
              </a:tr>
              <a:tr h="600891">
                <a:tc>
                  <a:txBody>
                    <a:bodyPr wrap="square" anchor="ctr"/>
                    <a:lstStyle/>
                    <a:p>
                      <a:pPr algn="l">
                        <a:spcAft>
                          <a:spcPts val="0"/>
                        </a:spcAft>
                      </a:pPr>
                      <a:r>
                        <a:rPr sz="1500" b="0" i="0">
                          <a:solidFill>
                            <a:srgbClr val="8C4FF4"/>
                          </a:solidFill>
                          <a:latin typeface="Consolas"/>
                        </a:rPr>
                        <a:t>char</a:t>
                      </a:r>
                    </a:p>
                  </a:txBody>
                  <a:tcPr>
                    <a:solidFill>
                      <a:srgbClr val="F3F5F9"/>
                    </a:solidFill>
                  </a:tcPr>
                </a:tc>
                <a:tc>
                  <a:txBody>
                    <a:bodyPr wrap="square" anchor="ctr"/>
                    <a:lstStyle/>
                    <a:p>
                      <a:pPr algn="l">
                        <a:spcAft>
                          <a:spcPts val="0"/>
                        </a:spcAft>
                      </a:pPr>
                      <a:r>
                        <a:rPr sz="1500" b="0" i="0">
                          <a:solidFill>
                            <a:srgbClr val="1B2433"/>
                          </a:solidFill>
                          <a:latin typeface="Poppins"/>
                        </a:rPr>
                        <a:t>One character</a:t>
                      </a:r>
                    </a:p>
                  </a:txBody>
                  <a:tcPr>
                    <a:solidFill>
                      <a:srgbClr val="F3F5F9"/>
                    </a:solidFill>
                  </a:tcPr>
                </a:tc>
                <a:tc>
                  <a:txBody>
                    <a:bodyPr wrap="square" anchor="ctr"/>
                    <a:lstStyle/>
                    <a:p>
                      <a:pPr algn="l">
                        <a:spcAft>
                          <a:spcPts val="0"/>
                        </a:spcAft>
                      </a:pPr>
                      <a:r>
                        <a:rPr sz="1500" b="0" i="0">
                          <a:solidFill>
                            <a:srgbClr val="1B2433"/>
                          </a:solidFill>
                          <a:latin typeface="Consolas"/>
                        </a:rPr>
                        <a:t>char grade = 'A';</a:t>
                      </a:r>
                    </a:p>
                  </a:txBody>
                  <a:tcPr>
                    <a:solidFill>
                      <a:srgbClr val="F3F5F9"/>
                    </a:solidFill>
                  </a:tcPr>
                </a:tc>
              </a:tr>
              <a:tr h="600894">
                <a:tc>
                  <a:txBody>
                    <a:bodyPr wrap="square" anchor="ctr"/>
                    <a:lstStyle/>
                    <a:p>
                      <a:pPr algn="l">
                        <a:spcAft>
                          <a:spcPts val="0"/>
                        </a:spcAft>
                      </a:pPr>
                      <a:r>
                        <a:rPr sz="1500" b="0" i="0">
                          <a:solidFill>
                            <a:srgbClr val="8C4FF4"/>
                          </a:solidFill>
                          <a:latin typeface="Consolas"/>
                        </a:rPr>
                        <a:t>String</a:t>
                      </a:r>
                    </a:p>
                  </a:txBody>
                  <a:tcPr>
                    <a:solidFill>
                      <a:srgbClr val="FFFFFF"/>
                    </a:solidFill>
                  </a:tcPr>
                </a:tc>
                <a:tc>
                  <a:txBody>
                    <a:bodyPr wrap="square" anchor="ctr"/>
                    <a:lstStyle/>
                    <a:p>
                      <a:pPr algn="l">
                        <a:spcAft>
                          <a:spcPts val="0"/>
                        </a:spcAft>
                      </a:pPr>
                      <a:r>
                        <a:rPr sz="1500" b="0" i="0">
                          <a:solidFill>
                            <a:srgbClr val="1B2433"/>
                          </a:solidFill>
                          <a:latin typeface="Poppins"/>
                        </a:rPr>
                        <a:t>Text (a class, not a primitive)</a:t>
                      </a:r>
                    </a:p>
                  </a:txBody>
                  <a:tcPr>
                    <a:solidFill>
                      <a:srgbClr val="FFFFFF"/>
                    </a:solidFill>
                  </a:tcPr>
                </a:tc>
                <a:tc>
                  <a:txBody>
                    <a:bodyPr wrap="square" anchor="ctr"/>
                    <a:lstStyle/>
                    <a:p>
                      <a:pPr algn="l">
                        <a:spcAft>
                          <a:spcPts val="0"/>
                        </a:spcAft>
                      </a:pPr>
                      <a:r>
                        <a:rPr sz="1500" b="0" i="0">
                          <a:solidFill>
                            <a:srgbClr val="1B2433"/>
                          </a:solidFill>
                          <a:latin typeface="Consolas"/>
                        </a:rPr>
                        <a:t>String city = "Cairo";</a:t>
                      </a:r>
                    </a:p>
                  </a:txBody>
                  <a:tcP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Naming, var and final</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Naming rules"/>
          <p:cNvSpPr/>
          <p:nvPr/>
        </p:nvSpPr>
        <p:spPr>
          <a:xfrm>
            <a:off x="841248" y="1508760"/>
            <a:ext cx="475488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4352544" cy="457200"/>
          </a:xfrm>
          <a:prstGeom prst="rect">
            <a:avLst/>
          </a:prstGeom>
          <a:noFill/>
        </p:spPr>
        <p:txBody>
          <a:bodyPr wrap="square" lIns="0" rIns="0" tIns="0" bIns="0" anchor="t">
            <a:spAutoFit/>
          </a:bodyPr>
          <a:lstStyle/>
          <a:p>
            <a:pPr algn="l">
              <a:spcAft>
                <a:spcPts val="600"/>
              </a:spcAft>
            </a:pPr>
            <a:r>
              <a:rPr sz="1800" b="1" i="0">
                <a:solidFill>
                  <a:srgbClr val="0366FF"/>
                </a:solidFill>
                <a:latin typeface="Poppins"/>
              </a:rPr>
              <a:t>Naming rules</a:t>
            </a:r>
          </a:p>
        </p:txBody>
      </p:sp>
      <p:sp>
        <p:nvSpPr>
          <p:cNvPr id="6" name="TextBox 5"/>
          <p:cNvSpPr txBox="1"/>
          <p:nvPr/>
        </p:nvSpPr>
        <p:spPr>
          <a:xfrm>
            <a:off x="1042416" y="2167128"/>
            <a:ext cx="435254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sz="1500" b="0" i="0">
                <a:solidFill>
                  <a:srgbClr val="1B2433"/>
                </a:solidFill>
                <a:latin typeface="Poppins"/>
              </a:rPr>
              <a:t>camelCase for variables: totalPrice</a:t>
            </a:r>
          </a:p>
          <a:p>
            <a:pPr algn="l" marL="228600" indent="-201168">
              <a:spcAft>
                <a:spcPts val="400"/>
              </a:spcAft>
              <a:buClr>
                <a:srgbClr val="0366FF"/>
              </a:buClr>
              <a:buChar char="•"/>
            </a:pPr>
            <a:r>
              <a:rPr sz="1500" b="0" i="0">
                <a:solidFill>
                  <a:srgbClr val="1B2433"/>
                </a:solidFill>
                <a:latin typeface="Poppins"/>
              </a:rPr>
              <a:t>UPPER_SNAKE for constants: MAX_SEATS</a:t>
            </a:r>
          </a:p>
          <a:p>
            <a:pPr algn="l" marL="228600" indent="-201168">
              <a:spcAft>
                <a:spcPts val="400"/>
              </a:spcAft>
              <a:buClr>
                <a:srgbClr val="0366FF"/>
              </a:buClr>
              <a:buChar char="•"/>
            </a:pPr>
            <a:r>
              <a:rPr sz="1500" b="0" i="0">
                <a:solidFill>
                  <a:srgbClr val="1B2433"/>
                </a:solidFill>
                <a:latin typeface="Poppins"/>
              </a:rPr>
              <a:t>Start with a letter; no spaces</a:t>
            </a:r>
          </a:p>
          <a:p>
            <a:pPr algn="l" marL="228600" indent="-201168">
              <a:spcAft>
                <a:spcPts val="400"/>
              </a:spcAft>
              <a:buClr>
                <a:srgbClr val="0366FF"/>
              </a:buClr>
              <a:buChar char="•"/>
            </a:pPr>
            <a:r>
              <a:rPr sz="1500" b="0" i="0">
                <a:solidFill>
                  <a:srgbClr val="1B2433"/>
                </a:solidFill>
                <a:latin typeface="Poppins"/>
              </a:rPr>
              <a:t>Case-sensitive: age ≠ Age</a:t>
            </a:r>
          </a:p>
          <a:p>
            <a:pPr algn="l" marL="228600" indent="-201168">
              <a:spcAft>
                <a:spcPts val="400"/>
              </a:spcAft>
              <a:buClr>
                <a:srgbClr val="0366FF"/>
              </a:buClr>
              <a:buChar char="•"/>
            </a:pPr>
            <a:r>
              <a:rPr sz="1500" b="0" i="0">
                <a:solidFill>
                  <a:srgbClr val="1B2433"/>
                </a:solidFill>
                <a:latin typeface="Poppins"/>
              </a:rPr>
              <a:t>Use names that explain: not x, but discount</a:t>
            </a:r>
          </a:p>
        </p:txBody>
      </p:sp>
      <p:sp>
        <p:nvSpPr>
          <p:cNvPr id="7" name="Code"/>
          <p:cNvSpPr/>
          <p:nvPr/>
        </p:nvSpPr>
        <p:spPr>
          <a:xfrm>
            <a:off x="5897880" y="1508760"/>
            <a:ext cx="516636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500" i="0">
                <a:solidFill>
                  <a:srgbClr val="B9A6FF"/>
                </a:solidFill>
                <a:latin typeface="Consolas"/>
              </a:rPr>
              <a:t>var</a:t>
            </a:r>
            <a:r>
              <a:rPr sz="1500" i="0">
                <a:solidFill>
                  <a:srgbClr val="EEF2FA"/>
                </a:solidFill>
                <a:latin typeface="Consolas"/>
              </a:rPr>
              <a:t> </a:t>
            </a:r>
            <a:r>
              <a:rPr sz="1500" i="0">
                <a:solidFill>
                  <a:srgbClr val="EEF2FA"/>
                </a:solidFill>
                <a:latin typeface="Consolas"/>
              </a:rPr>
              <a:t>count</a:t>
            </a:r>
            <a:r>
              <a:rPr sz="1500" i="0">
                <a:solidFill>
                  <a:srgbClr val="EEF2FA"/>
                </a:solidFill>
                <a:latin typeface="Consolas"/>
              </a:rPr>
              <a:t> = </a:t>
            </a:r>
            <a:r>
              <a:rPr sz="1500" i="0">
                <a:solidFill>
                  <a:srgbClr val="FFD58A"/>
                </a:solidFill>
                <a:latin typeface="Consolas"/>
              </a:rPr>
              <a:t>10</a:t>
            </a:r>
            <a:r>
              <a:rPr sz="1500" i="0">
                <a:solidFill>
                  <a:srgbClr val="EEF2FA"/>
                </a:solidFill>
                <a:latin typeface="Consolas"/>
              </a:rPr>
              <a:t>;     </a:t>
            </a:r>
            <a:r>
              <a:rPr sz="1500" i="1">
                <a:solidFill>
                  <a:srgbClr val="8FD8DB"/>
                </a:solidFill>
                <a:latin typeface="Consolas"/>
              </a:rPr>
              <a:t>// int</a:t>
            </a:r>
          </a:p>
          <a:p>
            <a:pPr algn="l">
              <a:lnSpc>
                <a:spcPct val="105000"/>
              </a:lnSpc>
              <a:spcAft>
                <a:spcPts val="0"/>
              </a:spcAft>
            </a:pPr>
            <a:r>
              <a:rPr sz="1500" i="0">
                <a:solidFill>
                  <a:srgbClr val="B9A6FF"/>
                </a:solidFill>
                <a:latin typeface="Consolas"/>
              </a:rPr>
              <a:t>var</a:t>
            </a:r>
            <a:r>
              <a:rPr sz="1500" i="0">
                <a:solidFill>
                  <a:srgbClr val="EEF2FA"/>
                </a:solidFill>
                <a:latin typeface="Consolas"/>
              </a:rPr>
              <a:t> </a:t>
            </a:r>
            <a:r>
              <a:rPr sz="1500" i="0">
                <a:solidFill>
                  <a:srgbClr val="EEF2FA"/>
                </a:solidFill>
                <a:latin typeface="Consolas"/>
              </a:rPr>
              <a:t>message</a:t>
            </a:r>
            <a:r>
              <a:rPr sz="1500" i="0">
                <a:solidFill>
                  <a:srgbClr val="EEF2FA"/>
                </a:solidFill>
                <a:latin typeface="Consolas"/>
              </a:rPr>
              <a:t> = </a:t>
            </a:r>
            <a:r>
              <a:rPr sz="1500" i="0">
                <a:solidFill>
                  <a:srgbClr val="9EF0C9"/>
                </a:solidFill>
                <a:latin typeface="Consolas"/>
              </a:rPr>
              <a:t>"Hi"</a:t>
            </a:r>
            <a:r>
              <a:rPr sz="1500" i="0">
                <a:solidFill>
                  <a:srgbClr val="EEF2FA"/>
                </a:solidFill>
                <a:latin typeface="Consolas"/>
              </a:rPr>
              <a:t>; </a:t>
            </a:r>
            <a:r>
              <a:rPr sz="1500" i="1">
                <a:solidFill>
                  <a:srgbClr val="8FD8DB"/>
                </a:solidFill>
                <a:latin typeface="Consolas"/>
              </a:rPr>
              <a:t>// String</a:t>
            </a:r>
          </a:p>
          <a:p>
            <a:pPr algn="l">
              <a:lnSpc>
                <a:spcPct val="105000"/>
              </a:lnSpc>
              <a:spcAft>
                <a:spcPts val="0"/>
              </a:spcAft>
            </a:pPr>
            <a:r>
              <a:rPr sz="1500" i="0">
                <a:solidFill>
                  <a:srgbClr val="EEF2FA"/>
                </a:solidFill>
                <a:latin typeface="Consolas"/>
              </a:rPr>
              <a:t> </a:t>
            </a:r>
          </a:p>
          <a:p>
            <a:pPr algn="l">
              <a:lnSpc>
                <a:spcPct val="105000"/>
              </a:lnSpc>
              <a:spcAft>
                <a:spcPts val="0"/>
              </a:spcAft>
            </a:pPr>
            <a:r>
              <a:rPr sz="1500" i="0">
                <a:solidFill>
                  <a:srgbClr val="B9A6FF"/>
                </a:solidFill>
                <a:latin typeface="Consolas"/>
              </a:rPr>
              <a:t>final</a:t>
            </a:r>
            <a:r>
              <a:rPr sz="1500" i="0">
                <a:solidFill>
                  <a:srgbClr val="EEF2FA"/>
                </a:solidFill>
                <a:latin typeface="Consolas"/>
              </a:rPr>
              <a:t> </a:t>
            </a:r>
            <a:r>
              <a:rPr sz="1500" i="0">
                <a:solidFill>
                  <a:srgbClr val="B9A6FF"/>
                </a:solidFill>
                <a:latin typeface="Consolas"/>
              </a:rPr>
              <a:t>double</a:t>
            </a:r>
            <a:r>
              <a:rPr sz="1500" i="0">
                <a:solidFill>
                  <a:srgbClr val="EEF2FA"/>
                </a:solidFill>
                <a:latin typeface="Consolas"/>
              </a:rPr>
              <a:t> </a:t>
            </a:r>
            <a:r>
              <a:rPr sz="1500" i="0">
                <a:solidFill>
                  <a:srgbClr val="EEF2FA"/>
                </a:solidFill>
                <a:latin typeface="Consolas"/>
              </a:rPr>
              <a:t>VAT</a:t>
            </a:r>
            <a:r>
              <a:rPr sz="1500" i="0">
                <a:solidFill>
                  <a:srgbClr val="EEF2FA"/>
                </a:solidFill>
                <a:latin typeface="Consolas"/>
              </a:rPr>
              <a:t> = </a:t>
            </a:r>
            <a:r>
              <a:rPr sz="1500" i="0">
                <a:solidFill>
                  <a:srgbClr val="FFD58A"/>
                </a:solidFill>
                <a:latin typeface="Consolas"/>
              </a:rPr>
              <a:t>0</a:t>
            </a:r>
            <a:r>
              <a:rPr sz="1500" i="0">
                <a:solidFill>
                  <a:srgbClr val="EEF2FA"/>
                </a:solidFill>
                <a:latin typeface="Consolas"/>
              </a:rPr>
              <a:t>.</a:t>
            </a:r>
            <a:r>
              <a:rPr sz="1500" i="0">
                <a:solidFill>
                  <a:srgbClr val="FFD58A"/>
                </a:solidFill>
                <a:latin typeface="Consolas"/>
              </a:rPr>
              <a:t>14</a:t>
            </a:r>
            <a:r>
              <a:rPr sz="1500" i="0">
                <a:solidFill>
                  <a:srgbClr val="EEF2FA"/>
                </a:solidFill>
                <a:latin typeface="Consolas"/>
              </a:rPr>
              <a:t>;</a:t>
            </a:r>
          </a:p>
          <a:p>
            <a:pPr algn="l">
              <a:lnSpc>
                <a:spcPct val="105000"/>
              </a:lnSpc>
              <a:spcAft>
                <a:spcPts val="0"/>
              </a:spcAft>
            </a:pPr>
            <a:r>
              <a:rPr sz="1500" i="1">
                <a:solidFill>
                  <a:srgbClr val="8FD8DB"/>
                </a:solidFill>
                <a:latin typeface="Consolas"/>
              </a:rPr>
              <a:t>// VAT = 0.15;</a:t>
            </a:r>
          </a:p>
          <a:p>
            <a:pPr algn="l">
              <a:lnSpc>
                <a:spcPct val="105000"/>
              </a:lnSpc>
              <a:spcAft>
                <a:spcPts val="0"/>
              </a:spcAft>
            </a:pPr>
            <a:r>
              <a:rPr sz="1500" i="1">
                <a:solidFill>
                  <a:srgbClr val="8FD8DB"/>
                </a:solidFill>
                <a:latin typeface="Consolas"/>
              </a:rPr>
              <a:t>// error: cannot assign a value</a:t>
            </a:r>
          </a:p>
          <a:p>
            <a:pPr algn="l">
              <a:lnSpc>
                <a:spcPct val="105000"/>
              </a:lnSpc>
              <a:spcAft>
                <a:spcPts val="0"/>
              </a:spcAft>
            </a:pPr>
            <a:r>
              <a:rPr sz="1500" i="1">
                <a:solidFill>
                  <a:srgbClr val="8FD8DB"/>
                </a:solidFill>
                <a:latin typeface="Consolas"/>
              </a:rPr>
              <a:t>// to final variable VAT</a:t>
            </a:r>
          </a:p>
        </p:txBody>
      </p:sp>
      <p:sp>
        <p:nvSpPr>
          <p:cNvPr id="8" name="TextBox 7"/>
          <p:cNvSpPr txBox="1"/>
          <p:nvPr/>
        </p:nvSpPr>
        <p:spPr>
          <a:xfrm>
            <a:off x="6126480" y="1600200"/>
            <a:ext cx="470916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demos/VarAndFinal.java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Operators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ps Arithmetic"/>
          <p:cNvSpPr/>
          <p:nvPr/>
        </p:nvSpPr>
        <p:spPr>
          <a:xfrm>
            <a:off x="841248" y="1554480"/>
            <a:ext cx="2423160" cy="38404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37360"/>
            <a:ext cx="2103120" cy="457200"/>
          </a:xfrm>
          <a:prstGeom prst="rect">
            <a:avLst/>
          </a:prstGeom>
          <a:noFill/>
        </p:spPr>
        <p:txBody>
          <a:bodyPr wrap="square" lIns="0" rIns="0" tIns="0" bIns="0" anchor="t">
            <a:spAutoFit/>
          </a:bodyPr>
          <a:lstStyle/>
          <a:p>
            <a:pPr algn="l">
              <a:spcAft>
                <a:spcPts val="600"/>
              </a:spcAft>
            </a:pPr>
            <a:r>
              <a:rPr sz="1800" b="1" i="0">
                <a:solidFill>
                  <a:srgbClr val="0366FF"/>
                </a:solidFill>
                <a:latin typeface="Poppins"/>
              </a:rPr>
              <a:t>Arithmetic</a:t>
            </a:r>
          </a:p>
        </p:txBody>
      </p:sp>
      <p:sp>
        <p:nvSpPr>
          <p:cNvPr id="6" name="TextBox 5"/>
          <p:cNvSpPr txBox="1"/>
          <p:nvPr/>
        </p:nvSpPr>
        <p:spPr>
          <a:xfrm>
            <a:off x="1042416" y="2377440"/>
            <a:ext cx="2103120" cy="1188720"/>
          </a:xfrm>
          <a:prstGeom prst="rect">
            <a:avLst/>
          </a:prstGeom>
          <a:noFill/>
        </p:spPr>
        <p:txBody>
          <a:bodyPr wrap="square" lIns="0" rIns="0" tIns="0" bIns="0" anchor="t">
            <a:spAutoFit/>
          </a:bodyPr>
          <a:lstStyle/>
          <a:p>
            <a:pPr algn="l">
              <a:spcAft>
                <a:spcPts val="200"/>
              </a:spcAft>
            </a:pPr>
            <a:r>
              <a:rPr sz="1800" b="0" i="0">
                <a:solidFill>
                  <a:srgbClr val="1B2433"/>
                </a:solidFill>
                <a:latin typeface="Consolas"/>
              </a:rPr>
              <a:t>+ - * / %</a:t>
            </a:r>
          </a:p>
        </p:txBody>
      </p:sp>
      <p:sp>
        <p:nvSpPr>
          <p:cNvPr id="7" name="TextBox 6"/>
          <p:cNvSpPr txBox="1"/>
          <p:nvPr/>
        </p:nvSpPr>
        <p:spPr>
          <a:xfrm>
            <a:off x="1042416" y="3749039"/>
            <a:ext cx="2103120" cy="365760"/>
          </a:xfrm>
          <a:prstGeom prst="rect">
            <a:avLst/>
          </a:prstGeom>
          <a:noFill/>
        </p:spPr>
        <p:txBody>
          <a:bodyPr wrap="square" lIns="0" rIns="0" tIns="0" bIns="0" anchor="t">
            <a:spAutoFit/>
          </a:bodyPr>
          <a:lstStyle/>
          <a:p>
            <a:pPr algn="l">
              <a:spcAft>
                <a:spcPts val="600"/>
              </a:spcAft>
            </a:pPr>
            <a:r>
              <a:rPr sz="1200" b="1" i="0">
                <a:solidFill>
                  <a:srgbClr val="5B6475"/>
                </a:solidFill>
                <a:latin typeface="Poppins"/>
              </a:rPr>
              <a:t>Example</a:t>
            </a:r>
          </a:p>
        </p:txBody>
      </p:sp>
      <p:sp>
        <p:nvSpPr>
          <p:cNvPr id="8" name="TextBox 7"/>
          <p:cNvSpPr txBox="1"/>
          <p:nvPr/>
        </p:nvSpPr>
        <p:spPr>
          <a:xfrm>
            <a:off x="1042416" y="4114800"/>
            <a:ext cx="2103120" cy="1097280"/>
          </a:xfrm>
          <a:prstGeom prst="rect">
            <a:avLst/>
          </a:prstGeom>
          <a:noFill/>
        </p:spPr>
        <p:txBody>
          <a:bodyPr wrap="square" lIns="0" rIns="0" tIns="0" bIns="0" anchor="t">
            <a:spAutoFit/>
          </a:bodyPr>
          <a:lstStyle/>
          <a:p>
            <a:pPr algn="l">
              <a:spcAft>
                <a:spcPts val="200"/>
              </a:spcAft>
            </a:pPr>
            <a:r>
              <a:rPr sz="1500" b="0" i="0">
                <a:solidFill>
                  <a:srgbClr val="0366FF"/>
                </a:solidFill>
                <a:latin typeface="Consolas"/>
              </a:rPr>
              <a:t>7 % 3</a:t>
            </a:r>
          </a:p>
          <a:p>
            <a:pPr algn="l">
              <a:spcAft>
                <a:spcPts val="200"/>
              </a:spcAft>
            </a:pPr>
            <a:r>
              <a:rPr sz="1500" b="0" i="0">
                <a:solidFill>
                  <a:srgbClr val="0366FF"/>
                </a:solidFill>
                <a:latin typeface="Consolas"/>
              </a:rPr>
              <a:t>→ 1</a:t>
            </a:r>
          </a:p>
        </p:txBody>
      </p:sp>
      <p:sp>
        <p:nvSpPr>
          <p:cNvPr id="9" name="Ops Comparison"/>
          <p:cNvSpPr/>
          <p:nvPr/>
        </p:nvSpPr>
        <p:spPr>
          <a:xfrm>
            <a:off x="3447288" y="1554480"/>
            <a:ext cx="2423160" cy="384048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48456" y="1737360"/>
            <a:ext cx="2103120"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Comparison</a:t>
            </a:r>
          </a:p>
        </p:txBody>
      </p:sp>
      <p:sp>
        <p:nvSpPr>
          <p:cNvPr id="11" name="TextBox 10"/>
          <p:cNvSpPr txBox="1"/>
          <p:nvPr/>
        </p:nvSpPr>
        <p:spPr>
          <a:xfrm>
            <a:off x="3648456" y="2377440"/>
            <a:ext cx="2103120" cy="1188720"/>
          </a:xfrm>
          <a:prstGeom prst="rect">
            <a:avLst/>
          </a:prstGeom>
          <a:noFill/>
        </p:spPr>
        <p:txBody>
          <a:bodyPr wrap="square" lIns="0" rIns="0" tIns="0" bIns="0" anchor="t">
            <a:spAutoFit/>
          </a:bodyPr>
          <a:lstStyle/>
          <a:p>
            <a:pPr algn="l">
              <a:spcAft>
                <a:spcPts val="200"/>
              </a:spcAft>
            </a:pPr>
            <a:r>
              <a:rPr sz="1800" b="0" i="0">
                <a:solidFill>
                  <a:srgbClr val="1B2433"/>
                </a:solidFill>
                <a:latin typeface="Consolas"/>
              </a:rPr>
              <a:t>== != &gt; &lt;</a:t>
            </a:r>
          </a:p>
          <a:p>
            <a:pPr algn="l">
              <a:spcAft>
                <a:spcPts val="200"/>
              </a:spcAft>
            </a:pPr>
            <a:r>
              <a:rPr sz="1800" b="0" i="0">
                <a:solidFill>
                  <a:srgbClr val="1B2433"/>
                </a:solidFill>
                <a:latin typeface="Consolas"/>
              </a:rPr>
              <a:t>&gt;= &lt;=</a:t>
            </a:r>
          </a:p>
        </p:txBody>
      </p:sp>
      <p:sp>
        <p:nvSpPr>
          <p:cNvPr id="12" name="TextBox 11"/>
          <p:cNvSpPr txBox="1"/>
          <p:nvPr/>
        </p:nvSpPr>
        <p:spPr>
          <a:xfrm>
            <a:off x="3648456" y="3749039"/>
            <a:ext cx="2103120" cy="365760"/>
          </a:xfrm>
          <a:prstGeom prst="rect">
            <a:avLst/>
          </a:prstGeom>
          <a:noFill/>
        </p:spPr>
        <p:txBody>
          <a:bodyPr wrap="square" lIns="0" rIns="0" tIns="0" bIns="0" anchor="t">
            <a:spAutoFit/>
          </a:bodyPr>
          <a:lstStyle/>
          <a:p>
            <a:pPr algn="l">
              <a:spcAft>
                <a:spcPts val="600"/>
              </a:spcAft>
            </a:pPr>
            <a:r>
              <a:rPr sz="1200" b="1" i="0">
                <a:solidFill>
                  <a:srgbClr val="5B6475"/>
                </a:solidFill>
                <a:latin typeface="Poppins"/>
              </a:rPr>
              <a:t>Example</a:t>
            </a:r>
          </a:p>
        </p:txBody>
      </p:sp>
      <p:sp>
        <p:nvSpPr>
          <p:cNvPr id="13" name="TextBox 12"/>
          <p:cNvSpPr txBox="1"/>
          <p:nvPr/>
        </p:nvSpPr>
        <p:spPr>
          <a:xfrm>
            <a:off x="3648456" y="4114800"/>
            <a:ext cx="2103120" cy="1097280"/>
          </a:xfrm>
          <a:prstGeom prst="rect">
            <a:avLst/>
          </a:prstGeom>
          <a:noFill/>
        </p:spPr>
        <p:txBody>
          <a:bodyPr wrap="square" lIns="0" rIns="0" tIns="0" bIns="0" anchor="t">
            <a:spAutoFit/>
          </a:bodyPr>
          <a:lstStyle/>
          <a:p>
            <a:pPr algn="l">
              <a:spcAft>
                <a:spcPts val="200"/>
              </a:spcAft>
            </a:pPr>
            <a:r>
              <a:rPr sz="1500" b="0" i="0">
                <a:solidFill>
                  <a:srgbClr val="8C4FF4"/>
                </a:solidFill>
                <a:latin typeface="Consolas"/>
              </a:rPr>
              <a:t>5 &gt; 3</a:t>
            </a:r>
          </a:p>
          <a:p>
            <a:pPr algn="l">
              <a:spcAft>
                <a:spcPts val="200"/>
              </a:spcAft>
            </a:pPr>
            <a:r>
              <a:rPr sz="1500" b="0" i="0">
                <a:solidFill>
                  <a:srgbClr val="8C4FF4"/>
                </a:solidFill>
                <a:latin typeface="Consolas"/>
              </a:rPr>
              <a:t>→ true</a:t>
            </a:r>
          </a:p>
        </p:txBody>
      </p:sp>
      <p:sp>
        <p:nvSpPr>
          <p:cNvPr id="14" name="Ops Logical"/>
          <p:cNvSpPr/>
          <p:nvPr/>
        </p:nvSpPr>
        <p:spPr>
          <a:xfrm>
            <a:off x="6053328" y="1554480"/>
            <a:ext cx="2423160" cy="384048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54496" y="1737360"/>
            <a:ext cx="2103120" cy="457200"/>
          </a:xfrm>
          <a:prstGeom prst="rect">
            <a:avLst/>
          </a:prstGeom>
          <a:noFill/>
        </p:spPr>
        <p:txBody>
          <a:bodyPr wrap="square" lIns="0" rIns="0" tIns="0" bIns="0" anchor="t">
            <a:spAutoFit/>
          </a:bodyPr>
          <a:lstStyle/>
          <a:p>
            <a:pPr algn="l">
              <a:spcAft>
                <a:spcPts val="600"/>
              </a:spcAft>
            </a:pPr>
            <a:r>
              <a:rPr sz="1800" b="1" i="0">
                <a:solidFill>
                  <a:srgbClr val="0E2841"/>
                </a:solidFill>
                <a:latin typeface="Poppins"/>
              </a:rPr>
              <a:t>Logical</a:t>
            </a:r>
          </a:p>
        </p:txBody>
      </p:sp>
      <p:sp>
        <p:nvSpPr>
          <p:cNvPr id="16" name="TextBox 15"/>
          <p:cNvSpPr txBox="1"/>
          <p:nvPr/>
        </p:nvSpPr>
        <p:spPr>
          <a:xfrm>
            <a:off x="6254496" y="2377440"/>
            <a:ext cx="2103120" cy="1188720"/>
          </a:xfrm>
          <a:prstGeom prst="rect">
            <a:avLst/>
          </a:prstGeom>
          <a:noFill/>
        </p:spPr>
        <p:txBody>
          <a:bodyPr wrap="square" lIns="0" rIns="0" tIns="0" bIns="0" anchor="t">
            <a:spAutoFit/>
          </a:bodyPr>
          <a:lstStyle/>
          <a:p>
            <a:pPr algn="l">
              <a:spcAft>
                <a:spcPts val="200"/>
              </a:spcAft>
            </a:pPr>
            <a:r>
              <a:rPr sz="1800" b="0" i="0">
                <a:solidFill>
                  <a:srgbClr val="1B2433"/>
                </a:solidFill>
                <a:latin typeface="Consolas"/>
              </a:rPr>
              <a:t>&amp;&amp; || !</a:t>
            </a:r>
          </a:p>
        </p:txBody>
      </p:sp>
      <p:sp>
        <p:nvSpPr>
          <p:cNvPr id="17" name="TextBox 16"/>
          <p:cNvSpPr txBox="1"/>
          <p:nvPr/>
        </p:nvSpPr>
        <p:spPr>
          <a:xfrm>
            <a:off x="6254496" y="3749039"/>
            <a:ext cx="2103120" cy="365760"/>
          </a:xfrm>
          <a:prstGeom prst="rect">
            <a:avLst/>
          </a:prstGeom>
          <a:noFill/>
        </p:spPr>
        <p:txBody>
          <a:bodyPr wrap="square" lIns="0" rIns="0" tIns="0" bIns="0" anchor="t">
            <a:spAutoFit/>
          </a:bodyPr>
          <a:lstStyle/>
          <a:p>
            <a:pPr algn="l">
              <a:spcAft>
                <a:spcPts val="600"/>
              </a:spcAft>
            </a:pPr>
            <a:r>
              <a:rPr sz="1200" b="1" i="0">
                <a:solidFill>
                  <a:srgbClr val="5B6475"/>
                </a:solidFill>
                <a:latin typeface="Poppins"/>
              </a:rPr>
              <a:t>Example</a:t>
            </a:r>
          </a:p>
        </p:txBody>
      </p:sp>
      <p:sp>
        <p:nvSpPr>
          <p:cNvPr id="18" name="TextBox 17"/>
          <p:cNvSpPr txBox="1"/>
          <p:nvPr/>
        </p:nvSpPr>
        <p:spPr>
          <a:xfrm>
            <a:off x="6254496" y="4114800"/>
            <a:ext cx="2103120" cy="1097280"/>
          </a:xfrm>
          <a:prstGeom prst="rect">
            <a:avLst/>
          </a:prstGeom>
          <a:noFill/>
        </p:spPr>
        <p:txBody>
          <a:bodyPr wrap="square" lIns="0" rIns="0" tIns="0" bIns="0" anchor="t">
            <a:spAutoFit/>
          </a:bodyPr>
          <a:lstStyle/>
          <a:p>
            <a:pPr algn="l">
              <a:spcAft>
                <a:spcPts val="200"/>
              </a:spcAft>
            </a:pPr>
            <a:r>
              <a:rPr sz="1500" b="0" i="0">
                <a:solidFill>
                  <a:srgbClr val="0E2841"/>
                </a:solidFill>
                <a:latin typeface="Consolas"/>
              </a:rPr>
              <a:t>true &amp;&amp; false</a:t>
            </a:r>
          </a:p>
          <a:p>
            <a:pPr algn="l">
              <a:spcAft>
                <a:spcPts val="200"/>
              </a:spcAft>
            </a:pPr>
            <a:r>
              <a:rPr sz="1500" b="0" i="0">
                <a:solidFill>
                  <a:srgbClr val="0E2841"/>
                </a:solidFill>
                <a:latin typeface="Consolas"/>
              </a:rPr>
              <a:t>→ false</a:t>
            </a:r>
          </a:p>
        </p:txBody>
      </p:sp>
      <p:sp>
        <p:nvSpPr>
          <p:cNvPr id="19" name="Ops Shortcuts"/>
          <p:cNvSpPr/>
          <p:nvPr/>
        </p:nvSpPr>
        <p:spPr>
          <a:xfrm>
            <a:off x="8659368" y="1554480"/>
            <a:ext cx="2423160" cy="38404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0536" y="1737360"/>
            <a:ext cx="2103120" cy="457200"/>
          </a:xfrm>
          <a:prstGeom prst="rect">
            <a:avLst/>
          </a:prstGeom>
          <a:noFill/>
        </p:spPr>
        <p:txBody>
          <a:bodyPr wrap="square" lIns="0" rIns="0" tIns="0" bIns="0" anchor="t">
            <a:spAutoFit/>
          </a:bodyPr>
          <a:lstStyle/>
          <a:p>
            <a:pPr algn="l">
              <a:spcAft>
                <a:spcPts val="600"/>
              </a:spcAft>
            </a:pPr>
            <a:r>
              <a:rPr sz="1800" b="1" i="0">
                <a:solidFill>
                  <a:srgbClr val="0366FF"/>
                </a:solidFill>
                <a:latin typeface="Poppins"/>
              </a:rPr>
              <a:t>Shortcuts</a:t>
            </a:r>
          </a:p>
        </p:txBody>
      </p:sp>
      <p:sp>
        <p:nvSpPr>
          <p:cNvPr id="21" name="TextBox 20"/>
          <p:cNvSpPr txBox="1"/>
          <p:nvPr/>
        </p:nvSpPr>
        <p:spPr>
          <a:xfrm>
            <a:off x="8860536" y="2377440"/>
            <a:ext cx="2103120" cy="1188720"/>
          </a:xfrm>
          <a:prstGeom prst="rect">
            <a:avLst/>
          </a:prstGeom>
          <a:noFill/>
        </p:spPr>
        <p:txBody>
          <a:bodyPr wrap="square" lIns="0" rIns="0" tIns="0" bIns="0" anchor="t">
            <a:spAutoFit/>
          </a:bodyPr>
          <a:lstStyle/>
          <a:p>
            <a:pPr algn="l">
              <a:spcAft>
                <a:spcPts val="200"/>
              </a:spcAft>
            </a:pPr>
            <a:r>
              <a:rPr sz="1800" b="0" i="0">
                <a:solidFill>
                  <a:srgbClr val="1B2433"/>
                </a:solidFill>
                <a:latin typeface="Consolas"/>
              </a:rPr>
              <a:t>+= -= ++ --</a:t>
            </a:r>
          </a:p>
        </p:txBody>
      </p:sp>
      <p:sp>
        <p:nvSpPr>
          <p:cNvPr id="22" name="TextBox 21"/>
          <p:cNvSpPr txBox="1"/>
          <p:nvPr/>
        </p:nvSpPr>
        <p:spPr>
          <a:xfrm>
            <a:off x="8860536" y="3749039"/>
            <a:ext cx="2103120" cy="365760"/>
          </a:xfrm>
          <a:prstGeom prst="rect">
            <a:avLst/>
          </a:prstGeom>
          <a:noFill/>
        </p:spPr>
        <p:txBody>
          <a:bodyPr wrap="square" lIns="0" rIns="0" tIns="0" bIns="0" anchor="t">
            <a:spAutoFit/>
          </a:bodyPr>
          <a:lstStyle/>
          <a:p>
            <a:pPr algn="l">
              <a:spcAft>
                <a:spcPts val="600"/>
              </a:spcAft>
            </a:pPr>
            <a:r>
              <a:rPr sz="1200" b="1" i="0">
                <a:solidFill>
                  <a:srgbClr val="5B6475"/>
                </a:solidFill>
                <a:latin typeface="Poppins"/>
              </a:rPr>
              <a:t>Example</a:t>
            </a:r>
          </a:p>
        </p:txBody>
      </p:sp>
      <p:sp>
        <p:nvSpPr>
          <p:cNvPr id="23" name="TextBox 22"/>
          <p:cNvSpPr txBox="1"/>
          <p:nvPr/>
        </p:nvSpPr>
        <p:spPr>
          <a:xfrm>
            <a:off x="8860536" y="4114800"/>
            <a:ext cx="2103120" cy="1097280"/>
          </a:xfrm>
          <a:prstGeom prst="rect">
            <a:avLst/>
          </a:prstGeom>
          <a:noFill/>
        </p:spPr>
        <p:txBody>
          <a:bodyPr wrap="square" lIns="0" rIns="0" tIns="0" bIns="0" anchor="t">
            <a:spAutoFit/>
          </a:bodyPr>
          <a:lstStyle/>
          <a:p>
            <a:pPr algn="l">
              <a:spcAft>
                <a:spcPts val="200"/>
              </a:spcAft>
            </a:pPr>
            <a:r>
              <a:rPr sz="1500" b="0" i="0">
                <a:solidFill>
                  <a:srgbClr val="0366FF"/>
                </a:solidFill>
                <a:latin typeface="Consolas"/>
              </a:rPr>
              <a:t>x += 2</a:t>
            </a:r>
          </a:p>
          <a:p>
            <a:pPr algn="l">
              <a:spcAft>
                <a:spcPts val="200"/>
              </a:spcAft>
            </a:pPr>
            <a:r>
              <a:rPr sz="1500" b="0" i="0">
                <a:solidFill>
                  <a:srgbClr val="0366FF"/>
                </a:solidFill>
                <a:latin typeface="Consolas"/>
              </a:rPr>
              <a:t>→ x = x + 2</a:t>
            </a:r>
          </a:p>
        </p:txBody>
      </p:sp>
      <p:sp>
        <p:nvSpPr>
          <p:cNvPr id="24" name="TextBox 23"/>
          <p:cNvSpPr txBox="1"/>
          <p:nvPr/>
        </p:nvSpPr>
        <p:spPr>
          <a:xfrm>
            <a:off x="841248" y="5623560"/>
            <a:ext cx="10241280" cy="457200"/>
          </a:xfrm>
          <a:prstGeom prst="rect">
            <a:avLst/>
          </a:prstGeom>
          <a:noFill/>
        </p:spPr>
        <p:txBody>
          <a:bodyPr wrap="square" lIns="0" rIns="0" tIns="0" bIns="0" anchor="t">
            <a:spAutoFit/>
          </a:bodyPr>
          <a:lstStyle/>
          <a:p>
            <a:pPr algn="l">
              <a:spcAft>
                <a:spcPts val="600"/>
              </a:spcAft>
            </a:pPr>
            <a:r>
              <a:rPr sz="1500" b="0" i="0">
                <a:solidFill>
                  <a:srgbClr val="5B6475"/>
                </a:solidFill>
                <a:latin typeface="Poppins"/>
              </a:rPr>
              <a:t>= stores a value.  == compares two values.  Mixing them up is the #1 beginner typo.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Watch out: integer division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v 5 / 2"/>
          <p:cNvSpPr/>
          <p:nvPr/>
        </p:nvSpPr>
        <p:spPr>
          <a:xfrm>
            <a:off x="841248" y="1554480"/>
            <a:ext cx="2103120" cy="2011680"/>
          </a:xfrm>
          <a:prstGeom prst="roundRect">
            <a:avLst>
              <a:gd name="adj" fmla="val 12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691640"/>
            <a:ext cx="2103120" cy="548640"/>
          </a:xfrm>
          <a:prstGeom prst="rect">
            <a:avLst/>
          </a:prstGeom>
          <a:noFill/>
        </p:spPr>
        <p:txBody>
          <a:bodyPr wrap="square" lIns="0" rIns="0" tIns="0" bIns="0" anchor="t">
            <a:spAutoFit/>
          </a:bodyPr>
          <a:lstStyle/>
          <a:p>
            <a:pPr algn="ctr">
              <a:spcAft>
                <a:spcPts val="600"/>
              </a:spcAft>
            </a:pPr>
            <a:r>
              <a:rPr sz="2000" b="0" i="0">
                <a:solidFill>
                  <a:srgbClr val="1B2433"/>
                </a:solidFill>
                <a:latin typeface="Consolas"/>
              </a:rPr>
              <a:t>5 / 2</a:t>
            </a:r>
          </a:p>
        </p:txBody>
      </p:sp>
      <p:sp>
        <p:nvSpPr>
          <p:cNvPr id="6" name="TextBox 5"/>
          <p:cNvSpPr txBox="1"/>
          <p:nvPr/>
        </p:nvSpPr>
        <p:spPr>
          <a:xfrm>
            <a:off x="841248" y="2286000"/>
            <a:ext cx="2103120" cy="1097280"/>
          </a:xfrm>
          <a:prstGeom prst="rect">
            <a:avLst/>
          </a:prstGeom>
          <a:noFill/>
        </p:spPr>
        <p:txBody>
          <a:bodyPr wrap="square" lIns="0" rIns="0" tIns="0" bIns="0" anchor="t">
            <a:spAutoFit/>
          </a:bodyPr>
          <a:lstStyle/>
          <a:p>
            <a:pPr algn="ctr">
              <a:spcAft>
                <a:spcPts val="600"/>
              </a:spcAft>
            </a:pPr>
            <a:r>
              <a:rPr sz="4400" b="1" i="0">
                <a:solidFill>
                  <a:srgbClr val="0366FF"/>
                </a:solidFill>
                <a:latin typeface="Poppins"/>
              </a:rPr>
              <a:t>2</a:t>
            </a:r>
          </a:p>
        </p:txBody>
      </p:sp>
      <p:sp>
        <p:nvSpPr>
          <p:cNvPr id="7" name="Div 5 / 2.0"/>
          <p:cNvSpPr/>
          <p:nvPr/>
        </p:nvSpPr>
        <p:spPr>
          <a:xfrm>
            <a:off x="3127248" y="1554480"/>
            <a:ext cx="2103120" cy="2011680"/>
          </a:xfrm>
          <a:prstGeom prst="roundRect">
            <a:avLst>
              <a:gd name="adj" fmla="val 12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127248" y="1691640"/>
            <a:ext cx="2103120" cy="548640"/>
          </a:xfrm>
          <a:prstGeom prst="rect">
            <a:avLst/>
          </a:prstGeom>
          <a:noFill/>
        </p:spPr>
        <p:txBody>
          <a:bodyPr wrap="square" lIns="0" rIns="0" tIns="0" bIns="0" anchor="t">
            <a:spAutoFit/>
          </a:bodyPr>
          <a:lstStyle/>
          <a:p>
            <a:pPr algn="ctr">
              <a:spcAft>
                <a:spcPts val="600"/>
              </a:spcAft>
            </a:pPr>
            <a:r>
              <a:rPr sz="2000" b="0" i="0">
                <a:solidFill>
                  <a:srgbClr val="1B2433"/>
                </a:solidFill>
                <a:latin typeface="Consolas"/>
              </a:rPr>
              <a:t>5 / 2.0</a:t>
            </a:r>
          </a:p>
        </p:txBody>
      </p:sp>
      <p:sp>
        <p:nvSpPr>
          <p:cNvPr id="9" name="TextBox 8"/>
          <p:cNvSpPr txBox="1"/>
          <p:nvPr/>
        </p:nvSpPr>
        <p:spPr>
          <a:xfrm>
            <a:off x="3127248" y="2286000"/>
            <a:ext cx="2103120" cy="1097280"/>
          </a:xfrm>
          <a:prstGeom prst="rect">
            <a:avLst/>
          </a:prstGeom>
          <a:noFill/>
        </p:spPr>
        <p:txBody>
          <a:bodyPr wrap="square" lIns="0" rIns="0" tIns="0" bIns="0" anchor="t">
            <a:spAutoFit/>
          </a:bodyPr>
          <a:lstStyle/>
          <a:p>
            <a:pPr algn="ctr">
              <a:spcAft>
                <a:spcPts val="600"/>
              </a:spcAft>
            </a:pPr>
            <a:r>
              <a:rPr sz="4400" b="1" i="0">
                <a:solidFill>
                  <a:srgbClr val="8C4FF4"/>
                </a:solidFill>
                <a:latin typeface="Poppins"/>
              </a:rPr>
              <a:t>2.5</a:t>
            </a:r>
          </a:p>
        </p:txBody>
      </p:sp>
      <p:sp>
        <p:nvSpPr>
          <p:cNvPr id="10" name="Div 5 % 2"/>
          <p:cNvSpPr/>
          <p:nvPr/>
        </p:nvSpPr>
        <p:spPr>
          <a:xfrm>
            <a:off x="5413248" y="1554480"/>
            <a:ext cx="2103120" cy="2011680"/>
          </a:xfrm>
          <a:prstGeom prst="roundRect">
            <a:avLst>
              <a:gd name="adj" fmla="val 12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13248" y="1691640"/>
            <a:ext cx="2103120" cy="548640"/>
          </a:xfrm>
          <a:prstGeom prst="rect">
            <a:avLst/>
          </a:prstGeom>
          <a:noFill/>
        </p:spPr>
        <p:txBody>
          <a:bodyPr wrap="square" lIns="0" rIns="0" tIns="0" bIns="0" anchor="t">
            <a:spAutoFit/>
          </a:bodyPr>
          <a:lstStyle/>
          <a:p>
            <a:pPr algn="ctr">
              <a:spcAft>
                <a:spcPts val="600"/>
              </a:spcAft>
            </a:pPr>
            <a:r>
              <a:rPr sz="2000" b="0" i="0">
                <a:solidFill>
                  <a:srgbClr val="1B2433"/>
                </a:solidFill>
                <a:latin typeface="Consolas"/>
              </a:rPr>
              <a:t>5 % 2</a:t>
            </a:r>
          </a:p>
        </p:txBody>
      </p:sp>
      <p:sp>
        <p:nvSpPr>
          <p:cNvPr id="12" name="TextBox 11"/>
          <p:cNvSpPr txBox="1"/>
          <p:nvPr/>
        </p:nvSpPr>
        <p:spPr>
          <a:xfrm>
            <a:off x="5413248" y="2286000"/>
            <a:ext cx="2103120" cy="1097280"/>
          </a:xfrm>
          <a:prstGeom prst="rect">
            <a:avLst/>
          </a:prstGeom>
          <a:noFill/>
        </p:spPr>
        <p:txBody>
          <a:bodyPr wrap="square" lIns="0" rIns="0" tIns="0" bIns="0" anchor="t">
            <a:spAutoFit/>
          </a:bodyPr>
          <a:lstStyle/>
          <a:p>
            <a:pPr algn="ctr">
              <a:spcAft>
                <a:spcPts val="600"/>
              </a:spcAft>
            </a:pPr>
            <a:r>
              <a:rPr sz="4400" b="1" i="0">
                <a:solidFill>
                  <a:srgbClr val="0E2841"/>
                </a:solidFill>
                <a:latin typeface="Poppins"/>
              </a:rPr>
              <a:t>1</a:t>
            </a:r>
          </a:p>
        </p:txBody>
      </p:sp>
      <p:sp>
        <p:nvSpPr>
          <p:cNvPr id="13" name="TextBox 12"/>
          <p:cNvSpPr txBox="1"/>
          <p:nvPr/>
        </p:nvSpPr>
        <p:spPr>
          <a:xfrm>
            <a:off x="841248" y="3794760"/>
            <a:ext cx="6675120" cy="914400"/>
          </a:xfrm>
          <a:prstGeom prst="rect">
            <a:avLst/>
          </a:prstGeom>
          <a:noFill/>
        </p:spPr>
        <p:txBody>
          <a:bodyPr wrap="square" lIns="0" rIns="0" tIns="0" bIns="0" anchor="t">
            <a:spAutoFit/>
          </a:bodyPr>
          <a:lstStyle/>
          <a:p>
            <a:pPr algn="l">
              <a:spcAft>
                <a:spcPts val="600"/>
              </a:spcAft>
            </a:pPr>
            <a:r>
              <a:rPr sz="1600" b="0" i="0">
                <a:solidFill>
                  <a:srgbClr val="1B2433"/>
                </a:solidFill>
                <a:latin typeface="Poppins"/>
              </a:rPr>
              <a:t>int ÷ int drops the decimals. Make one side a double to keep them.</a:t>
            </a:r>
          </a:p>
        </p:txBody>
      </p:sp>
      <p:sp>
        <p:nvSpPr>
          <p:cNvPr id="14" name="Code"/>
          <p:cNvSpPr/>
          <p:nvPr/>
        </p:nvSpPr>
        <p:spPr>
          <a:xfrm>
            <a:off x="7863840" y="1554480"/>
            <a:ext cx="3200400" cy="425196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400" i="0">
                <a:solidFill>
                  <a:srgbClr val="B9A6FF"/>
                </a:solidFill>
                <a:latin typeface="Consolas"/>
              </a:rPr>
              <a:t>int</a:t>
            </a:r>
            <a:r>
              <a:rPr sz="1400" i="0">
                <a:solidFill>
                  <a:srgbClr val="EEF2FA"/>
                </a:solidFill>
                <a:latin typeface="Consolas"/>
              </a:rPr>
              <a:t> </a:t>
            </a:r>
            <a:r>
              <a:rPr sz="1400" i="0">
                <a:solidFill>
                  <a:srgbClr val="EEF2FA"/>
                </a:solidFill>
                <a:latin typeface="Consolas"/>
              </a:rPr>
              <a:t>a</a:t>
            </a:r>
            <a:r>
              <a:rPr sz="1400" i="0">
                <a:solidFill>
                  <a:srgbClr val="EEF2FA"/>
                </a:solidFill>
                <a:latin typeface="Consolas"/>
              </a:rPr>
              <a:t> = </a:t>
            </a:r>
            <a:r>
              <a:rPr sz="1400" i="0">
                <a:solidFill>
                  <a:srgbClr val="FFD58A"/>
                </a:solidFill>
                <a:latin typeface="Consolas"/>
              </a:rPr>
              <a:t>7</a:t>
            </a:r>
            <a:r>
              <a:rPr sz="1400" i="0">
                <a:solidFill>
                  <a:srgbClr val="EEF2FA"/>
                </a:solidFill>
                <a:latin typeface="Consolas"/>
              </a:rPr>
              <a:t>, </a:t>
            </a:r>
            <a:r>
              <a:rPr sz="1400" i="0">
                <a:solidFill>
                  <a:srgbClr val="EEF2FA"/>
                </a:solidFill>
                <a:latin typeface="Consolas"/>
              </a:rPr>
              <a:t>b</a:t>
            </a:r>
            <a:r>
              <a:rPr sz="1400" i="0">
                <a:solidFill>
                  <a:srgbClr val="EEF2FA"/>
                </a:solidFill>
                <a:latin typeface="Consolas"/>
              </a:rPr>
              <a:t> = </a:t>
            </a:r>
            <a:r>
              <a:rPr sz="1400" i="0">
                <a:solidFill>
                  <a:srgbClr val="FFD58A"/>
                </a:solidFill>
                <a:latin typeface="Consolas"/>
              </a:rPr>
              <a:t>2</a:t>
            </a:r>
            <a:r>
              <a:rPr sz="1400" i="0">
                <a:solidFill>
                  <a:srgbClr val="EEF2FA"/>
                </a:solidFill>
                <a:latin typeface="Consolas"/>
              </a:rPr>
              <a:t>;</a:t>
            </a:r>
          </a:p>
          <a:p>
            <a:pPr algn="l">
              <a:lnSpc>
                <a:spcPct val="105000"/>
              </a:lnSpc>
              <a:spcAft>
                <a:spcPts val="0"/>
              </a:spcAft>
            </a:pPr>
            <a:r>
              <a:rPr sz="1400" i="0">
                <a:solidFill>
                  <a:srgbClr val="EEF2FA"/>
                </a:solidFill>
                <a:latin typeface="Consolas"/>
              </a:rPr>
              <a:t> </a:t>
            </a:r>
          </a:p>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EEF2FA"/>
                </a:solidFill>
                <a:latin typeface="Consolas"/>
              </a:rPr>
              <a:t>a</a:t>
            </a:r>
            <a:r>
              <a:rPr sz="1400" i="0">
                <a:solidFill>
                  <a:srgbClr val="EEF2FA"/>
                </a:solidFill>
                <a:latin typeface="Consolas"/>
              </a:rPr>
              <a:t> / </a:t>
            </a:r>
            <a:r>
              <a:rPr sz="1400" i="0">
                <a:solidFill>
                  <a:srgbClr val="EEF2FA"/>
                </a:solidFill>
                <a:latin typeface="Consolas"/>
              </a:rPr>
              <a:t>b</a:t>
            </a:r>
            <a:r>
              <a:rPr sz="1400" i="0">
                <a:solidFill>
                  <a:srgbClr val="EEF2FA"/>
                </a:solidFill>
                <a:latin typeface="Consolas"/>
              </a:rPr>
              <a:t>);</a:t>
            </a:r>
          </a:p>
          <a:p>
            <a:pPr algn="l">
              <a:lnSpc>
                <a:spcPct val="105000"/>
              </a:lnSpc>
              <a:spcAft>
                <a:spcPts val="0"/>
              </a:spcAft>
            </a:pPr>
            <a:r>
              <a:rPr sz="1400" i="1">
                <a:solidFill>
                  <a:srgbClr val="8FD8DB"/>
                </a:solidFill>
                <a:latin typeface="Consolas"/>
              </a:rPr>
              <a:t>// 3</a:t>
            </a:r>
          </a:p>
          <a:p>
            <a:pPr algn="l">
              <a:lnSpc>
                <a:spcPct val="105000"/>
              </a:lnSpc>
              <a:spcAft>
                <a:spcPts val="0"/>
              </a:spcAft>
            </a:pPr>
            <a:r>
              <a:rPr sz="1400" i="0">
                <a:solidFill>
                  <a:srgbClr val="EEF2FA"/>
                </a:solidFill>
                <a:latin typeface="Consolas"/>
              </a:rPr>
              <a:t> </a:t>
            </a:r>
          </a:p>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EEF2FA"/>
                </a:solidFill>
                <a:latin typeface="Consolas"/>
              </a:rPr>
              <a:t>a</a:t>
            </a:r>
            <a:r>
              <a:rPr sz="1400" i="0">
                <a:solidFill>
                  <a:srgbClr val="EEF2FA"/>
                </a:solidFill>
                <a:latin typeface="Consolas"/>
              </a:rPr>
              <a:t> % </a:t>
            </a:r>
            <a:r>
              <a:rPr sz="1400" i="0">
                <a:solidFill>
                  <a:srgbClr val="EEF2FA"/>
                </a:solidFill>
                <a:latin typeface="Consolas"/>
              </a:rPr>
              <a:t>b</a:t>
            </a:r>
            <a:r>
              <a:rPr sz="1400" i="0">
                <a:solidFill>
                  <a:srgbClr val="EEF2FA"/>
                </a:solidFill>
                <a:latin typeface="Consolas"/>
              </a:rPr>
              <a:t>);</a:t>
            </a:r>
          </a:p>
          <a:p>
            <a:pPr algn="l">
              <a:lnSpc>
                <a:spcPct val="105000"/>
              </a:lnSpc>
              <a:spcAft>
                <a:spcPts val="0"/>
              </a:spcAft>
            </a:pPr>
            <a:r>
              <a:rPr sz="1400" i="1">
                <a:solidFill>
                  <a:srgbClr val="8FD8DB"/>
                </a:solidFill>
                <a:latin typeface="Consolas"/>
              </a:rPr>
              <a:t>// 1</a:t>
            </a:r>
          </a:p>
          <a:p>
            <a:pPr algn="l">
              <a:lnSpc>
                <a:spcPct val="105000"/>
              </a:lnSpc>
              <a:spcAft>
                <a:spcPts val="0"/>
              </a:spcAft>
            </a:pPr>
            <a:r>
              <a:rPr sz="1400" i="0">
                <a:solidFill>
                  <a:srgbClr val="EEF2FA"/>
                </a:solidFill>
                <a:latin typeface="Consolas"/>
              </a:rPr>
              <a:t> </a:t>
            </a:r>
          </a:p>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p>
          <a:p>
            <a:pPr algn="l">
              <a:lnSpc>
                <a:spcPct val="105000"/>
              </a:lnSpc>
              <a:spcAft>
                <a:spcPts val="0"/>
              </a:spcAft>
            </a:pPr>
            <a:r>
              <a:rPr sz="1400" i="0">
                <a:solidFill>
                  <a:srgbClr val="EEF2FA"/>
                </a:solidFill>
                <a:latin typeface="Consolas"/>
              </a:rPr>
              <a:t>    </a:t>
            </a:r>
            <a:r>
              <a:rPr sz="1400" i="0">
                <a:solidFill>
                  <a:srgbClr val="EEF2FA"/>
                </a:solidFill>
                <a:latin typeface="Consolas"/>
              </a:rPr>
              <a:t>a</a:t>
            </a:r>
            <a:r>
              <a:rPr sz="1400" i="0">
                <a:solidFill>
                  <a:srgbClr val="EEF2FA"/>
                </a:solidFill>
                <a:latin typeface="Consolas"/>
              </a:rPr>
              <a:t> / (</a:t>
            </a:r>
            <a:r>
              <a:rPr sz="1400" i="0">
                <a:solidFill>
                  <a:srgbClr val="B9A6FF"/>
                </a:solidFill>
                <a:latin typeface="Consolas"/>
              </a:rPr>
              <a:t>double</a:t>
            </a:r>
            <a:r>
              <a:rPr sz="1400" i="0">
                <a:solidFill>
                  <a:srgbClr val="EEF2FA"/>
                </a:solidFill>
                <a:latin typeface="Consolas"/>
              </a:rPr>
              <a:t>) </a:t>
            </a:r>
            <a:r>
              <a:rPr sz="1400" i="0">
                <a:solidFill>
                  <a:srgbClr val="EEF2FA"/>
                </a:solidFill>
                <a:latin typeface="Consolas"/>
              </a:rPr>
              <a:t>b</a:t>
            </a:r>
            <a:r>
              <a:rPr sz="1400" i="0">
                <a:solidFill>
                  <a:srgbClr val="EEF2FA"/>
                </a:solidFill>
                <a:latin typeface="Consolas"/>
              </a:rPr>
              <a:t>);</a:t>
            </a:r>
          </a:p>
          <a:p>
            <a:pPr algn="l">
              <a:lnSpc>
                <a:spcPct val="105000"/>
              </a:lnSpc>
              <a:spcAft>
                <a:spcPts val="0"/>
              </a:spcAft>
            </a:pPr>
            <a:r>
              <a:rPr sz="1400" i="1">
                <a:solidFill>
                  <a:srgbClr val="8FD8DB"/>
                </a:solidFill>
                <a:latin typeface="Consolas"/>
              </a:rPr>
              <a:t>// 3.5</a:t>
            </a:r>
          </a:p>
        </p:txBody>
      </p:sp>
      <p:sp>
        <p:nvSpPr>
          <p:cNvPr id="15" name="TextBox 14"/>
          <p:cNvSpPr txBox="1"/>
          <p:nvPr/>
        </p:nvSpPr>
        <p:spPr>
          <a:xfrm>
            <a:off x="8092440" y="1645920"/>
            <a:ext cx="27432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demos/IntegerDivision.java</a:t>
            </a:r>
          </a:p>
        </p:txBody>
      </p:sp>
      <p:sp>
        <p:nvSpPr>
          <p:cNvPr id="16" name="Bug band"/>
          <p:cNvSpPr/>
          <p:nvPr/>
        </p:nvSpPr>
        <p:spPr>
          <a:xfrm>
            <a:off x="841248" y="4754880"/>
            <a:ext cx="6675120" cy="105156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51560" y="4754880"/>
            <a:ext cx="6309360" cy="1051560"/>
          </a:xfrm>
          <a:prstGeom prst="rect">
            <a:avLst/>
          </a:prstGeom>
          <a:noFill/>
        </p:spPr>
        <p:txBody>
          <a:bodyPr wrap="square" lIns="0" rIns="0" tIns="0" bIns="0" anchor="ctr">
            <a:spAutoFit/>
          </a:bodyPr>
          <a:lstStyle/>
          <a:p>
            <a:pPr algn="l">
              <a:spcAft>
                <a:spcPts val="600"/>
              </a:spcAft>
            </a:pPr>
            <a:r>
              <a:rPr sz="1500" b="1" i="0">
                <a:solidFill>
                  <a:srgbClr val="8C4FF4"/>
                </a:solidFill>
                <a:latin typeface="Poppins"/>
              </a:rPr>
              <a:t>Real bug: </a:t>
            </a:r>
            <a:r>
              <a:rPr sz="1500" b="0" i="0">
                <a:solidFill>
                  <a:srgbClr val="1B2433"/>
                </a:solidFill>
                <a:latin typeface="Poppins"/>
              </a:rPr>
              <a:t>average = total / count with ints gives 89 instead of 89.6.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Casting: converting between types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st int"/>
          <p:cNvSpPr/>
          <p:nvPr/>
        </p:nvSpPr>
        <p:spPr>
          <a:xfrm>
            <a:off x="841248" y="1691640"/>
            <a:ext cx="1645920" cy="822960"/>
          </a:xfrm>
          <a:prstGeom prst="roundRect">
            <a:avLst>
              <a:gd name="adj" fmla="val 20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691640"/>
            <a:ext cx="1645920" cy="822960"/>
          </a:xfrm>
          <a:prstGeom prst="rect">
            <a:avLst/>
          </a:prstGeom>
          <a:noFill/>
        </p:spPr>
        <p:txBody>
          <a:bodyPr wrap="square" lIns="0" rIns="0" tIns="0" bIns="0" anchor="ctr">
            <a:spAutoFit/>
          </a:bodyPr>
          <a:lstStyle/>
          <a:p>
            <a:pPr algn="ctr">
              <a:spcAft>
                <a:spcPts val="600"/>
              </a:spcAft>
            </a:pPr>
            <a:r>
              <a:rPr sz="1800" b="0" i="0">
                <a:solidFill>
                  <a:srgbClr val="0366FF"/>
                </a:solidFill>
                <a:latin typeface="Consolas"/>
              </a:rPr>
              <a:t>int</a:t>
            </a:r>
          </a:p>
        </p:txBody>
      </p:sp>
      <p:cxnSp>
        <p:nvCxnSpPr>
          <p:cNvPr id="6" name="Connector 5"/>
          <p:cNvCxnSpPr/>
          <p:nvPr/>
        </p:nvCxnSpPr>
        <p:spPr>
          <a:xfrm>
            <a:off x="2532888" y="2103120"/>
            <a:ext cx="365760" cy="0"/>
          </a:xfrm>
          <a:prstGeom prst="line">
            <a:avLst/>
          </a:prstGeom>
          <a:ln w="25400">
            <a:solidFill>
              <a:srgbClr val="036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Cast long"/>
          <p:cNvSpPr/>
          <p:nvPr/>
        </p:nvSpPr>
        <p:spPr>
          <a:xfrm>
            <a:off x="2944368" y="1691640"/>
            <a:ext cx="1645920" cy="822960"/>
          </a:xfrm>
          <a:prstGeom prst="roundRect">
            <a:avLst>
              <a:gd name="adj" fmla="val 20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44368" y="1691640"/>
            <a:ext cx="1645920" cy="822960"/>
          </a:xfrm>
          <a:prstGeom prst="rect">
            <a:avLst/>
          </a:prstGeom>
          <a:noFill/>
        </p:spPr>
        <p:txBody>
          <a:bodyPr wrap="square" lIns="0" rIns="0" tIns="0" bIns="0" anchor="ctr">
            <a:spAutoFit/>
          </a:bodyPr>
          <a:lstStyle/>
          <a:p>
            <a:pPr algn="ctr">
              <a:spcAft>
                <a:spcPts val="600"/>
              </a:spcAft>
            </a:pPr>
            <a:r>
              <a:rPr sz="1800" b="0" i="0">
                <a:solidFill>
                  <a:srgbClr val="0366FF"/>
                </a:solidFill>
                <a:latin typeface="Consolas"/>
              </a:rPr>
              <a:t>long</a:t>
            </a:r>
          </a:p>
        </p:txBody>
      </p:sp>
      <p:cxnSp>
        <p:nvCxnSpPr>
          <p:cNvPr id="9" name="Connector 8"/>
          <p:cNvCxnSpPr/>
          <p:nvPr/>
        </p:nvCxnSpPr>
        <p:spPr>
          <a:xfrm>
            <a:off x="4636008" y="2103120"/>
            <a:ext cx="365760" cy="0"/>
          </a:xfrm>
          <a:prstGeom prst="line">
            <a:avLst/>
          </a:prstGeom>
          <a:ln w="25400">
            <a:solidFill>
              <a:srgbClr val="036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Cast double"/>
          <p:cNvSpPr/>
          <p:nvPr/>
        </p:nvSpPr>
        <p:spPr>
          <a:xfrm>
            <a:off x="5047488" y="1691640"/>
            <a:ext cx="1645920" cy="822960"/>
          </a:xfrm>
          <a:prstGeom prst="roundRect">
            <a:avLst>
              <a:gd name="adj" fmla="val 20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47488" y="1691640"/>
            <a:ext cx="1645920" cy="822960"/>
          </a:xfrm>
          <a:prstGeom prst="rect">
            <a:avLst/>
          </a:prstGeom>
          <a:noFill/>
        </p:spPr>
        <p:txBody>
          <a:bodyPr wrap="square" lIns="0" rIns="0" tIns="0" bIns="0" anchor="ctr">
            <a:spAutoFit/>
          </a:bodyPr>
          <a:lstStyle/>
          <a:p>
            <a:pPr algn="ctr">
              <a:spcAft>
                <a:spcPts val="600"/>
              </a:spcAft>
            </a:pPr>
            <a:r>
              <a:rPr sz="1800" b="0" i="0">
                <a:solidFill>
                  <a:srgbClr val="0366FF"/>
                </a:solidFill>
                <a:latin typeface="Consolas"/>
              </a:rPr>
              <a:t>double</a:t>
            </a:r>
          </a:p>
        </p:txBody>
      </p:sp>
      <p:sp>
        <p:nvSpPr>
          <p:cNvPr id="12" name="TextBox 11"/>
          <p:cNvSpPr txBox="1"/>
          <p:nvPr/>
        </p:nvSpPr>
        <p:spPr>
          <a:xfrm>
            <a:off x="841248" y="2697480"/>
            <a:ext cx="5943600" cy="45720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Widening: </a:t>
            </a:r>
            <a:r>
              <a:rPr sz="1600" b="0" i="0">
                <a:solidFill>
                  <a:srgbClr val="1B2433"/>
                </a:solidFill>
                <a:latin typeface="Poppins"/>
              </a:rPr>
              <a:t>automatic and safe</a:t>
            </a:r>
          </a:p>
        </p:txBody>
      </p:sp>
      <p:sp>
        <p:nvSpPr>
          <p:cNvPr id="13" name="TextBox 12"/>
          <p:cNvSpPr txBox="1"/>
          <p:nvPr/>
        </p:nvSpPr>
        <p:spPr>
          <a:xfrm>
            <a:off x="841248" y="3291840"/>
            <a:ext cx="5943600" cy="457200"/>
          </a:xfrm>
          <a:prstGeom prst="rect">
            <a:avLst/>
          </a:prstGeom>
          <a:noFill/>
        </p:spPr>
        <p:txBody>
          <a:bodyPr wrap="square" lIns="0" rIns="0" tIns="0" bIns="0" anchor="t">
            <a:spAutoFit/>
          </a:bodyPr>
          <a:lstStyle/>
          <a:p>
            <a:pPr algn="l">
              <a:spcAft>
                <a:spcPts val="600"/>
              </a:spcAft>
            </a:pPr>
            <a:r>
              <a:rPr sz="1600" b="1" i="0">
                <a:solidFill>
                  <a:srgbClr val="8C4FF4"/>
                </a:solidFill>
                <a:latin typeface="Poppins"/>
              </a:rPr>
              <a:t>Narrowing: </a:t>
            </a:r>
            <a:r>
              <a:rPr sz="1600" b="0" i="0">
                <a:solidFill>
                  <a:srgbClr val="1B2433"/>
                </a:solidFill>
                <a:latin typeface="Poppins"/>
              </a:rPr>
              <a:t>you must write the cast; data can be lost</a:t>
            </a:r>
          </a:p>
        </p:txBody>
      </p:sp>
      <p:sp>
        <p:nvSpPr>
          <p:cNvPr id="14" name="Code"/>
          <p:cNvSpPr/>
          <p:nvPr/>
        </p:nvSpPr>
        <p:spPr>
          <a:xfrm>
            <a:off x="841248" y="3931920"/>
            <a:ext cx="5943600" cy="192024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400" i="0">
                <a:solidFill>
                  <a:srgbClr val="B9A6FF"/>
                </a:solidFill>
                <a:latin typeface="Consolas"/>
              </a:rPr>
              <a:t>double</a:t>
            </a:r>
            <a:r>
              <a:rPr sz="1400" i="0">
                <a:solidFill>
                  <a:srgbClr val="EEF2FA"/>
                </a:solidFill>
                <a:latin typeface="Consolas"/>
              </a:rPr>
              <a:t> </a:t>
            </a:r>
            <a:r>
              <a:rPr sz="1400" i="0">
                <a:solidFill>
                  <a:srgbClr val="EEF2FA"/>
                </a:solidFill>
                <a:latin typeface="Consolas"/>
              </a:rPr>
              <a:t>price</a:t>
            </a:r>
            <a:r>
              <a:rPr sz="1400" i="0">
                <a:solidFill>
                  <a:srgbClr val="EEF2FA"/>
                </a:solidFill>
                <a:latin typeface="Consolas"/>
              </a:rPr>
              <a:t> = </a:t>
            </a:r>
            <a:r>
              <a:rPr sz="1400" i="0">
                <a:solidFill>
                  <a:srgbClr val="FFD58A"/>
                </a:solidFill>
                <a:latin typeface="Consolas"/>
              </a:rPr>
              <a:t>9</a:t>
            </a:r>
            <a:r>
              <a:rPr sz="1400" i="0">
                <a:solidFill>
                  <a:srgbClr val="EEF2FA"/>
                </a:solidFill>
                <a:latin typeface="Consolas"/>
              </a:rPr>
              <a:t>.</a:t>
            </a:r>
            <a:r>
              <a:rPr sz="1400" i="0">
                <a:solidFill>
                  <a:srgbClr val="FFD58A"/>
                </a:solidFill>
                <a:latin typeface="Consolas"/>
              </a:rPr>
              <a:t>99</a:t>
            </a:r>
            <a:r>
              <a:rPr sz="1400" i="0">
                <a:solidFill>
                  <a:srgbClr val="EEF2FA"/>
                </a:solidFill>
                <a:latin typeface="Consolas"/>
              </a:rPr>
              <a:t>;</a:t>
            </a:r>
          </a:p>
          <a:p>
            <a:pPr algn="l">
              <a:lnSpc>
                <a:spcPct val="105000"/>
              </a:lnSpc>
              <a:spcAft>
                <a:spcPts val="0"/>
              </a:spcAft>
            </a:pPr>
            <a:r>
              <a:rPr sz="1400" i="0">
                <a:solidFill>
                  <a:srgbClr val="B9A6FF"/>
                </a:solidFill>
                <a:latin typeface="Consolas"/>
              </a:rPr>
              <a:t>int</a:t>
            </a:r>
            <a:r>
              <a:rPr sz="1400" i="0">
                <a:solidFill>
                  <a:srgbClr val="EEF2FA"/>
                </a:solidFill>
                <a:latin typeface="Consolas"/>
              </a:rPr>
              <a:t> </a:t>
            </a:r>
            <a:r>
              <a:rPr sz="1400" i="0">
                <a:solidFill>
                  <a:srgbClr val="EEF2FA"/>
                </a:solidFill>
                <a:latin typeface="Consolas"/>
              </a:rPr>
              <a:t>whole</a:t>
            </a:r>
            <a:r>
              <a:rPr sz="1400" i="0">
                <a:solidFill>
                  <a:srgbClr val="EEF2FA"/>
                </a:solidFill>
                <a:latin typeface="Consolas"/>
              </a:rPr>
              <a:t> = (</a:t>
            </a:r>
            <a:r>
              <a:rPr sz="1400" i="0">
                <a:solidFill>
                  <a:srgbClr val="B9A6FF"/>
                </a:solidFill>
                <a:latin typeface="Consolas"/>
              </a:rPr>
              <a:t>int</a:t>
            </a:r>
            <a:r>
              <a:rPr sz="1400" i="0">
                <a:solidFill>
                  <a:srgbClr val="EEF2FA"/>
                </a:solidFill>
                <a:latin typeface="Consolas"/>
              </a:rPr>
              <a:t>) </a:t>
            </a:r>
            <a:r>
              <a:rPr sz="1400" i="0">
                <a:solidFill>
                  <a:srgbClr val="EEF2FA"/>
                </a:solidFill>
                <a:latin typeface="Consolas"/>
              </a:rPr>
              <a:t>price</a:t>
            </a:r>
            <a:r>
              <a:rPr sz="1400" i="0">
                <a:solidFill>
                  <a:srgbClr val="EEF2FA"/>
                </a:solidFill>
                <a:latin typeface="Consolas"/>
              </a:rPr>
              <a:t>;  </a:t>
            </a:r>
            <a:r>
              <a:rPr sz="1400" i="1">
                <a:solidFill>
                  <a:srgbClr val="8FD8DB"/>
                </a:solidFill>
                <a:latin typeface="Consolas"/>
              </a:rPr>
              <a:t>// 9 (cut)</a:t>
            </a:r>
          </a:p>
          <a:p>
            <a:pPr algn="l">
              <a:lnSpc>
                <a:spcPct val="105000"/>
              </a:lnSpc>
              <a:spcAft>
                <a:spcPts val="0"/>
              </a:spcAft>
            </a:pPr>
            <a:r>
              <a:rPr sz="1400" i="0">
                <a:solidFill>
                  <a:srgbClr val="B9A6FF"/>
                </a:solidFill>
                <a:latin typeface="Consolas"/>
              </a:rPr>
              <a:t>long</a:t>
            </a:r>
            <a:r>
              <a:rPr sz="1400" i="0">
                <a:solidFill>
                  <a:srgbClr val="EEF2FA"/>
                </a:solidFill>
                <a:latin typeface="Consolas"/>
              </a:rPr>
              <a:t> </a:t>
            </a:r>
            <a:r>
              <a:rPr sz="1400" i="0">
                <a:solidFill>
                  <a:srgbClr val="EEF2FA"/>
                </a:solidFill>
                <a:latin typeface="Consolas"/>
              </a:rPr>
              <a:t>big</a:t>
            </a:r>
            <a:r>
              <a:rPr sz="1400" i="0">
                <a:solidFill>
                  <a:srgbClr val="EEF2FA"/>
                </a:solidFill>
                <a:latin typeface="Consolas"/>
              </a:rPr>
              <a:t> = </a:t>
            </a:r>
            <a:r>
              <a:rPr sz="1400" i="0">
                <a:solidFill>
                  <a:srgbClr val="EEF2FA"/>
                </a:solidFill>
                <a:latin typeface="Consolas"/>
              </a:rPr>
              <a:t>whole</a:t>
            </a:r>
            <a:r>
              <a:rPr sz="1400" i="0">
                <a:solidFill>
                  <a:srgbClr val="EEF2FA"/>
                </a:solidFill>
                <a:latin typeface="Consolas"/>
              </a:rPr>
              <a:t>;         </a:t>
            </a:r>
            <a:r>
              <a:rPr sz="1400" i="1">
                <a:solidFill>
                  <a:srgbClr val="8FD8DB"/>
                </a:solidFill>
                <a:latin typeface="Consolas"/>
              </a:rPr>
              <a:t>// widening</a:t>
            </a:r>
          </a:p>
          <a:p>
            <a:pPr algn="l">
              <a:lnSpc>
                <a:spcPct val="105000"/>
              </a:lnSpc>
              <a:spcAft>
                <a:spcPts val="0"/>
              </a:spcAft>
            </a:pPr>
            <a:r>
              <a:rPr sz="1400" i="0">
                <a:solidFill>
                  <a:srgbClr val="B9A6FF"/>
                </a:solidFill>
                <a:latin typeface="Consolas"/>
              </a:rPr>
              <a:t>long</a:t>
            </a:r>
            <a:r>
              <a:rPr sz="1400" i="0">
                <a:solidFill>
                  <a:srgbClr val="EEF2FA"/>
                </a:solidFill>
                <a:latin typeface="Consolas"/>
              </a:rPr>
              <a:t> </a:t>
            </a:r>
            <a:r>
              <a:rPr sz="1400" i="0">
                <a:solidFill>
                  <a:srgbClr val="EEF2FA"/>
                </a:solidFill>
                <a:latin typeface="Consolas"/>
              </a:rPr>
              <a:t>rounded</a:t>
            </a:r>
            <a:r>
              <a:rPr sz="1400" i="0">
                <a:solidFill>
                  <a:srgbClr val="EEF2FA"/>
                </a:solidFill>
                <a:latin typeface="Consolas"/>
              </a:rPr>
              <a:t> = </a:t>
            </a:r>
            <a:r>
              <a:rPr sz="1400" i="0">
                <a:solidFill>
                  <a:srgbClr val="EEF2FA"/>
                </a:solidFill>
                <a:latin typeface="Consolas"/>
              </a:rPr>
              <a:t>Math</a:t>
            </a:r>
            <a:r>
              <a:rPr sz="1400" i="0">
                <a:solidFill>
                  <a:srgbClr val="EEF2FA"/>
                </a:solidFill>
                <a:latin typeface="Consolas"/>
              </a:rPr>
              <a:t>.</a:t>
            </a:r>
            <a:r>
              <a:rPr sz="1400" i="0">
                <a:solidFill>
                  <a:srgbClr val="EEF2FA"/>
                </a:solidFill>
                <a:latin typeface="Consolas"/>
              </a:rPr>
              <a:t>round</a:t>
            </a:r>
            <a:r>
              <a:rPr sz="1400" i="0">
                <a:solidFill>
                  <a:srgbClr val="EEF2FA"/>
                </a:solidFill>
                <a:latin typeface="Consolas"/>
              </a:rPr>
              <a:t>(</a:t>
            </a:r>
            <a:r>
              <a:rPr sz="1400" i="0">
                <a:solidFill>
                  <a:srgbClr val="EEF2FA"/>
                </a:solidFill>
                <a:latin typeface="Consolas"/>
              </a:rPr>
              <a:t>price</a:t>
            </a:r>
            <a:r>
              <a:rPr sz="1400" i="0">
                <a:solidFill>
                  <a:srgbClr val="EEF2FA"/>
                </a:solidFill>
                <a:latin typeface="Consolas"/>
              </a:rPr>
              <a:t>); </a:t>
            </a:r>
            <a:r>
              <a:rPr sz="1400" i="1">
                <a:solidFill>
                  <a:srgbClr val="8FD8DB"/>
                </a:solidFill>
                <a:latin typeface="Consolas"/>
              </a:rPr>
              <a:t>// 10</a:t>
            </a:r>
          </a:p>
        </p:txBody>
      </p:sp>
      <p:sp>
        <p:nvSpPr>
          <p:cNvPr id="15" name="TextBox 14"/>
          <p:cNvSpPr txBox="1"/>
          <p:nvPr/>
        </p:nvSpPr>
        <p:spPr>
          <a:xfrm>
            <a:off x="1069848" y="4023359"/>
            <a:ext cx="5486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demos/Casting.java</a:t>
            </a:r>
          </a:p>
        </p:txBody>
      </p:sp>
      <p:sp>
        <p:nvSpPr>
          <p:cNvPr id="16" name="Card Rule of thumb"/>
          <p:cNvSpPr/>
          <p:nvPr/>
        </p:nvSpPr>
        <p:spPr>
          <a:xfrm>
            <a:off x="7178040" y="1691640"/>
            <a:ext cx="3886200" cy="416052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79208" y="1892808"/>
            <a:ext cx="3483864"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Rule of thumb</a:t>
            </a:r>
          </a:p>
        </p:txBody>
      </p:sp>
      <p:sp>
        <p:nvSpPr>
          <p:cNvPr id="18" name="TextBox 17"/>
          <p:cNvSpPr txBox="1"/>
          <p:nvPr/>
        </p:nvSpPr>
        <p:spPr>
          <a:xfrm>
            <a:off x="7379208" y="2350008"/>
            <a:ext cx="3483864" cy="3300983"/>
          </a:xfrm>
          <a:prstGeom prst="rect">
            <a:avLst/>
          </a:prstGeom>
          <a:noFill/>
        </p:spPr>
        <p:txBody>
          <a:bodyPr wrap="square" lIns="0" rIns="0" tIns="0" bIns="0" anchor="t">
            <a:spAutoFit/>
          </a:bodyPr>
          <a:lstStyle/>
          <a:p>
            <a:pPr algn="l" marL="228600" indent="-201168">
              <a:spcAft>
                <a:spcPts val="400"/>
              </a:spcAft>
              <a:buClr>
                <a:srgbClr val="0366FF"/>
              </a:buClr>
              <a:buChar char="•"/>
            </a:pPr>
            <a:r>
              <a:rPr sz="1500" b="0" i="0">
                <a:solidFill>
                  <a:srgbClr val="1B2433"/>
                </a:solidFill>
                <a:latin typeface="Poppins"/>
              </a:rPr>
              <a:t>Small → big: Java does it for you</a:t>
            </a:r>
          </a:p>
          <a:p>
            <a:pPr algn="l" marL="228600" indent="-201168">
              <a:spcAft>
                <a:spcPts val="400"/>
              </a:spcAft>
              <a:buClr>
                <a:srgbClr val="0366FF"/>
              </a:buClr>
              <a:buChar char="•"/>
            </a:pPr>
            <a:r>
              <a:rPr sz="1500" b="0" i="0">
                <a:solidFill>
                  <a:srgbClr val="1B2433"/>
                </a:solidFill>
                <a:latin typeface="Poppins"/>
              </a:rPr>
              <a:t>Big → small: write (type) and accept the loss</a:t>
            </a:r>
          </a:p>
          <a:p>
            <a:pPr algn="l" marL="228600" indent="-201168">
              <a:spcAft>
                <a:spcPts val="400"/>
              </a:spcAft>
              <a:buClr>
                <a:srgbClr val="0366FF"/>
              </a:buClr>
              <a:buChar char="•"/>
            </a:pPr>
            <a:r>
              <a:rPr sz="1500" b="0" i="0">
                <a:solidFill>
                  <a:srgbClr val="1B2433"/>
                </a:solidFill>
                <a:latin typeface="Poppins"/>
              </a:rPr>
              <a:t>Need rounding? Use Math.round()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Strings: working with text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54480"/>
            <a:ext cx="6583680" cy="36576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500" i="0">
                <a:solidFill>
                  <a:srgbClr val="B9A6FF"/>
                </a:solidFill>
                <a:latin typeface="Consolas"/>
              </a:rPr>
              <a:t>String</a:t>
            </a:r>
            <a:r>
              <a:rPr sz="1500" i="0">
                <a:solidFill>
                  <a:srgbClr val="EEF2FA"/>
                </a:solidFill>
                <a:latin typeface="Consolas"/>
              </a:rPr>
              <a:t> </a:t>
            </a:r>
            <a:r>
              <a:rPr sz="1500" i="0">
                <a:solidFill>
                  <a:srgbClr val="EEF2FA"/>
                </a:solidFill>
                <a:latin typeface="Consolas"/>
              </a:rPr>
              <a:t>first</a:t>
            </a:r>
            <a:r>
              <a:rPr sz="1500" i="0">
                <a:solidFill>
                  <a:srgbClr val="EEF2FA"/>
                </a:solidFill>
                <a:latin typeface="Consolas"/>
              </a:rPr>
              <a:t> = </a:t>
            </a:r>
            <a:r>
              <a:rPr sz="1500" i="0">
                <a:solidFill>
                  <a:srgbClr val="9EF0C9"/>
                </a:solidFill>
                <a:latin typeface="Consolas"/>
              </a:rPr>
              <a:t>"Mona"</a:t>
            </a:r>
            <a:r>
              <a:rPr sz="1500" i="0">
                <a:solidFill>
                  <a:srgbClr val="EEF2FA"/>
                </a:solidFill>
                <a:latin typeface="Consolas"/>
              </a:rPr>
              <a:t>;</a:t>
            </a:r>
          </a:p>
          <a:p>
            <a:pPr algn="l">
              <a:lnSpc>
                <a:spcPct val="105000"/>
              </a:lnSpc>
              <a:spcAft>
                <a:spcPts val="0"/>
              </a:spcAft>
            </a:pPr>
            <a:r>
              <a:rPr sz="1500" i="0">
                <a:solidFill>
                  <a:srgbClr val="B9A6FF"/>
                </a:solidFill>
                <a:latin typeface="Consolas"/>
              </a:rPr>
              <a:t>String</a:t>
            </a:r>
            <a:r>
              <a:rPr sz="1500" i="0">
                <a:solidFill>
                  <a:srgbClr val="EEF2FA"/>
                </a:solidFill>
                <a:latin typeface="Consolas"/>
              </a:rPr>
              <a:t> </a:t>
            </a:r>
            <a:r>
              <a:rPr sz="1500" i="0">
                <a:solidFill>
                  <a:srgbClr val="EEF2FA"/>
                </a:solidFill>
                <a:latin typeface="Consolas"/>
              </a:rPr>
              <a:t>full</a:t>
            </a:r>
            <a:r>
              <a:rPr sz="1500" i="0">
                <a:solidFill>
                  <a:srgbClr val="EEF2FA"/>
                </a:solidFill>
                <a:latin typeface="Consolas"/>
              </a:rPr>
              <a:t> = </a:t>
            </a:r>
            <a:r>
              <a:rPr sz="1500" i="0">
                <a:solidFill>
                  <a:srgbClr val="EEF2FA"/>
                </a:solidFill>
                <a:latin typeface="Consolas"/>
              </a:rPr>
              <a:t>first</a:t>
            </a:r>
            <a:r>
              <a:rPr sz="1500" i="0">
                <a:solidFill>
                  <a:srgbClr val="EEF2FA"/>
                </a:solidFill>
                <a:latin typeface="Consolas"/>
              </a:rPr>
              <a:t> + </a:t>
            </a:r>
            <a:r>
              <a:rPr sz="1500" i="0">
                <a:solidFill>
                  <a:srgbClr val="9EF0C9"/>
                </a:solidFill>
                <a:latin typeface="Consolas"/>
              </a:rPr>
              <a:t>" Ali"</a:t>
            </a:r>
            <a:r>
              <a:rPr sz="1500" i="0">
                <a:solidFill>
                  <a:srgbClr val="EEF2FA"/>
                </a:solidFill>
                <a:latin typeface="Consolas"/>
              </a:rPr>
              <a:t>;</a:t>
            </a:r>
          </a:p>
          <a:p>
            <a:pPr algn="l">
              <a:lnSpc>
                <a:spcPct val="105000"/>
              </a:lnSpc>
              <a:spcAft>
                <a:spcPts val="0"/>
              </a:spcAft>
            </a:pPr>
            <a:r>
              <a:rPr sz="1500" i="0">
                <a:solidFill>
                  <a:srgbClr val="EEF2FA"/>
                </a:solidFill>
                <a:latin typeface="Consolas"/>
              </a:rPr>
              <a:t> </a:t>
            </a:r>
          </a:p>
          <a:p>
            <a:pPr algn="l">
              <a:lnSpc>
                <a:spcPct val="105000"/>
              </a:lnSpc>
              <a:spcAft>
                <a:spcPts val="0"/>
              </a:spcAft>
            </a:pPr>
            <a:r>
              <a:rPr sz="1500" i="0">
                <a:solidFill>
                  <a:srgbClr val="B9A6FF"/>
                </a:solidFill>
                <a:latin typeface="Consolas"/>
              </a:rPr>
              <a:t>System</a:t>
            </a:r>
            <a:r>
              <a:rPr sz="1500" i="0">
                <a:solidFill>
                  <a:srgbClr val="EEF2FA"/>
                </a:solidFill>
                <a:latin typeface="Consolas"/>
              </a:rPr>
              <a:t>.</a:t>
            </a:r>
            <a:r>
              <a:rPr sz="1500" i="0">
                <a:solidFill>
                  <a:srgbClr val="EEF2FA"/>
                </a:solidFill>
                <a:latin typeface="Consolas"/>
              </a:rPr>
              <a:t>out</a:t>
            </a:r>
            <a:r>
              <a:rPr sz="1500" i="0">
                <a:solidFill>
                  <a:srgbClr val="EEF2FA"/>
                </a:solidFill>
                <a:latin typeface="Consolas"/>
              </a:rPr>
              <a:t>.</a:t>
            </a:r>
            <a:r>
              <a:rPr sz="1500" i="0">
                <a:solidFill>
                  <a:srgbClr val="EEF2FA"/>
                </a:solidFill>
                <a:latin typeface="Consolas"/>
              </a:rPr>
              <a:t>println</a:t>
            </a:r>
            <a:r>
              <a:rPr sz="1500" i="0">
                <a:solidFill>
                  <a:srgbClr val="EEF2FA"/>
                </a:solidFill>
                <a:latin typeface="Consolas"/>
              </a:rPr>
              <a:t>(</a:t>
            </a:r>
            <a:r>
              <a:rPr sz="1500" i="0">
                <a:solidFill>
                  <a:srgbClr val="EEF2FA"/>
                </a:solidFill>
                <a:latin typeface="Consolas"/>
              </a:rPr>
              <a:t>full</a:t>
            </a:r>
            <a:r>
              <a:rPr sz="1500" i="0">
                <a:solidFill>
                  <a:srgbClr val="EEF2FA"/>
                </a:solidFill>
                <a:latin typeface="Consolas"/>
              </a:rPr>
              <a:t>.</a:t>
            </a:r>
            <a:r>
              <a:rPr sz="1500" i="0">
                <a:solidFill>
                  <a:srgbClr val="EEF2FA"/>
                </a:solidFill>
                <a:latin typeface="Consolas"/>
              </a:rPr>
              <a:t>length</a:t>
            </a:r>
            <a:r>
              <a:rPr sz="1500" i="0">
                <a:solidFill>
                  <a:srgbClr val="EEF2FA"/>
                </a:solidFill>
                <a:latin typeface="Consolas"/>
              </a:rPr>
              <a:t>());      </a:t>
            </a:r>
            <a:r>
              <a:rPr sz="1500" i="1">
                <a:solidFill>
                  <a:srgbClr val="8FD8DB"/>
                </a:solidFill>
                <a:latin typeface="Consolas"/>
              </a:rPr>
              <a:t>// 8</a:t>
            </a:r>
          </a:p>
          <a:p>
            <a:pPr algn="l">
              <a:lnSpc>
                <a:spcPct val="105000"/>
              </a:lnSpc>
              <a:spcAft>
                <a:spcPts val="0"/>
              </a:spcAft>
            </a:pPr>
            <a:r>
              <a:rPr sz="1500" i="0">
                <a:solidFill>
                  <a:srgbClr val="B9A6FF"/>
                </a:solidFill>
                <a:latin typeface="Consolas"/>
              </a:rPr>
              <a:t>System</a:t>
            </a:r>
            <a:r>
              <a:rPr sz="1500" i="0">
                <a:solidFill>
                  <a:srgbClr val="EEF2FA"/>
                </a:solidFill>
                <a:latin typeface="Consolas"/>
              </a:rPr>
              <a:t>.</a:t>
            </a:r>
            <a:r>
              <a:rPr sz="1500" i="0">
                <a:solidFill>
                  <a:srgbClr val="EEF2FA"/>
                </a:solidFill>
                <a:latin typeface="Consolas"/>
              </a:rPr>
              <a:t>out</a:t>
            </a:r>
            <a:r>
              <a:rPr sz="1500" i="0">
                <a:solidFill>
                  <a:srgbClr val="EEF2FA"/>
                </a:solidFill>
                <a:latin typeface="Consolas"/>
              </a:rPr>
              <a:t>.</a:t>
            </a:r>
            <a:r>
              <a:rPr sz="1500" i="0">
                <a:solidFill>
                  <a:srgbClr val="EEF2FA"/>
                </a:solidFill>
                <a:latin typeface="Consolas"/>
              </a:rPr>
              <a:t>println</a:t>
            </a:r>
            <a:r>
              <a:rPr sz="1500" i="0">
                <a:solidFill>
                  <a:srgbClr val="EEF2FA"/>
                </a:solidFill>
                <a:latin typeface="Consolas"/>
              </a:rPr>
              <a:t>(</a:t>
            </a:r>
            <a:r>
              <a:rPr sz="1500" i="0">
                <a:solidFill>
                  <a:srgbClr val="EEF2FA"/>
                </a:solidFill>
                <a:latin typeface="Consolas"/>
              </a:rPr>
              <a:t>full</a:t>
            </a:r>
            <a:r>
              <a:rPr sz="1500" i="0">
                <a:solidFill>
                  <a:srgbClr val="EEF2FA"/>
                </a:solidFill>
                <a:latin typeface="Consolas"/>
              </a:rPr>
              <a:t>.</a:t>
            </a:r>
            <a:r>
              <a:rPr sz="1500" i="0">
                <a:solidFill>
                  <a:srgbClr val="EEF2FA"/>
                </a:solidFill>
                <a:latin typeface="Consolas"/>
              </a:rPr>
              <a:t>toUpperCase</a:t>
            </a:r>
            <a:r>
              <a:rPr sz="1500" i="0">
                <a:solidFill>
                  <a:srgbClr val="EEF2FA"/>
                </a:solidFill>
                <a:latin typeface="Consolas"/>
              </a:rPr>
              <a:t>()); </a:t>
            </a:r>
            <a:r>
              <a:rPr sz="1500" i="1">
                <a:solidFill>
                  <a:srgbClr val="8FD8DB"/>
                </a:solidFill>
                <a:latin typeface="Consolas"/>
              </a:rPr>
              <a:t>// MONA ALI</a:t>
            </a:r>
          </a:p>
          <a:p>
            <a:pPr algn="l">
              <a:lnSpc>
                <a:spcPct val="105000"/>
              </a:lnSpc>
              <a:spcAft>
                <a:spcPts val="0"/>
              </a:spcAft>
            </a:pPr>
            <a:r>
              <a:rPr sz="1500" i="0">
                <a:solidFill>
                  <a:srgbClr val="B9A6FF"/>
                </a:solidFill>
                <a:latin typeface="Consolas"/>
              </a:rPr>
              <a:t>System</a:t>
            </a:r>
            <a:r>
              <a:rPr sz="1500" i="0">
                <a:solidFill>
                  <a:srgbClr val="EEF2FA"/>
                </a:solidFill>
                <a:latin typeface="Consolas"/>
              </a:rPr>
              <a:t>.</a:t>
            </a:r>
            <a:r>
              <a:rPr sz="1500" i="0">
                <a:solidFill>
                  <a:srgbClr val="EEF2FA"/>
                </a:solidFill>
                <a:latin typeface="Consolas"/>
              </a:rPr>
              <a:t>out</a:t>
            </a:r>
            <a:r>
              <a:rPr sz="1500" i="0">
                <a:solidFill>
                  <a:srgbClr val="EEF2FA"/>
                </a:solidFill>
                <a:latin typeface="Consolas"/>
              </a:rPr>
              <a:t>.</a:t>
            </a:r>
            <a:r>
              <a:rPr sz="1500" i="0">
                <a:solidFill>
                  <a:srgbClr val="EEF2FA"/>
                </a:solidFill>
                <a:latin typeface="Consolas"/>
              </a:rPr>
              <a:t>println</a:t>
            </a:r>
            <a:r>
              <a:rPr sz="1500" i="0">
                <a:solidFill>
                  <a:srgbClr val="EEF2FA"/>
                </a:solidFill>
                <a:latin typeface="Consolas"/>
              </a:rPr>
              <a:t>(</a:t>
            </a:r>
            <a:r>
              <a:rPr sz="1500" i="0">
                <a:solidFill>
                  <a:srgbClr val="EEF2FA"/>
                </a:solidFill>
                <a:latin typeface="Consolas"/>
              </a:rPr>
              <a:t>full</a:t>
            </a:r>
            <a:r>
              <a:rPr sz="1500" i="0">
                <a:solidFill>
                  <a:srgbClr val="EEF2FA"/>
                </a:solidFill>
                <a:latin typeface="Consolas"/>
              </a:rPr>
              <a:t>.</a:t>
            </a:r>
            <a:r>
              <a:rPr sz="1500" i="0">
                <a:solidFill>
                  <a:srgbClr val="EEF2FA"/>
                </a:solidFill>
                <a:latin typeface="Consolas"/>
              </a:rPr>
              <a:t>equals</a:t>
            </a:r>
            <a:r>
              <a:rPr sz="1500" i="0">
                <a:solidFill>
                  <a:srgbClr val="EEF2FA"/>
                </a:solidFill>
                <a:latin typeface="Consolas"/>
              </a:rPr>
              <a:t>(</a:t>
            </a:r>
            <a:r>
              <a:rPr sz="1500" i="0">
                <a:solidFill>
                  <a:srgbClr val="9EF0C9"/>
                </a:solidFill>
                <a:latin typeface="Consolas"/>
              </a:rPr>
              <a:t>"Mona Ali"</a:t>
            </a:r>
            <a:r>
              <a:rPr sz="1500" i="0">
                <a:solidFill>
                  <a:srgbClr val="EEF2FA"/>
                </a:solidFill>
                <a:latin typeface="Consolas"/>
              </a:rPr>
              <a:t>)); </a:t>
            </a:r>
            <a:r>
              <a:rPr sz="1500" i="1">
                <a:solidFill>
                  <a:srgbClr val="8FD8DB"/>
                </a:solidFill>
                <a:latin typeface="Consolas"/>
              </a:rPr>
              <a:t>// true</a:t>
            </a:r>
          </a:p>
          <a:p>
            <a:pPr algn="l">
              <a:lnSpc>
                <a:spcPct val="105000"/>
              </a:lnSpc>
              <a:spcAft>
                <a:spcPts val="0"/>
              </a:spcAft>
            </a:pPr>
            <a:r>
              <a:rPr sz="1500" i="0">
                <a:solidFill>
                  <a:srgbClr val="EEF2FA"/>
                </a:solidFill>
                <a:latin typeface="Consolas"/>
              </a:rPr>
              <a:t> </a:t>
            </a:r>
          </a:p>
          <a:p>
            <a:pPr algn="l">
              <a:lnSpc>
                <a:spcPct val="105000"/>
              </a:lnSpc>
              <a:spcAft>
                <a:spcPts val="0"/>
              </a:spcAft>
            </a:pPr>
            <a:r>
              <a:rPr sz="1500" i="0">
                <a:solidFill>
                  <a:srgbClr val="B9A6FF"/>
                </a:solidFill>
                <a:latin typeface="Consolas"/>
              </a:rPr>
              <a:t>System</a:t>
            </a:r>
            <a:r>
              <a:rPr sz="1500" i="0">
                <a:solidFill>
                  <a:srgbClr val="EEF2FA"/>
                </a:solidFill>
                <a:latin typeface="Consolas"/>
              </a:rPr>
              <a:t>.</a:t>
            </a:r>
            <a:r>
              <a:rPr sz="1500" i="0">
                <a:solidFill>
                  <a:srgbClr val="EEF2FA"/>
                </a:solidFill>
                <a:latin typeface="Consolas"/>
              </a:rPr>
              <a:t>out</a:t>
            </a:r>
            <a:r>
              <a:rPr sz="1500" i="0">
                <a:solidFill>
                  <a:srgbClr val="EEF2FA"/>
                </a:solidFill>
                <a:latin typeface="Consolas"/>
              </a:rPr>
              <a:t>.</a:t>
            </a:r>
            <a:r>
              <a:rPr sz="1500" i="0">
                <a:solidFill>
                  <a:srgbClr val="EEF2FA"/>
                </a:solidFill>
                <a:latin typeface="Consolas"/>
              </a:rPr>
              <a:t>println</a:t>
            </a:r>
            <a:r>
              <a:rPr sz="1500" i="0">
                <a:solidFill>
                  <a:srgbClr val="EEF2FA"/>
                </a:solidFill>
                <a:latin typeface="Consolas"/>
              </a:rPr>
              <a:t>(</a:t>
            </a:r>
            <a:r>
              <a:rPr sz="1500" i="0">
                <a:solidFill>
                  <a:srgbClr val="9EF0C9"/>
                </a:solidFill>
                <a:latin typeface="Consolas"/>
              </a:rPr>
              <a:t>"1"</a:t>
            </a:r>
            <a:r>
              <a:rPr sz="1500" i="0">
                <a:solidFill>
                  <a:srgbClr val="EEF2FA"/>
                </a:solidFill>
                <a:latin typeface="Consolas"/>
              </a:rPr>
              <a:t> + </a:t>
            </a:r>
            <a:r>
              <a:rPr sz="1500" i="0">
                <a:solidFill>
                  <a:srgbClr val="FFD58A"/>
                </a:solidFill>
                <a:latin typeface="Consolas"/>
              </a:rPr>
              <a:t>2</a:t>
            </a:r>
            <a:r>
              <a:rPr sz="1500" i="0">
                <a:solidFill>
                  <a:srgbClr val="EEF2FA"/>
                </a:solidFill>
                <a:latin typeface="Consolas"/>
              </a:rPr>
              <a:t> + </a:t>
            </a:r>
            <a:r>
              <a:rPr sz="1500" i="0">
                <a:solidFill>
                  <a:srgbClr val="FFD58A"/>
                </a:solidFill>
                <a:latin typeface="Consolas"/>
              </a:rPr>
              <a:t>3</a:t>
            </a:r>
            <a:r>
              <a:rPr sz="1500" i="0">
                <a:solidFill>
                  <a:srgbClr val="EEF2FA"/>
                </a:solidFill>
                <a:latin typeface="Consolas"/>
              </a:rPr>
              <a:t>);  </a:t>
            </a:r>
            <a:r>
              <a:rPr sz="1500" i="1">
                <a:solidFill>
                  <a:srgbClr val="8FD8DB"/>
                </a:solidFill>
                <a:latin typeface="Consolas"/>
              </a:rPr>
              <a:t>// 123</a:t>
            </a:r>
          </a:p>
          <a:p>
            <a:pPr algn="l">
              <a:lnSpc>
                <a:spcPct val="105000"/>
              </a:lnSpc>
              <a:spcAft>
                <a:spcPts val="0"/>
              </a:spcAft>
            </a:pPr>
            <a:r>
              <a:rPr sz="1500" i="0">
                <a:solidFill>
                  <a:srgbClr val="B9A6FF"/>
                </a:solidFill>
                <a:latin typeface="Consolas"/>
              </a:rPr>
              <a:t>System</a:t>
            </a:r>
            <a:r>
              <a:rPr sz="1500" i="0">
                <a:solidFill>
                  <a:srgbClr val="EEF2FA"/>
                </a:solidFill>
                <a:latin typeface="Consolas"/>
              </a:rPr>
              <a:t>.</a:t>
            </a:r>
            <a:r>
              <a:rPr sz="1500" i="0">
                <a:solidFill>
                  <a:srgbClr val="EEF2FA"/>
                </a:solidFill>
                <a:latin typeface="Consolas"/>
              </a:rPr>
              <a:t>out</a:t>
            </a:r>
            <a:r>
              <a:rPr sz="1500" i="0">
                <a:solidFill>
                  <a:srgbClr val="EEF2FA"/>
                </a:solidFill>
                <a:latin typeface="Consolas"/>
              </a:rPr>
              <a:t>.</a:t>
            </a:r>
            <a:r>
              <a:rPr sz="1500" i="0">
                <a:solidFill>
                  <a:srgbClr val="EEF2FA"/>
                </a:solidFill>
                <a:latin typeface="Consolas"/>
              </a:rPr>
              <a:t>println</a:t>
            </a:r>
            <a:r>
              <a:rPr sz="1500" i="0">
                <a:solidFill>
                  <a:srgbClr val="EEF2FA"/>
                </a:solidFill>
                <a:latin typeface="Consolas"/>
              </a:rPr>
              <a:t>(</a:t>
            </a:r>
            <a:r>
              <a:rPr sz="1500" i="0">
                <a:solidFill>
                  <a:srgbClr val="FFD58A"/>
                </a:solidFill>
                <a:latin typeface="Consolas"/>
              </a:rPr>
              <a:t>1</a:t>
            </a:r>
            <a:r>
              <a:rPr sz="1500" i="0">
                <a:solidFill>
                  <a:srgbClr val="EEF2FA"/>
                </a:solidFill>
                <a:latin typeface="Consolas"/>
              </a:rPr>
              <a:t> + </a:t>
            </a:r>
            <a:r>
              <a:rPr sz="1500" i="0">
                <a:solidFill>
                  <a:srgbClr val="FFD58A"/>
                </a:solidFill>
                <a:latin typeface="Consolas"/>
              </a:rPr>
              <a:t>2</a:t>
            </a:r>
            <a:r>
              <a:rPr sz="1500" i="0">
                <a:solidFill>
                  <a:srgbClr val="EEF2FA"/>
                </a:solidFill>
                <a:latin typeface="Consolas"/>
              </a:rPr>
              <a:t> + </a:t>
            </a:r>
            <a:r>
              <a:rPr sz="1500" i="0">
                <a:solidFill>
                  <a:srgbClr val="9EF0C9"/>
                </a:solidFill>
                <a:latin typeface="Consolas"/>
              </a:rPr>
              <a:t>"3"</a:t>
            </a:r>
            <a:r>
              <a:rPr sz="1500" i="0">
                <a:solidFill>
                  <a:srgbClr val="EEF2FA"/>
                </a:solidFill>
                <a:latin typeface="Consolas"/>
              </a:rPr>
              <a:t>);  </a:t>
            </a:r>
            <a:r>
              <a:rPr sz="1500" i="1">
                <a:solidFill>
                  <a:srgbClr val="8FD8DB"/>
                </a:solidFill>
                <a:latin typeface="Consolas"/>
              </a:rPr>
              <a:t>// 33</a:t>
            </a:r>
          </a:p>
        </p:txBody>
      </p:sp>
      <p:sp>
        <p:nvSpPr>
          <p:cNvPr id="5" name="TextBox 4"/>
          <p:cNvSpPr txBox="1"/>
          <p:nvPr/>
        </p:nvSpPr>
        <p:spPr>
          <a:xfrm>
            <a:off x="1069848" y="1645920"/>
            <a:ext cx="612648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demos/StringsDemo.java</a:t>
            </a:r>
          </a:p>
        </p:txBody>
      </p:sp>
      <p:sp>
        <p:nvSpPr>
          <p:cNvPr id="6" name="Card Key ideas"/>
          <p:cNvSpPr/>
          <p:nvPr/>
        </p:nvSpPr>
        <p:spPr>
          <a:xfrm>
            <a:off x="7726679" y="1554480"/>
            <a:ext cx="3337560" cy="36576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27848" y="1755648"/>
            <a:ext cx="29352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Key ideas</a:t>
            </a:r>
          </a:p>
        </p:txBody>
      </p:sp>
      <p:sp>
        <p:nvSpPr>
          <p:cNvPr id="8" name="TextBox 7"/>
          <p:cNvSpPr txBox="1"/>
          <p:nvPr/>
        </p:nvSpPr>
        <p:spPr>
          <a:xfrm>
            <a:off x="7927848" y="2212848"/>
            <a:ext cx="2935224" cy="279806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a:solidFill>
                  <a:srgbClr val="1B2433"/>
                </a:solidFill>
                <a:latin typeface="Poppins"/>
              </a:rPr>
              <a:t>+ joins text</a:t>
            </a:r>
          </a:p>
          <a:p>
            <a:pPr algn="l" marL="228600" indent="-201168">
              <a:spcAft>
                <a:spcPts val="400"/>
              </a:spcAft>
              <a:buClr>
                <a:srgbClr val="0366FF"/>
              </a:buClr>
              <a:buChar char="•"/>
            </a:pPr>
            <a:r>
              <a:rPr sz="1400" b="0" i="0">
                <a:solidFill>
                  <a:srgbClr val="1B2433"/>
                </a:solidFill>
                <a:latin typeface="Poppins"/>
              </a:rPr>
              <a:t>Java reads left to right</a:t>
            </a:r>
          </a:p>
          <a:p>
            <a:pPr algn="l" marL="228600" indent="-201168">
              <a:spcAft>
                <a:spcPts val="400"/>
              </a:spcAft>
              <a:buClr>
                <a:srgbClr val="0366FF"/>
              </a:buClr>
              <a:buChar char="•"/>
            </a:pPr>
            <a:r>
              <a:rPr sz="1400" b="0" i="0">
                <a:solidFill>
                  <a:srgbClr val="1B2433"/>
                </a:solidFill>
                <a:latin typeface="Poppins"/>
              </a:rPr>
              <a:t>Compare text with .equals(), not ==</a:t>
            </a:r>
          </a:p>
          <a:p>
            <a:pPr algn="l" marL="228600" indent="-201168">
              <a:spcAft>
                <a:spcPts val="400"/>
              </a:spcAft>
              <a:buClr>
                <a:srgbClr val="0366FF"/>
              </a:buClr>
              <a:buChar char="•"/>
            </a:pPr>
            <a:r>
              <a:rPr sz="1400" b="0" i="0">
                <a:solidFill>
                  <a:srgbClr val="1B2433"/>
                </a:solidFill>
                <a:latin typeface="Poppins"/>
              </a:rPr>
              <a:t>Strings never change; methods return new ones</a:t>
            </a:r>
          </a:p>
        </p:txBody>
      </p:sp>
      <p:sp>
        <p:nvSpPr>
          <p:cNvPr id="9" name="TextBox 8"/>
          <p:cNvSpPr txBox="1"/>
          <p:nvPr/>
        </p:nvSpPr>
        <p:spPr>
          <a:xfrm>
            <a:off x="841248" y="5486400"/>
            <a:ext cx="10241280" cy="457200"/>
          </a:xfrm>
          <a:prstGeom prst="rect">
            <a:avLst/>
          </a:prstGeom>
          <a:noFill/>
        </p:spPr>
        <p:txBody>
          <a:bodyPr wrap="square" lIns="0" rIns="0" tIns="0" bIns="0" anchor="t">
            <a:spAutoFit/>
          </a:bodyPr>
          <a:lstStyle/>
          <a:p>
            <a:pPr algn="l">
              <a:spcAft>
                <a:spcPts val="600"/>
              </a:spcAft>
            </a:pPr>
            <a:r>
              <a:rPr sz="1500" b="0" i="0">
                <a:solidFill>
                  <a:srgbClr val="5B6475"/>
                </a:solidFill>
                <a:latin typeface="Poppins"/>
              </a:rPr>
              <a:t>Useful today: length(), toUpperCase(), toLowerCase(), trim(), equals(), contains()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Talking to the user</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05</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Reading input, a live-coded tip calculator, and a quick quiz</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Reading input with Scanner</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300" i="0">
                <a:solidFill>
                  <a:srgbClr val="B9A6FF"/>
                </a:solidFill>
                <a:latin typeface="Consolas"/>
              </a:rPr>
              <a:t>import</a:t>
            </a:r>
            <a:r>
              <a:rPr sz="1300" i="0">
                <a:solidFill>
                  <a:srgbClr val="EEF2FA"/>
                </a:solidFill>
                <a:latin typeface="Consolas"/>
              </a:rPr>
              <a:t> </a:t>
            </a:r>
            <a:r>
              <a:rPr sz="1300" i="0">
                <a:solidFill>
                  <a:srgbClr val="EEF2FA"/>
                </a:solidFill>
                <a:latin typeface="Consolas"/>
              </a:rPr>
              <a:t>java</a:t>
            </a:r>
            <a:r>
              <a:rPr sz="1300" i="0">
                <a:solidFill>
                  <a:srgbClr val="EEF2FA"/>
                </a:solidFill>
                <a:latin typeface="Consolas"/>
              </a:rPr>
              <a:t>.</a:t>
            </a:r>
            <a:r>
              <a:rPr sz="1300" i="0">
                <a:solidFill>
                  <a:srgbClr val="EEF2FA"/>
                </a:solidFill>
                <a:latin typeface="Consolas"/>
              </a:rPr>
              <a:t>util</a:t>
            </a:r>
            <a:r>
              <a:rPr sz="1300" i="0">
                <a:solidFill>
                  <a:srgbClr val="EEF2FA"/>
                </a:solidFill>
                <a:latin typeface="Consolas"/>
              </a:rPr>
              <a:t>.</a:t>
            </a:r>
            <a:r>
              <a:rPr sz="1300" i="0">
                <a:solidFill>
                  <a:srgbClr val="B9A6FF"/>
                </a:solidFill>
                <a:latin typeface="Consolas"/>
              </a:rPr>
              <a:t>Scanner</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p>
          <a:p>
            <a:pPr algn="l">
              <a:lnSpc>
                <a:spcPct val="105000"/>
              </a:lnSpc>
              <a:spcAft>
                <a:spcPts val="0"/>
              </a:spcAft>
            </a:pPr>
            <a:r>
              <a:rPr sz="1300" i="0">
                <a:solidFill>
                  <a:srgbClr val="B9A6FF"/>
                </a:solidFill>
                <a:latin typeface="Consolas"/>
              </a:rPr>
              <a:t>public</a:t>
            </a:r>
            <a:r>
              <a:rPr sz="1300" i="0">
                <a:solidFill>
                  <a:srgbClr val="EEF2FA"/>
                </a:solidFill>
                <a:latin typeface="Consolas"/>
              </a:rPr>
              <a:t> </a:t>
            </a:r>
            <a:r>
              <a:rPr sz="1300" i="0">
                <a:solidFill>
                  <a:srgbClr val="B9A6FF"/>
                </a:solidFill>
                <a:latin typeface="Consolas"/>
              </a:rPr>
              <a:t>class</a:t>
            </a:r>
            <a:r>
              <a:rPr sz="1300" i="0">
                <a:solidFill>
                  <a:srgbClr val="EEF2FA"/>
                </a:solidFill>
                <a:latin typeface="Consolas"/>
              </a:rPr>
              <a:t> </a:t>
            </a:r>
            <a:r>
              <a:rPr sz="1300" i="0">
                <a:solidFill>
                  <a:srgbClr val="EEF2FA"/>
                </a:solidFill>
                <a:latin typeface="Consolas"/>
              </a:rPr>
              <a:t>Greeting</a:t>
            </a:r>
            <a:r>
              <a:rPr sz="1300" i="0">
                <a:solidFill>
                  <a:srgbClr val="EEF2FA"/>
                </a:solidFill>
                <a:latin typeface="Consolas"/>
              </a:rPr>
              <a:t> {</a:t>
            </a:r>
          </a:p>
          <a:p>
            <a:pPr algn="l">
              <a:lnSpc>
                <a:spcPct val="105000"/>
              </a:lnSpc>
              <a:spcAft>
                <a:spcPts val="0"/>
              </a:spcAft>
            </a:pPr>
            <a:r>
              <a:rPr sz="1300" i="0">
                <a:solidFill>
                  <a:srgbClr val="EEF2FA"/>
                </a:solidFill>
                <a:latin typeface="Consolas"/>
              </a:rPr>
              <a:t>    </a:t>
            </a:r>
            <a:r>
              <a:rPr sz="1300" i="0">
                <a:solidFill>
                  <a:srgbClr val="B9A6FF"/>
                </a:solidFill>
                <a:latin typeface="Consolas"/>
              </a:rPr>
              <a:t>public</a:t>
            </a:r>
            <a:r>
              <a:rPr sz="1300" i="0">
                <a:solidFill>
                  <a:srgbClr val="EEF2FA"/>
                </a:solidFill>
                <a:latin typeface="Consolas"/>
              </a:rPr>
              <a:t> </a:t>
            </a:r>
            <a:r>
              <a:rPr sz="1300" i="0">
                <a:solidFill>
                  <a:srgbClr val="B9A6FF"/>
                </a:solidFill>
                <a:latin typeface="Consolas"/>
              </a:rPr>
              <a:t>static</a:t>
            </a:r>
            <a:r>
              <a:rPr sz="1300" i="0">
                <a:solidFill>
                  <a:srgbClr val="EEF2FA"/>
                </a:solidFill>
                <a:latin typeface="Consolas"/>
              </a:rPr>
              <a:t> </a:t>
            </a:r>
            <a:r>
              <a:rPr sz="1300" i="0">
                <a:solidFill>
                  <a:srgbClr val="B9A6FF"/>
                </a:solidFill>
                <a:latin typeface="Consolas"/>
              </a:rPr>
              <a:t>void</a:t>
            </a:r>
            <a:r>
              <a:rPr sz="1300" i="0">
                <a:solidFill>
                  <a:srgbClr val="EEF2FA"/>
                </a:solidFill>
                <a:latin typeface="Consolas"/>
              </a:rPr>
              <a:t> </a:t>
            </a:r>
            <a:r>
              <a:rPr sz="1300" i="0">
                <a:solidFill>
                  <a:srgbClr val="EEF2FA"/>
                </a:solidFill>
                <a:latin typeface="Consolas"/>
              </a:rPr>
              <a:t>main</a:t>
            </a:r>
            <a:r>
              <a:rPr sz="1300" i="0">
                <a:solidFill>
                  <a:srgbClr val="EEF2FA"/>
                </a:solidFill>
                <a:latin typeface="Consolas"/>
              </a:rPr>
              <a:t>(</a:t>
            </a:r>
            <a:r>
              <a:rPr sz="1300" i="0">
                <a:solidFill>
                  <a:srgbClr val="B9A6FF"/>
                </a:solidFill>
                <a:latin typeface="Consolas"/>
              </a:rPr>
              <a:t>String</a:t>
            </a:r>
            <a:r>
              <a:rPr sz="1300" i="0">
                <a:solidFill>
                  <a:srgbClr val="EEF2FA"/>
                </a:solidFill>
                <a:latin typeface="Consolas"/>
              </a:rPr>
              <a:t>[] </a:t>
            </a:r>
            <a:r>
              <a:rPr sz="1300" i="0">
                <a:solidFill>
                  <a:srgbClr val="EEF2FA"/>
                </a:solidFill>
                <a:latin typeface="Consolas"/>
              </a:rPr>
              <a:t>args</a:t>
            </a:r>
            <a:r>
              <a:rPr sz="1300" i="0">
                <a:solidFill>
                  <a:srgbClr val="EEF2FA"/>
                </a:solidFill>
                <a:latin typeface="Consolas"/>
              </a:rPr>
              <a:t>) {</a:t>
            </a:r>
          </a:p>
          <a:p>
            <a:pPr algn="l">
              <a:lnSpc>
                <a:spcPct val="105000"/>
              </a:lnSpc>
              <a:spcAft>
                <a:spcPts val="0"/>
              </a:spcAft>
            </a:pPr>
            <a:r>
              <a:rPr sz="1300" i="0">
                <a:solidFill>
                  <a:srgbClr val="EEF2FA"/>
                </a:solidFill>
                <a:latin typeface="Consolas"/>
              </a:rPr>
              <a:t>        </a:t>
            </a:r>
            <a:r>
              <a:rPr sz="1300" i="0">
                <a:solidFill>
                  <a:srgbClr val="B9A6FF"/>
                </a:solidFill>
                <a:latin typeface="Consolas"/>
              </a:rPr>
              <a:t>Scanner</a:t>
            </a:r>
            <a:r>
              <a:rPr sz="1300" i="0">
                <a:solidFill>
                  <a:srgbClr val="EEF2FA"/>
                </a:solidFill>
                <a:latin typeface="Consolas"/>
              </a:rPr>
              <a:t> </a:t>
            </a:r>
            <a:r>
              <a:rPr sz="1300" i="0">
                <a:solidFill>
                  <a:srgbClr val="EEF2FA"/>
                </a:solidFill>
                <a:latin typeface="Consolas"/>
              </a:rPr>
              <a:t>in</a:t>
            </a:r>
            <a:r>
              <a:rPr sz="1300" i="0">
                <a:solidFill>
                  <a:srgbClr val="EEF2FA"/>
                </a:solidFill>
                <a:latin typeface="Consolas"/>
              </a:rPr>
              <a:t> = </a:t>
            </a:r>
            <a:r>
              <a:rPr sz="1300" i="0">
                <a:solidFill>
                  <a:srgbClr val="B9A6FF"/>
                </a:solidFill>
                <a:latin typeface="Consolas"/>
              </a:rPr>
              <a:t>new</a:t>
            </a:r>
            <a:r>
              <a:rPr sz="1300" i="0">
                <a:solidFill>
                  <a:srgbClr val="EEF2FA"/>
                </a:solidFill>
                <a:latin typeface="Consolas"/>
              </a:rPr>
              <a:t> </a:t>
            </a:r>
            <a:r>
              <a:rPr sz="1300" i="0">
                <a:solidFill>
                  <a:srgbClr val="B9A6FF"/>
                </a:solidFill>
                <a:latin typeface="Consolas"/>
              </a:rPr>
              <a:t>Scanner</a:t>
            </a:r>
            <a:r>
              <a:rPr sz="1300" i="0">
                <a:solidFill>
                  <a:srgbClr val="EEF2FA"/>
                </a:solidFill>
                <a:latin typeface="Consolas"/>
              </a:rPr>
              <a:t>(</a:t>
            </a: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in</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p>
          <a:p>
            <a:pPr algn="l">
              <a:lnSpc>
                <a:spcPct val="105000"/>
              </a:lnSpc>
              <a:spcAft>
                <a:spcPts val="0"/>
              </a:spcAft>
            </a:pPr>
            <a:r>
              <a:rPr sz="1300" i="0">
                <a:solidFill>
                  <a:srgbClr val="EEF2FA"/>
                </a:solidFill>
                <a:latin typeface="Consolas"/>
              </a:rPr>
              <a:t>        </a:t>
            </a: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a:t>
            </a:r>
            <a:r>
              <a:rPr sz="1300" i="0">
                <a:solidFill>
                  <a:srgbClr val="EEF2FA"/>
                </a:solidFill>
                <a:latin typeface="Consolas"/>
              </a:rPr>
              <a:t>(</a:t>
            </a:r>
            <a:r>
              <a:rPr sz="1300" i="0">
                <a:solidFill>
                  <a:srgbClr val="9EF0C9"/>
                </a:solidFill>
                <a:latin typeface="Consolas"/>
              </a:rPr>
              <a:t>"Your name: "</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r>
              <a:rPr sz="1300" i="0">
                <a:solidFill>
                  <a:srgbClr val="B9A6FF"/>
                </a:solidFill>
                <a:latin typeface="Consolas"/>
              </a:rPr>
              <a:t>String</a:t>
            </a:r>
            <a:r>
              <a:rPr sz="1300" i="0">
                <a:solidFill>
                  <a:srgbClr val="EEF2FA"/>
                </a:solidFill>
                <a:latin typeface="Consolas"/>
              </a:rPr>
              <a:t> </a:t>
            </a:r>
            <a:r>
              <a:rPr sz="1300" i="0">
                <a:solidFill>
                  <a:srgbClr val="EEF2FA"/>
                </a:solidFill>
                <a:latin typeface="Consolas"/>
              </a:rPr>
              <a:t>name</a:t>
            </a:r>
            <a:r>
              <a:rPr sz="1300" i="0">
                <a:solidFill>
                  <a:srgbClr val="EEF2FA"/>
                </a:solidFill>
                <a:latin typeface="Consolas"/>
              </a:rPr>
              <a:t> = </a:t>
            </a:r>
            <a:r>
              <a:rPr sz="1300" i="0">
                <a:solidFill>
                  <a:srgbClr val="EEF2FA"/>
                </a:solidFill>
                <a:latin typeface="Consolas"/>
              </a:rPr>
              <a:t>in</a:t>
            </a:r>
            <a:r>
              <a:rPr sz="1300" i="0">
                <a:solidFill>
                  <a:srgbClr val="EEF2FA"/>
                </a:solidFill>
                <a:latin typeface="Consolas"/>
              </a:rPr>
              <a:t>.</a:t>
            </a:r>
            <a:r>
              <a:rPr sz="1300" i="0">
                <a:solidFill>
                  <a:srgbClr val="EEF2FA"/>
                </a:solidFill>
                <a:latin typeface="Consolas"/>
              </a:rPr>
              <a:t>nextLine</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p>
          <a:p>
            <a:pPr algn="l">
              <a:lnSpc>
                <a:spcPct val="105000"/>
              </a:lnSpc>
              <a:spcAft>
                <a:spcPts val="0"/>
              </a:spcAft>
            </a:pPr>
            <a:r>
              <a:rPr sz="1300" i="0">
                <a:solidFill>
                  <a:srgbClr val="EEF2FA"/>
                </a:solidFill>
                <a:latin typeface="Consolas"/>
              </a:rPr>
              <a:t>        </a:t>
            </a: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a:t>
            </a:r>
            <a:r>
              <a:rPr sz="1300" i="0">
                <a:solidFill>
                  <a:srgbClr val="EEF2FA"/>
                </a:solidFill>
                <a:latin typeface="Consolas"/>
              </a:rPr>
              <a:t>(</a:t>
            </a:r>
            <a:r>
              <a:rPr sz="1300" i="0">
                <a:solidFill>
                  <a:srgbClr val="9EF0C9"/>
                </a:solidFill>
                <a:latin typeface="Consolas"/>
              </a:rPr>
              <a:t>"Your age: "</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r>
              <a:rPr sz="1300" i="0">
                <a:solidFill>
                  <a:srgbClr val="B9A6FF"/>
                </a:solidFill>
                <a:latin typeface="Consolas"/>
              </a:rPr>
              <a:t>int</a:t>
            </a:r>
            <a:r>
              <a:rPr sz="1300" i="0">
                <a:solidFill>
                  <a:srgbClr val="EEF2FA"/>
                </a:solidFill>
                <a:latin typeface="Consolas"/>
              </a:rPr>
              <a:t> </a:t>
            </a:r>
            <a:r>
              <a:rPr sz="1300" i="0">
                <a:solidFill>
                  <a:srgbClr val="EEF2FA"/>
                </a:solidFill>
                <a:latin typeface="Consolas"/>
              </a:rPr>
              <a:t>age</a:t>
            </a:r>
            <a:r>
              <a:rPr sz="1300" i="0">
                <a:solidFill>
                  <a:srgbClr val="EEF2FA"/>
                </a:solidFill>
                <a:latin typeface="Consolas"/>
              </a:rPr>
              <a:t> = </a:t>
            </a:r>
            <a:r>
              <a:rPr sz="1300" i="0">
                <a:solidFill>
                  <a:srgbClr val="EEF2FA"/>
                </a:solidFill>
                <a:latin typeface="Consolas"/>
              </a:rPr>
              <a:t>in</a:t>
            </a:r>
            <a:r>
              <a:rPr sz="1300" i="0">
                <a:solidFill>
                  <a:srgbClr val="EEF2FA"/>
                </a:solidFill>
                <a:latin typeface="Consolas"/>
              </a:rPr>
              <a:t>.</a:t>
            </a:r>
            <a:r>
              <a:rPr sz="1300" i="0">
                <a:solidFill>
                  <a:srgbClr val="EEF2FA"/>
                </a:solidFill>
                <a:latin typeface="Consolas"/>
              </a:rPr>
              <a:t>nextInt</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p>
          <a:p>
            <a:pPr algn="l">
              <a:lnSpc>
                <a:spcPct val="105000"/>
              </a:lnSpc>
              <a:spcAft>
                <a:spcPts val="0"/>
              </a:spcAft>
            </a:pPr>
            <a:r>
              <a:rPr sz="1300" i="0">
                <a:solidFill>
                  <a:srgbClr val="EEF2FA"/>
                </a:solidFill>
                <a:latin typeface="Consolas"/>
              </a:rPr>
              <a:t>        </a:t>
            </a: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println</a:t>
            </a:r>
            <a:r>
              <a:rPr sz="1300" i="0">
                <a:solidFill>
                  <a:srgbClr val="EEF2FA"/>
                </a:solidFill>
                <a:latin typeface="Consolas"/>
              </a:rPr>
              <a:t>(</a:t>
            </a:r>
            <a:r>
              <a:rPr sz="1300" i="0">
                <a:solidFill>
                  <a:srgbClr val="9EF0C9"/>
                </a:solidFill>
                <a:latin typeface="Consolas"/>
              </a:rPr>
              <a:t>"Hi "</a:t>
            </a:r>
            <a:r>
              <a:rPr sz="1300" i="0">
                <a:solidFill>
                  <a:srgbClr val="EEF2FA"/>
                </a:solidFill>
                <a:latin typeface="Consolas"/>
              </a:rPr>
              <a:t> + </a:t>
            </a:r>
            <a:r>
              <a:rPr sz="1300" i="0">
                <a:solidFill>
                  <a:srgbClr val="EEF2FA"/>
                </a:solidFill>
                <a:latin typeface="Consolas"/>
              </a:rPr>
              <a:t>name</a:t>
            </a:r>
          </a:p>
          <a:p>
            <a:pPr algn="l">
              <a:lnSpc>
                <a:spcPct val="105000"/>
              </a:lnSpc>
              <a:spcAft>
                <a:spcPts val="0"/>
              </a:spcAft>
            </a:pPr>
            <a:r>
              <a:rPr sz="1300" i="0">
                <a:solidFill>
                  <a:srgbClr val="EEF2FA"/>
                </a:solidFill>
                <a:latin typeface="Consolas"/>
              </a:rPr>
              <a:t>            + </a:t>
            </a:r>
            <a:r>
              <a:rPr sz="1300" i="0">
                <a:solidFill>
                  <a:srgbClr val="9EF0C9"/>
                </a:solidFill>
                <a:latin typeface="Consolas"/>
              </a:rPr>
              <a:t>", next year you'll be "</a:t>
            </a:r>
            <a:r>
              <a:rPr sz="1300" i="0">
                <a:solidFill>
                  <a:srgbClr val="EEF2FA"/>
                </a:solidFill>
                <a:latin typeface="Consolas"/>
              </a:rPr>
              <a:t> + (</a:t>
            </a:r>
            <a:r>
              <a:rPr sz="1300" i="0">
                <a:solidFill>
                  <a:srgbClr val="EEF2FA"/>
                </a:solidFill>
                <a:latin typeface="Consolas"/>
              </a:rPr>
              <a:t>age</a:t>
            </a:r>
            <a:r>
              <a:rPr sz="1300" i="0">
                <a:solidFill>
                  <a:srgbClr val="EEF2FA"/>
                </a:solidFill>
                <a:latin typeface="Consolas"/>
              </a:rPr>
              <a:t> + </a:t>
            </a:r>
            <a:r>
              <a:rPr sz="1300" i="0">
                <a:solidFill>
                  <a:srgbClr val="FFD58A"/>
                </a:solidFill>
                <a:latin typeface="Consolas"/>
              </a:rPr>
              <a:t>1</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p>
          <a:p>
            <a:pPr algn="l">
              <a:lnSpc>
                <a:spcPct val="105000"/>
              </a:lnSpc>
              <a:spcAft>
                <a:spcPts val="0"/>
              </a:spcAft>
            </a:pPr>
            <a:r>
              <a:rPr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demos/Greeting.java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Scanner methods</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a:solidFill>
                  <a:srgbClr val="1B2433"/>
                </a:solidFill>
                <a:latin typeface="Poppins"/>
              </a:rPr>
              <a:t>nextLine(): a full line of text</a:t>
            </a:r>
          </a:p>
          <a:p>
            <a:pPr algn="l" marL="228600" indent="-201168">
              <a:spcAft>
                <a:spcPts val="400"/>
              </a:spcAft>
              <a:buClr>
                <a:srgbClr val="0366FF"/>
              </a:buClr>
              <a:buChar char="•"/>
            </a:pPr>
            <a:r>
              <a:rPr sz="1400" b="0" i="0">
                <a:solidFill>
                  <a:srgbClr val="1B2433"/>
                </a:solidFill>
                <a:latin typeface="Poppins"/>
              </a:rPr>
              <a:t>nextInt(): a whole number</a:t>
            </a:r>
          </a:p>
          <a:p>
            <a:pPr algn="l" marL="228600" indent="-201168">
              <a:spcAft>
                <a:spcPts val="400"/>
              </a:spcAft>
              <a:buClr>
                <a:srgbClr val="0366FF"/>
              </a:buClr>
              <a:buChar char="•"/>
            </a:pPr>
            <a:r>
              <a:rPr sz="1400" b="0" i="0">
                <a:solidFill>
                  <a:srgbClr val="1B2433"/>
                </a:solidFill>
                <a:latin typeface="Poppins"/>
              </a:rPr>
              <a:t>nextDouble(): a decimal</a:t>
            </a:r>
          </a:p>
          <a:p>
            <a:pPr algn="l" marL="228600" indent="-201168">
              <a:spcAft>
                <a:spcPts val="400"/>
              </a:spcAft>
              <a:buClr>
                <a:srgbClr val="0366FF"/>
              </a:buClr>
              <a:buChar char="•"/>
            </a:pPr>
            <a:r>
              <a:rPr sz="1400" b="0" i="0">
                <a:solidFill>
                  <a:srgbClr val="1B2433"/>
                </a:solidFill>
                <a:latin typeface="Poppins"/>
              </a:rPr>
              <a:t>print stays on the line; println moves down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The Scanner newline trap</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691640"/>
            <a:ext cx="4983480" cy="219456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500" i="0">
                <a:solidFill>
                  <a:srgbClr val="B9A6FF"/>
                </a:solidFill>
                <a:latin typeface="Consolas"/>
              </a:rPr>
              <a:t>int</a:t>
            </a:r>
            <a:r>
              <a:rPr sz="1500" i="0">
                <a:solidFill>
                  <a:srgbClr val="EEF2FA"/>
                </a:solidFill>
                <a:latin typeface="Consolas"/>
              </a:rPr>
              <a:t> </a:t>
            </a:r>
            <a:r>
              <a:rPr sz="1500" i="0">
                <a:solidFill>
                  <a:srgbClr val="EEF2FA"/>
                </a:solidFill>
                <a:latin typeface="Consolas"/>
              </a:rPr>
              <a:t>age</a:t>
            </a:r>
            <a:r>
              <a:rPr sz="1500" i="0">
                <a:solidFill>
                  <a:srgbClr val="EEF2FA"/>
                </a:solidFill>
                <a:latin typeface="Consolas"/>
              </a:rPr>
              <a:t> = </a:t>
            </a:r>
            <a:r>
              <a:rPr sz="1500" i="0">
                <a:solidFill>
                  <a:srgbClr val="EEF2FA"/>
                </a:solidFill>
                <a:latin typeface="Consolas"/>
              </a:rPr>
              <a:t>in</a:t>
            </a:r>
            <a:r>
              <a:rPr sz="1500" i="0">
                <a:solidFill>
                  <a:srgbClr val="EEF2FA"/>
                </a:solidFill>
                <a:latin typeface="Consolas"/>
              </a:rPr>
              <a:t>.</a:t>
            </a:r>
            <a:r>
              <a:rPr sz="1500" i="0">
                <a:solidFill>
                  <a:srgbClr val="EEF2FA"/>
                </a:solidFill>
                <a:latin typeface="Consolas"/>
              </a:rPr>
              <a:t>nextInt</a:t>
            </a:r>
            <a:r>
              <a:rPr sz="1500" i="0">
                <a:solidFill>
                  <a:srgbClr val="EEF2FA"/>
                </a:solidFill>
                <a:latin typeface="Consolas"/>
              </a:rPr>
              <a:t>();</a:t>
            </a:r>
          </a:p>
          <a:p>
            <a:pPr algn="l">
              <a:lnSpc>
                <a:spcPct val="105000"/>
              </a:lnSpc>
              <a:spcAft>
                <a:spcPts val="0"/>
              </a:spcAft>
            </a:pPr>
            <a:r>
              <a:rPr sz="1500" i="0">
                <a:solidFill>
                  <a:srgbClr val="B9A6FF"/>
                </a:solidFill>
                <a:latin typeface="Consolas"/>
              </a:rPr>
              <a:t>String</a:t>
            </a:r>
            <a:r>
              <a:rPr sz="1500" i="0">
                <a:solidFill>
                  <a:srgbClr val="EEF2FA"/>
                </a:solidFill>
                <a:latin typeface="Consolas"/>
              </a:rPr>
              <a:t> </a:t>
            </a:r>
            <a:r>
              <a:rPr sz="1500" i="0">
                <a:solidFill>
                  <a:srgbClr val="EEF2FA"/>
                </a:solidFill>
                <a:latin typeface="Consolas"/>
              </a:rPr>
              <a:t>city</a:t>
            </a:r>
            <a:r>
              <a:rPr sz="1500" i="0">
                <a:solidFill>
                  <a:srgbClr val="EEF2FA"/>
                </a:solidFill>
                <a:latin typeface="Consolas"/>
              </a:rPr>
              <a:t> = </a:t>
            </a:r>
            <a:r>
              <a:rPr sz="1500" i="0">
                <a:solidFill>
                  <a:srgbClr val="EEF2FA"/>
                </a:solidFill>
                <a:latin typeface="Consolas"/>
              </a:rPr>
              <a:t>in</a:t>
            </a:r>
            <a:r>
              <a:rPr sz="1500" i="0">
                <a:solidFill>
                  <a:srgbClr val="EEF2FA"/>
                </a:solidFill>
                <a:latin typeface="Consolas"/>
              </a:rPr>
              <a:t>.</a:t>
            </a:r>
            <a:r>
              <a:rPr sz="1500" i="0">
                <a:solidFill>
                  <a:srgbClr val="EEF2FA"/>
                </a:solidFill>
                <a:latin typeface="Consolas"/>
              </a:rPr>
              <a:t>nextLine</a:t>
            </a:r>
            <a:r>
              <a:rPr sz="1500" i="0">
                <a:solidFill>
                  <a:srgbClr val="EEF2FA"/>
                </a:solidFill>
                <a:latin typeface="Consolas"/>
              </a:rPr>
              <a:t>();</a:t>
            </a:r>
          </a:p>
          <a:p>
            <a:pPr algn="l">
              <a:lnSpc>
                <a:spcPct val="105000"/>
              </a:lnSpc>
              <a:spcAft>
                <a:spcPts val="0"/>
              </a:spcAft>
            </a:pPr>
            <a:r>
              <a:rPr sz="1500" i="1">
                <a:solidFill>
                  <a:srgbClr val="8FD8DB"/>
                </a:solidFill>
                <a:latin typeface="Consolas"/>
              </a:rPr>
              <a:t>// city is "" (empty!)</a:t>
            </a:r>
          </a:p>
        </p:txBody>
      </p:sp>
      <p:sp>
        <p:nvSpPr>
          <p:cNvPr id="5" name="TextBox 4"/>
          <p:cNvSpPr txBox="1"/>
          <p:nvPr/>
        </p:nvSpPr>
        <p:spPr>
          <a:xfrm>
            <a:off x="1069848" y="1783080"/>
            <a:ext cx="452628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BUG</a:t>
            </a:r>
          </a:p>
        </p:txBody>
      </p:sp>
      <p:sp>
        <p:nvSpPr>
          <p:cNvPr id="6" name="Code"/>
          <p:cNvSpPr/>
          <p:nvPr/>
        </p:nvSpPr>
        <p:spPr>
          <a:xfrm>
            <a:off x="6099048" y="1691640"/>
            <a:ext cx="4983480" cy="219456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500" i="0">
                <a:solidFill>
                  <a:srgbClr val="B9A6FF"/>
                </a:solidFill>
                <a:latin typeface="Consolas"/>
              </a:rPr>
              <a:t>int</a:t>
            </a:r>
            <a:r>
              <a:rPr sz="1500" i="0">
                <a:solidFill>
                  <a:srgbClr val="EEF2FA"/>
                </a:solidFill>
                <a:latin typeface="Consolas"/>
              </a:rPr>
              <a:t> </a:t>
            </a:r>
            <a:r>
              <a:rPr sz="1500" i="0">
                <a:solidFill>
                  <a:srgbClr val="EEF2FA"/>
                </a:solidFill>
                <a:latin typeface="Consolas"/>
              </a:rPr>
              <a:t>age</a:t>
            </a:r>
            <a:r>
              <a:rPr sz="1500" i="0">
                <a:solidFill>
                  <a:srgbClr val="EEF2FA"/>
                </a:solidFill>
                <a:latin typeface="Consolas"/>
              </a:rPr>
              <a:t> = </a:t>
            </a:r>
            <a:r>
              <a:rPr sz="1500" i="0">
                <a:solidFill>
                  <a:srgbClr val="EEF2FA"/>
                </a:solidFill>
                <a:latin typeface="Consolas"/>
              </a:rPr>
              <a:t>in</a:t>
            </a:r>
            <a:r>
              <a:rPr sz="1500" i="0">
                <a:solidFill>
                  <a:srgbClr val="EEF2FA"/>
                </a:solidFill>
                <a:latin typeface="Consolas"/>
              </a:rPr>
              <a:t>.</a:t>
            </a:r>
            <a:r>
              <a:rPr sz="1500" i="0">
                <a:solidFill>
                  <a:srgbClr val="EEF2FA"/>
                </a:solidFill>
                <a:latin typeface="Consolas"/>
              </a:rPr>
              <a:t>nextInt</a:t>
            </a:r>
            <a:r>
              <a:rPr sz="1500" i="0">
                <a:solidFill>
                  <a:srgbClr val="EEF2FA"/>
                </a:solidFill>
                <a:latin typeface="Consolas"/>
              </a:rPr>
              <a:t>();</a:t>
            </a:r>
          </a:p>
          <a:p>
            <a:pPr algn="l">
              <a:lnSpc>
                <a:spcPct val="105000"/>
              </a:lnSpc>
              <a:spcAft>
                <a:spcPts val="0"/>
              </a:spcAft>
            </a:pPr>
            <a:r>
              <a:rPr sz="1500" i="0">
                <a:solidFill>
                  <a:srgbClr val="EEF2FA"/>
                </a:solidFill>
                <a:latin typeface="Consolas"/>
              </a:rPr>
              <a:t>in</a:t>
            </a:r>
            <a:r>
              <a:rPr sz="1500" i="0">
                <a:solidFill>
                  <a:srgbClr val="EEF2FA"/>
                </a:solidFill>
                <a:latin typeface="Consolas"/>
              </a:rPr>
              <a:t>.</a:t>
            </a:r>
            <a:r>
              <a:rPr sz="1500" i="0">
                <a:solidFill>
                  <a:srgbClr val="EEF2FA"/>
                </a:solidFill>
                <a:latin typeface="Consolas"/>
              </a:rPr>
              <a:t>nextLine</a:t>
            </a:r>
            <a:r>
              <a:rPr sz="1500" i="0">
                <a:solidFill>
                  <a:srgbClr val="EEF2FA"/>
                </a:solidFill>
                <a:latin typeface="Consolas"/>
              </a:rPr>
              <a:t>(); </a:t>
            </a:r>
            <a:r>
              <a:rPr sz="1500" i="1">
                <a:solidFill>
                  <a:srgbClr val="8FD8DB"/>
                </a:solidFill>
                <a:latin typeface="Consolas"/>
              </a:rPr>
              <a:t>// eat the Enter</a:t>
            </a:r>
          </a:p>
          <a:p>
            <a:pPr algn="l">
              <a:lnSpc>
                <a:spcPct val="105000"/>
              </a:lnSpc>
              <a:spcAft>
                <a:spcPts val="0"/>
              </a:spcAft>
            </a:pPr>
            <a:r>
              <a:rPr sz="1500" i="0">
                <a:solidFill>
                  <a:srgbClr val="B9A6FF"/>
                </a:solidFill>
                <a:latin typeface="Consolas"/>
              </a:rPr>
              <a:t>String</a:t>
            </a:r>
            <a:r>
              <a:rPr sz="1500" i="0">
                <a:solidFill>
                  <a:srgbClr val="EEF2FA"/>
                </a:solidFill>
                <a:latin typeface="Consolas"/>
              </a:rPr>
              <a:t> </a:t>
            </a:r>
            <a:r>
              <a:rPr sz="1500" i="0">
                <a:solidFill>
                  <a:srgbClr val="EEF2FA"/>
                </a:solidFill>
                <a:latin typeface="Consolas"/>
              </a:rPr>
              <a:t>city</a:t>
            </a:r>
            <a:r>
              <a:rPr sz="1500" i="0">
                <a:solidFill>
                  <a:srgbClr val="EEF2FA"/>
                </a:solidFill>
                <a:latin typeface="Consolas"/>
              </a:rPr>
              <a:t> = </a:t>
            </a:r>
            <a:r>
              <a:rPr sz="1500" i="0">
                <a:solidFill>
                  <a:srgbClr val="EEF2FA"/>
                </a:solidFill>
                <a:latin typeface="Consolas"/>
              </a:rPr>
              <a:t>in</a:t>
            </a:r>
            <a:r>
              <a:rPr sz="1500" i="0">
                <a:solidFill>
                  <a:srgbClr val="EEF2FA"/>
                </a:solidFill>
                <a:latin typeface="Consolas"/>
              </a:rPr>
              <a:t>.</a:t>
            </a:r>
            <a:r>
              <a:rPr sz="1500" i="0">
                <a:solidFill>
                  <a:srgbClr val="EEF2FA"/>
                </a:solidFill>
                <a:latin typeface="Consolas"/>
              </a:rPr>
              <a:t>nextLine</a:t>
            </a:r>
            <a:r>
              <a:rPr sz="1500" i="0">
                <a:solidFill>
                  <a:srgbClr val="EEF2FA"/>
                </a:solidFill>
                <a:latin typeface="Consolas"/>
              </a:rPr>
              <a:t>();</a:t>
            </a:r>
          </a:p>
        </p:txBody>
      </p:sp>
      <p:sp>
        <p:nvSpPr>
          <p:cNvPr id="7" name="TextBox 6"/>
          <p:cNvSpPr txBox="1"/>
          <p:nvPr/>
        </p:nvSpPr>
        <p:spPr>
          <a:xfrm>
            <a:off x="6327648" y="1783080"/>
            <a:ext cx="452628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FIX  ·  demos/ScannerTrap.java</a:t>
            </a:r>
          </a:p>
        </p:txBody>
      </p:sp>
      <p:sp>
        <p:nvSpPr>
          <p:cNvPr id="8" name="TextBox 7"/>
          <p:cNvSpPr txBox="1"/>
          <p:nvPr/>
        </p:nvSpPr>
        <p:spPr>
          <a:xfrm>
            <a:off x="841248" y="4160520"/>
            <a:ext cx="10241280" cy="457200"/>
          </a:xfrm>
          <a:prstGeom prst="rect">
            <a:avLst/>
          </a:prstGeom>
          <a:noFill/>
        </p:spPr>
        <p:txBody>
          <a:bodyPr wrap="square" lIns="0" rIns="0" tIns="0" bIns="0" anchor="t">
            <a:spAutoFit/>
          </a:bodyPr>
          <a:lstStyle/>
          <a:p>
            <a:pPr algn="l">
              <a:spcAft>
                <a:spcPts val="600"/>
              </a:spcAft>
            </a:pPr>
            <a:r>
              <a:rPr sz="1800" b="1" i="0">
                <a:solidFill>
                  <a:srgbClr val="0366FF"/>
                </a:solidFill>
                <a:latin typeface="Poppins"/>
              </a:rPr>
              <a:t>Why it happens</a:t>
            </a:r>
          </a:p>
        </p:txBody>
      </p:sp>
      <p:sp>
        <p:nvSpPr>
          <p:cNvPr id="9" name="TextBox 8"/>
          <p:cNvSpPr txBox="1"/>
          <p:nvPr/>
        </p:nvSpPr>
        <p:spPr>
          <a:xfrm>
            <a:off x="841248" y="4663440"/>
            <a:ext cx="10241280" cy="1097280"/>
          </a:xfrm>
          <a:prstGeom prst="rect">
            <a:avLst/>
          </a:prstGeom>
          <a:noFill/>
        </p:spPr>
        <p:txBody>
          <a:bodyPr wrap="square" lIns="0" rIns="0" tIns="0" bIns="0" anchor="t">
            <a:spAutoFit/>
          </a:bodyPr>
          <a:lstStyle/>
          <a:p>
            <a:pPr algn="l">
              <a:spcAft>
                <a:spcPts val="600"/>
              </a:spcAft>
            </a:pPr>
            <a:r>
              <a:rPr sz="1600" b="0" i="0">
                <a:solidFill>
                  <a:srgbClr val="1B2433"/>
                </a:solidFill>
                <a:latin typeface="Poppins"/>
              </a:rPr>
              <a:t>nextInt() reads 22 but leaves the Enter key waiting. The next nextLine() reads that Enter and returns an empty line.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Live coding: a tip calculator</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Requirements"/>
          <p:cNvSpPr/>
          <p:nvPr/>
        </p:nvSpPr>
        <p:spPr>
          <a:xfrm>
            <a:off x="841248" y="1508760"/>
            <a:ext cx="3657600" cy="434340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3255264"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Requirements</a:t>
            </a:r>
          </a:p>
        </p:txBody>
      </p:sp>
      <p:sp>
        <p:nvSpPr>
          <p:cNvPr id="6" name="TextBox 5"/>
          <p:cNvSpPr txBox="1"/>
          <p:nvPr/>
        </p:nvSpPr>
        <p:spPr>
          <a:xfrm>
            <a:off x="1042416" y="2167128"/>
            <a:ext cx="325526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sz="1500" b="0" i="0">
                <a:solidFill>
                  <a:srgbClr val="1B2433"/>
                </a:solidFill>
                <a:latin typeface="Poppins"/>
              </a:rPr>
              <a:t>Ask for the bill in EGP</a:t>
            </a:r>
          </a:p>
          <a:p>
            <a:pPr algn="l" marL="228600" indent="-201168">
              <a:spcAft>
                <a:spcPts val="400"/>
              </a:spcAft>
              <a:buClr>
                <a:srgbClr val="0366FF"/>
              </a:buClr>
              <a:buChar char="•"/>
            </a:pPr>
            <a:r>
              <a:rPr sz="1500" b="0" i="0">
                <a:solidFill>
                  <a:srgbClr val="1B2433"/>
                </a:solidFill>
                <a:latin typeface="Poppins"/>
              </a:rPr>
              <a:t>Ask for the tip percentage</a:t>
            </a:r>
          </a:p>
          <a:p>
            <a:pPr algn="l" marL="228600" indent="-201168">
              <a:spcAft>
                <a:spcPts val="400"/>
              </a:spcAft>
              <a:buClr>
                <a:srgbClr val="0366FF"/>
              </a:buClr>
              <a:buChar char="•"/>
            </a:pPr>
            <a:r>
              <a:rPr sz="1500" b="0" i="0">
                <a:solidFill>
                  <a:srgbClr val="1B2433"/>
                </a:solidFill>
                <a:latin typeface="Poppins"/>
              </a:rPr>
              <a:t>Ask how many people</a:t>
            </a:r>
          </a:p>
          <a:p>
            <a:pPr algn="l" marL="228600" indent="-201168">
              <a:spcAft>
                <a:spcPts val="400"/>
              </a:spcAft>
              <a:buClr>
                <a:srgbClr val="0366FF"/>
              </a:buClr>
              <a:buChar char="•"/>
            </a:pPr>
            <a:r>
              <a:rPr sz="1500" b="0" i="0">
                <a:solidFill>
                  <a:srgbClr val="1B2433"/>
                </a:solidFill>
                <a:latin typeface="Poppins"/>
              </a:rPr>
              <a:t>Print the tip and what each person pays</a:t>
            </a:r>
          </a:p>
        </p:txBody>
      </p:sp>
      <p:sp>
        <p:nvSpPr>
          <p:cNvPr id="7" name="Code"/>
          <p:cNvSpPr/>
          <p:nvPr/>
        </p:nvSpPr>
        <p:spPr>
          <a:xfrm>
            <a:off x="4754880" y="1508760"/>
            <a:ext cx="630936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sz="1300" i="0">
                <a:solidFill>
                  <a:srgbClr val="B9A6FF"/>
                </a:solidFill>
                <a:latin typeface="Consolas"/>
              </a:rPr>
              <a:t>Scanner</a:t>
            </a:r>
            <a:r>
              <a:rPr sz="1300" i="0">
                <a:solidFill>
                  <a:srgbClr val="EEF2FA"/>
                </a:solidFill>
                <a:latin typeface="Consolas"/>
              </a:rPr>
              <a:t> </a:t>
            </a:r>
            <a:r>
              <a:rPr sz="1300" i="0">
                <a:solidFill>
                  <a:srgbClr val="EEF2FA"/>
                </a:solidFill>
                <a:latin typeface="Consolas"/>
              </a:rPr>
              <a:t>in</a:t>
            </a:r>
            <a:r>
              <a:rPr sz="1300" i="0">
                <a:solidFill>
                  <a:srgbClr val="EEF2FA"/>
                </a:solidFill>
                <a:latin typeface="Consolas"/>
              </a:rPr>
              <a:t> = </a:t>
            </a:r>
            <a:r>
              <a:rPr sz="1300" i="0">
                <a:solidFill>
                  <a:srgbClr val="B9A6FF"/>
                </a:solidFill>
                <a:latin typeface="Consolas"/>
              </a:rPr>
              <a:t>new</a:t>
            </a:r>
            <a:r>
              <a:rPr sz="1300" i="0">
                <a:solidFill>
                  <a:srgbClr val="EEF2FA"/>
                </a:solidFill>
                <a:latin typeface="Consolas"/>
              </a:rPr>
              <a:t> </a:t>
            </a:r>
            <a:r>
              <a:rPr sz="1300" i="0">
                <a:solidFill>
                  <a:srgbClr val="B9A6FF"/>
                </a:solidFill>
                <a:latin typeface="Consolas"/>
              </a:rPr>
              <a:t>Scanner</a:t>
            </a:r>
            <a:r>
              <a:rPr sz="1300" i="0">
                <a:solidFill>
                  <a:srgbClr val="EEF2FA"/>
                </a:solidFill>
                <a:latin typeface="Consolas"/>
              </a:rPr>
              <a:t>(</a:t>
            </a: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in</a:t>
            </a:r>
            <a:r>
              <a:rPr sz="1300" i="0">
                <a:solidFill>
                  <a:srgbClr val="EEF2FA"/>
                </a:solidFill>
                <a:latin typeface="Consolas"/>
              </a:rPr>
              <a:t>);</a:t>
            </a:r>
          </a:p>
          <a:p>
            <a:pPr algn="l">
              <a:lnSpc>
                <a:spcPct val="105000"/>
              </a:lnSpc>
              <a:spcAft>
                <a:spcPts val="0"/>
              </a:spcAft>
            </a:pP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a:t>
            </a:r>
            <a:r>
              <a:rPr sz="1300" i="0">
                <a:solidFill>
                  <a:srgbClr val="EEF2FA"/>
                </a:solidFill>
                <a:latin typeface="Consolas"/>
              </a:rPr>
              <a:t>(</a:t>
            </a:r>
            <a:r>
              <a:rPr sz="1300" i="0">
                <a:solidFill>
                  <a:srgbClr val="9EF0C9"/>
                </a:solidFill>
                <a:latin typeface="Consolas"/>
              </a:rPr>
              <a:t>"Bill (EGP): "</a:t>
            </a:r>
            <a:r>
              <a:rPr sz="1300" i="0">
                <a:solidFill>
                  <a:srgbClr val="EEF2FA"/>
                </a:solidFill>
                <a:latin typeface="Consolas"/>
              </a:rPr>
              <a:t>);</a:t>
            </a:r>
          </a:p>
          <a:p>
            <a:pPr algn="l">
              <a:lnSpc>
                <a:spcPct val="105000"/>
              </a:lnSpc>
              <a:spcAft>
                <a:spcPts val="0"/>
              </a:spcAft>
            </a:pPr>
            <a:r>
              <a:rPr sz="1300" i="0">
                <a:solidFill>
                  <a:srgbClr val="B9A6FF"/>
                </a:solidFill>
                <a:latin typeface="Consolas"/>
              </a:rPr>
              <a:t>double</a:t>
            </a:r>
            <a:r>
              <a:rPr sz="1300" i="0">
                <a:solidFill>
                  <a:srgbClr val="EEF2FA"/>
                </a:solidFill>
                <a:latin typeface="Consolas"/>
              </a:rPr>
              <a:t> </a:t>
            </a:r>
            <a:r>
              <a:rPr sz="1300" i="0">
                <a:solidFill>
                  <a:srgbClr val="EEF2FA"/>
                </a:solidFill>
                <a:latin typeface="Consolas"/>
              </a:rPr>
              <a:t>bill</a:t>
            </a:r>
            <a:r>
              <a:rPr sz="1300" i="0">
                <a:solidFill>
                  <a:srgbClr val="EEF2FA"/>
                </a:solidFill>
                <a:latin typeface="Consolas"/>
              </a:rPr>
              <a:t> = </a:t>
            </a:r>
            <a:r>
              <a:rPr sz="1300" i="0">
                <a:solidFill>
                  <a:srgbClr val="EEF2FA"/>
                </a:solidFill>
                <a:latin typeface="Consolas"/>
              </a:rPr>
              <a:t>in</a:t>
            </a:r>
            <a:r>
              <a:rPr sz="1300" i="0">
                <a:solidFill>
                  <a:srgbClr val="EEF2FA"/>
                </a:solidFill>
                <a:latin typeface="Consolas"/>
              </a:rPr>
              <a:t>.</a:t>
            </a:r>
            <a:r>
              <a:rPr sz="1300" i="0">
                <a:solidFill>
                  <a:srgbClr val="EEF2FA"/>
                </a:solidFill>
                <a:latin typeface="Consolas"/>
              </a:rPr>
              <a:t>nextDouble</a:t>
            </a:r>
            <a:r>
              <a:rPr sz="1300" i="0">
                <a:solidFill>
                  <a:srgbClr val="EEF2FA"/>
                </a:solidFill>
                <a:latin typeface="Consolas"/>
              </a:rPr>
              <a:t>();</a:t>
            </a:r>
          </a:p>
          <a:p>
            <a:pPr algn="l">
              <a:lnSpc>
                <a:spcPct val="105000"/>
              </a:lnSpc>
              <a:spcAft>
                <a:spcPts val="0"/>
              </a:spcAft>
            </a:pP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a:t>
            </a:r>
            <a:r>
              <a:rPr sz="1300" i="0">
                <a:solidFill>
                  <a:srgbClr val="EEF2FA"/>
                </a:solidFill>
                <a:latin typeface="Consolas"/>
              </a:rPr>
              <a:t>(</a:t>
            </a:r>
            <a:r>
              <a:rPr sz="1300" i="0">
                <a:solidFill>
                  <a:srgbClr val="9EF0C9"/>
                </a:solidFill>
                <a:latin typeface="Consolas"/>
              </a:rPr>
              <a:t>"Tip %: "</a:t>
            </a:r>
            <a:r>
              <a:rPr sz="1300" i="0">
                <a:solidFill>
                  <a:srgbClr val="EEF2FA"/>
                </a:solidFill>
                <a:latin typeface="Consolas"/>
              </a:rPr>
              <a:t>);</a:t>
            </a:r>
          </a:p>
          <a:p>
            <a:pPr algn="l">
              <a:lnSpc>
                <a:spcPct val="105000"/>
              </a:lnSpc>
              <a:spcAft>
                <a:spcPts val="0"/>
              </a:spcAft>
            </a:pPr>
            <a:r>
              <a:rPr sz="1300" i="0">
                <a:solidFill>
                  <a:srgbClr val="B9A6FF"/>
                </a:solidFill>
                <a:latin typeface="Consolas"/>
              </a:rPr>
              <a:t>int</a:t>
            </a:r>
            <a:r>
              <a:rPr sz="1300" i="0">
                <a:solidFill>
                  <a:srgbClr val="EEF2FA"/>
                </a:solidFill>
                <a:latin typeface="Consolas"/>
              </a:rPr>
              <a:t> </a:t>
            </a:r>
            <a:r>
              <a:rPr sz="1300" i="0">
                <a:solidFill>
                  <a:srgbClr val="EEF2FA"/>
                </a:solidFill>
                <a:latin typeface="Consolas"/>
              </a:rPr>
              <a:t>tipPercent</a:t>
            </a:r>
            <a:r>
              <a:rPr sz="1300" i="0">
                <a:solidFill>
                  <a:srgbClr val="EEF2FA"/>
                </a:solidFill>
                <a:latin typeface="Consolas"/>
              </a:rPr>
              <a:t> = </a:t>
            </a:r>
            <a:r>
              <a:rPr sz="1300" i="0">
                <a:solidFill>
                  <a:srgbClr val="EEF2FA"/>
                </a:solidFill>
                <a:latin typeface="Consolas"/>
              </a:rPr>
              <a:t>in</a:t>
            </a:r>
            <a:r>
              <a:rPr sz="1300" i="0">
                <a:solidFill>
                  <a:srgbClr val="EEF2FA"/>
                </a:solidFill>
                <a:latin typeface="Consolas"/>
              </a:rPr>
              <a:t>.</a:t>
            </a:r>
            <a:r>
              <a:rPr sz="1300" i="0">
                <a:solidFill>
                  <a:srgbClr val="EEF2FA"/>
                </a:solidFill>
                <a:latin typeface="Consolas"/>
              </a:rPr>
              <a:t>nextInt</a:t>
            </a:r>
            <a:r>
              <a:rPr sz="1300" i="0">
                <a:solidFill>
                  <a:srgbClr val="EEF2FA"/>
                </a:solidFill>
                <a:latin typeface="Consolas"/>
              </a:rPr>
              <a:t>();</a:t>
            </a:r>
          </a:p>
          <a:p>
            <a:pPr algn="l">
              <a:lnSpc>
                <a:spcPct val="105000"/>
              </a:lnSpc>
              <a:spcAft>
                <a:spcPts val="0"/>
              </a:spcAft>
            </a:pP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a:t>
            </a:r>
            <a:r>
              <a:rPr sz="1300" i="0">
                <a:solidFill>
                  <a:srgbClr val="EEF2FA"/>
                </a:solidFill>
                <a:latin typeface="Consolas"/>
              </a:rPr>
              <a:t>(</a:t>
            </a:r>
            <a:r>
              <a:rPr sz="1300" i="0">
                <a:solidFill>
                  <a:srgbClr val="9EF0C9"/>
                </a:solidFill>
                <a:latin typeface="Consolas"/>
              </a:rPr>
              <a:t>"People: "</a:t>
            </a:r>
            <a:r>
              <a:rPr sz="1300" i="0">
                <a:solidFill>
                  <a:srgbClr val="EEF2FA"/>
                </a:solidFill>
                <a:latin typeface="Consolas"/>
              </a:rPr>
              <a:t>);</a:t>
            </a:r>
          </a:p>
          <a:p>
            <a:pPr algn="l">
              <a:lnSpc>
                <a:spcPct val="105000"/>
              </a:lnSpc>
              <a:spcAft>
                <a:spcPts val="0"/>
              </a:spcAft>
            </a:pPr>
            <a:r>
              <a:rPr sz="1300" i="0">
                <a:solidFill>
                  <a:srgbClr val="B9A6FF"/>
                </a:solidFill>
                <a:latin typeface="Consolas"/>
              </a:rPr>
              <a:t>int</a:t>
            </a:r>
            <a:r>
              <a:rPr sz="1300" i="0">
                <a:solidFill>
                  <a:srgbClr val="EEF2FA"/>
                </a:solidFill>
                <a:latin typeface="Consolas"/>
              </a:rPr>
              <a:t> </a:t>
            </a:r>
            <a:r>
              <a:rPr sz="1300" i="0">
                <a:solidFill>
                  <a:srgbClr val="EEF2FA"/>
                </a:solidFill>
                <a:latin typeface="Consolas"/>
              </a:rPr>
              <a:t>people</a:t>
            </a:r>
            <a:r>
              <a:rPr sz="1300" i="0">
                <a:solidFill>
                  <a:srgbClr val="EEF2FA"/>
                </a:solidFill>
                <a:latin typeface="Consolas"/>
              </a:rPr>
              <a:t> = </a:t>
            </a:r>
            <a:r>
              <a:rPr sz="1300" i="0">
                <a:solidFill>
                  <a:srgbClr val="EEF2FA"/>
                </a:solidFill>
                <a:latin typeface="Consolas"/>
              </a:rPr>
              <a:t>in</a:t>
            </a:r>
            <a:r>
              <a:rPr sz="1300" i="0">
                <a:solidFill>
                  <a:srgbClr val="EEF2FA"/>
                </a:solidFill>
                <a:latin typeface="Consolas"/>
              </a:rPr>
              <a:t>.</a:t>
            </a:r>
            <a:r>
              <a:rPr sz="1300" i="0">
                <a:solidFill>
                  <a:srgbClr val="EEF2FA"/>
                </a:solidFill>
                <a:latin typeface="Consolas"/>
              </a:rPr>
              <a:t>nextInt</a:t>
            </a:r>
            <a:r>
              <a:rPr sz="1300" i="0">
                <a:solidFill>
                  <a:srgbClr val="EEF2FA"/>
                </a:solidFill>
                <a:latin typeface="Consolas"/>
              </a:rPr>
              <a:t>();</a:t>
            </a:r>
          </a:p>
          <a:p>
            <a:pPr algn="l">
              <a:lnSpc>
                <a:spcPct val="105000"/>
              </a:lnSpc>
              <a:spcAft>
                <a:spcPts val="0"/>
              </a:spcAft>
            </a:pPr>
            <a:r>
              <a:rPr sz="1300" i="0">
                <a:solidFill>
                  <a:srgbClr val="EEF2FA"/>
                </a:solidFill>
                <a:latin typeface="Consolas"/>
              </a:rPr>
              <a:t> </a:t>
            </a:r>
          </a:p>
          <a:p>
            <a:pPr algn="l">
              <a:lnSpc>
                <a:spcPct val="105000"/>
              </a:lnSpc>
              <a:spcAft>
                <a:spcPts val="0"/>
              </a:spcAft>
            </a:pPr>
            <a:r>
              <a:rPr sz="1300" i="0">
                <a:solidFill>
                  <a:srgbClr val="B9A6FF"/>
                </a:solidFill>
                <a:latin typeface="Consolas"/>
              </a:rPr>
              <a:t>double</a:t>
            </a:r>
            <a:r>
              <a:rPr sz="1300" i="0">
                <a:solidFill>
                  <a:srgbClr val="EEF2FA"/>
                </a:solidFill>
                <a:latin typeface="Consolas"/>
              </a:rPr>
              <a:t> </a:t>
            </a:r>
            <a:r>
              <a:rPr sz="1300" i="0">
                <a:solidFill>
                  <a:srgbClr val="EEF2FA"/>
                </a:solidFill>
                <a:latin typeface="Consolas"/>
              </a:rPr>
              <a:t>tip</a:t>
            </a:r>
            <a:r>
              <a:rPr sz="1300" i="0">
                <a:solidFill>
                  <a:srgbClr val="EEF2FA"/>
                </a:solidFill>
                <a:latin typeface="Consolas"/>
              </a:rPr>
              <a:t> = </a:t>
            </a:r>
            <a:r>
              <a:rPr sz="1300" i="0">
                <a:solidFill>
                  <a:srgbClr val="EEF2FA"/>
                </a:solidFill>
                <a:latin typeface="Consolas"/>
              </a:rPr>
              <a:t>bill</a:t>
            </a:r>
            <a:r>
              <a:rPr sz="1300" i="0">
                <a:solidFill>
                  <a:srgbClr val="EEF2FA"/>
                </a:solidFill>
                <a:latin typeface="Consolas"/>
              </a:rPr>
              <a:t> * </a:t>
            </a:r>
            <a:r>
              <a:rPr sz="1300" i="0">
                <a:solidFill>
                  <a:srgbClr val="EEF2FA"/>
                </a:solidFill>
                <a:latin typeface="Consolas"/>
              </a:rPr>
              <a:t>tipPercent</a:t>
            </a:r>
            <a:r>
              <a:rPr sz="1300" i="0">
                <a:solidFill>
                  <a:srgbClr val="EEF2FA"/>
                </a:solidFill>
                <a:latin typeface="Consolas"/>
              </a:rPr>
              <a:t> / </a:t>
            </a:r>
            <a:r>
              <a:rPr sz="1300" i="0">
                <a:solidFill>
                  <a:srgbClr val="FFD58A"/>
                </a:solidFill>
                <a:latin typeface="Consolas"/>
              </a:rPr>
              <a:t>100</a:t>
            </a:r>
            <a:r>
              <a:rPr sz="1300" i="0">
                <a:solidFill>
                  <a:srgbClr val="EEF2FA"/>
                </a:solidFill>
                <a:latin typeface="Consolas"/>
              </a:rPr>
              <a:t>.</a:t>
            </a:r>
            <a:r>
              <a:rPr sz="1300" i="0">
                <a:solidFill>
                  <a:srgbClr val="FFD58A"/>
                </a:solidFill>
                <a:latin typeface="Consolas"/>
              </a:rPr>
              <a:t>0</a:t>
            </a:r>
            <a:r>
              <a:rPr sz="1300" i="0">
                <a:solidFill>
                  <a:srgbClr val="EEF2FA"/>
                </a:solidFill>
                <a:latin typeface="Consolas"/>
              </a:rPr>
              <a:t>;</a:t>
            </a:r>
          </a:p>
          <a:p>
            <a:pPr algn="l">
              <a:lnSpc>
                <a:spcPct val="105000"/>
              </a:lnSpc>
              <a:spcAft>
                <a:spcPts val="0"/>
              </a:spcAft>
            </a:pPr>
            <a:r>
              <a:rPr sz="1300" i="0">
                <a:solidFill>
                  <a:srgbClr val="B9A6FF"/>
                </a:solidFill>
                <a:latin typeface="Consolas"/>
              </a:rPr>
              <a:t>double</a:t>
            </a:r>
            <a:r>
              <a:rPr sz="1300" i="0">
                <a:solidFill>
                  <a:srgbClr val="EEF2FA"/>
                </a:solidFill>
                <a:latin typeface="Consolas"/>
              </a:rPr>
              <a:t> </a:t>
            </a:r>
            <a:r>
              <a:rPr sz="1300" i="0">
                <a:solidFill>
                  <a:srgbClr val="EEF2FA"/>
                </a:solidFill>
                <a:latin typeface="Consolas"/>
              </a:rPr>
              <a:t>total</a:t>
            </a:r>
            <a:r>
              <a:rPr sz="1300" i="0">
                <a:solidFill>
                  <a:srgbClr val="EEF2FA"/>
                </a:solidFill>
                <a:latin typeface="Consolas"/>
              </a:rPr>
              <a:t> = </a:t>
            </a:r>
            <a:r>
              <a:rPr sz="1300" i="0">
                <a:solidFill>
                  <a:srgbClr val="EEF2FA"/>
                </a:solidFill>
                <a:latin typeface="Consolas"/>
              </a:rPr>
              <a:t>bill</a:t>
            </a:r>
            <a:r>
              <a:rPr sz="1300" i="0">
                <a:solidFill>
                  <a:srgbClr val="EEF2FA"/>
                </a:solidFill>
                <a:latin typeface="Consolas"/>
              </a:rPr>
              <a:t> + </a:t>
            </a:r>
            <a:r>
              <a:rPr sz="1300" i="0">
                <a:solidFill>
                  <a:srgbClr val="EEF2FA"/>
                </a:solidFill>
                <a:latin typeface="Consolas"/>
              </a:rPr>
              <a:t>tip</a:t>
            </a:r>
            <a:r>
              <a:rPr sz="1300" i="0">
                <a:solidFill>
                  <a:srgbClr val="EEF2FA"/>
                </a:solidFill>
                <a:latin typeface="Consolas"/>
              </a:rPr>
              <a:t>;</a:t>
            </a:r>
          </a:p>
          <a:p>
            <a:pPr algn="l">
              <a:lnSpc>
                <a:spcPct val="105000"/>
              </a:lnSpc>
              <a:spcAft>
                <a:spcPts val="0"/>
              </a:spcAft>
            </a:pP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printf</a:t>
            </a:r>
            <a:r>
              <a:rPr sz="1300" i="0">
                <a:solidFill>
                  <a:srgbClr val="EEF2FA"/>
                </a:solidFill>
                <a:latin typeface="Consolas"/>
              </a:rPr>
              <a:t>(</a:t>
            </a:r>
            <a:r>
              <a:rPr sz="1300" i="0">
                <a:solidFill>
                  <a:srgbClr val="9EF0C9"/>
                </a:solidFill>
                <a:latin typeface="Consolas"/>
              </a:rPr>
              <a:t>"Tip: %.2f%n"</a:t>
            </a:r>
            <a:r>
              <a:rPr sz="1300" i="0">
                <a:solidFill>
                  <a:srgbClr val="EEF2FA"/>
                </a:solidFill>
                <a:latin typeface="Consolas"/>
              </a:rPr>
              <a:t>, </a:t>
            </a:r>
            <a:r>
              <a:rPr sz="1300" i="0">
                <a:solidFill>
                  <a:srgbClr val="EEF2FA"/>
                </a:solidFill>
                <a:latin typeface="Consolas"/>
              </a:rPr>
              <a:t>tip</a:t>
            </a:r>
            <a:r>
              <a:rPr sz="1300" i="0">
                <a:solidFill>
                  <a:srgbClr val="EEF2FA"/>
                </a:solidFill>
                <a:latin typeface="Consolas"/>
              </a:rPr>
              <a:t>);</a:t>
            </a:r>
          </a:p>
          <a:p>
            <a:pPr algn="l">
              <a:lnSpc>
                <a:spcPct val="105000"/>
              </a:lnSpc>
              <a:spcAft>
                <a:spcPts val="0"/>
              </a:spcAft>
            </a:pPr>
            <a:r>
              <a:rPr sz="1300" i="0">
                <a:solidFill>
                  <a:srgbClr val="B9A6FF"/>
                </a:solidFill>
                <a:latin typeface="Consolas"/>
              </a:rPr>
              <a:t>System</a:t>
            </a:r>
            <a:r>
              <a:rPr sz="1300" i="0">
                <a:solidFill>
                  <a:srgbClr val="EEF2FA"/>
                </a:solidFill>
                <a:latin typeface="Consolas"/>
              </a:rPr>
              <a:t>.</a:t>
            </a:r>
            <a:r>
              <a:rPr sz="1300" i="0">
                <a:solidFill>
                  <a:srgbClr val="EEF2FA"/>
                </a:solidFill>
                <a:latin typeface="Consolas"/>
              </a:rPr>
              <a:t>out</a:t>
            </a:r>
            <a:r>
              <a:rPr sz="1300" i="0">
                <a:solidFill>
                  <a:srgbClr val="EEF2FA"/>
                </a:solidFill>
                <a:latin typeface="Consolas"/>
              </a:rPr>
              <a:t>.</a:t>
            </a:r>
            <a:r>
              <a:rPr sz="1300" i="0">
                <a:solidFill>
                  <a:srgbClr val="EEF2FA"/>
                </a:solidFill>
                <a:latin typeface="Consolas"/>
              </a:rPr>
              <a:t>printf</a:t>
            </a:r>
            <a:r>
              <a:rPr sz="1300" i="0">
                <a:solidFill>
                  <a:srgbClr val="EEF2FA"/>
                </a:solidFill>
                <a:latin typeface="Consolas"/>
              </a:rPr>
              <a:t>(</a:t>
            </a:r>
            <a:r>
              <a:rPr sz="1300" i="0">
                <a:solidFill>
                  <a:srgbClr val="9EF0C9"/>
                </a:solidFill>
                <a:latin typeface="Consolas"/>
              </a:rPr>
              <a:t>"Each pays: %.2f%n"</a:t>
            </a:r>
            <a:r>
              <a:rPr sz="1300" i="0">
                <a:solidFill>
                  <a:srgbClr val="EEF2FA"/>
                </a:solidFill>
                <a:latin typeface="Consolas"/>
              </a:rPr>
              <a:t>, </a:t>
            </a:r>
            <a:r>
              <a:rPr sz="1300" i="0">
                <a:solidFill>
                  <a:srgbClr val="EEF2FA"/>
                </a:solidFill>
                <a:latin typeface="Consolas"/>
              </a:rPr>
              <a:t>total</a:t>
            </a:r>
            <a:r>
              <a:rPr sz="1300" i="0">
                <a:solidFill>
                  <a:srgbClr val="EEF2FA"/>
                </a:solidFill>
                <a:latin typeface="Consolas"/>
              </a:rPr>
              <a:t> / </a:t>
            </a:r>
            <a:r>
              <a:rPr sz="1300" i="0">
                <a:solidFill>
                  <a:srgbClr val="EEF2FA"/>
                </a:solidFill>
                <a:latin typeface="Consolas"/>
              </a:rPr>
              <a:t>people</a:t>
            </a:r>
            <a:r>
              <a:rPr sz="1300" i="0">
                <a:solidFill>
                  <a:srgbClr val="EEF2FA"/>
                </a:solidFill>
                <a:latin typeface="Consolas"/>
              </a:rPr>
              <a:t>);</a:t>
            </a:r>
          </a:p>
        </p:txBody>
      </p:sp>
      <p:sp>
        <p:nvSpPr>
          <p:cNvPr id="8" name="TextBox 7"/>
          <p:cNvSpPr txBox="1"/>
          <p:nvPr/>
        </p:nvSpPr>
        <p:spPr>
          <a:xfrm>
            <a:off x="4983480" y="1600200"/>
            <a:ext cx="585216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demos/TipCalculator.java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Predict the output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2057400"/>
            <a:ext cx="594360" cy="59436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A</a:t>
            </a:r>
          </a:p>
        </p:txBody>
      </p:sp>
      <p:sp>
        <p:nvSpPr>
          <p:cNvPr id="5" name="Code"/>
          <p:cNvSpPr/>
          <p:nvPr/>
        </p:nvSpPr>
        <p:spPr>
          <a:xfrm>
            <a:off x="1618488" y="1508760"/>
            <a:ext cx="4206240" cy="173736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182880" bIns="137160"/>
          <a:lstStyle/>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FFD58A"/>
                </a:solidFill>
                <a:latin typeface="Consolas"/>
              </a:rPr>
              <a:t>10</a:t>
            </a:r>
            <a:r>
              <a:rPr sz="1400" i="0">
                <a:solidFill>
                  <a:srgbClr val="EEF2FA"/>
                </a:solidFill>
                <a:latin typeface="Consolas"/>
              </a:rPr>
              <a:t> / </a:t>
            </a:r>
            <a:r>
              <a:rPr sz="1400" i="0">
                <a:solidFill>
                  <a:srgbClr val="FFD58A"/>
                </a:solidFill>
                <a:latin typeface="Consolas"/>
              </a:rPr>
              <a:t>4</a:t>
            </a:r>
            <a:r>
              <a:rPr sz="1400" i="0">
                <a:solidFill>
                  <a:srgbClr val="EEF2FA"/>
                </a:solidFill>
                <a:latin typeface="Consolas"/>
              </a:rPr>
              <a:t>);</a:t>
            </a:r>
          </a:p>
        </p:txBody>
      </p:sp>
      <p:sp>
        <p:nvSpPr>
          <p:cNvPr id="6" name="Oval 5"/>
          <p:cNvSpPr/>
          <p:nvPr/>
        </p:nvSpPr>
        <p:spPr>
          <a:xfrm>
            <a:off x="6053328" y="2057400"/>
            <a:ext cx="594360" cy="594360"/>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B</a:t>
            </a:r>
          </a:p>
        </p:txBody>
      </p:sp>
      <p:sp>
        <p:nvSpPr>
          <p:cNvPr id="7" name="Code"/>
          <p:cNvSpPr/>
          <p:nvPr/>
        </p:nvSpPr>
        <p:spPr>
          <a:xfrm>
            <a:off x="6830568" y="1508760"/>
            <a:ext cx="4206240" cy="173736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182880" bIns="137160"/>
          <a:lstStyle/>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FFD58A"/>
                </a:solidFill>
                <a:latin typeface="Consolas"/>
              </a:rPr>
              <a:t>10</a:t>
            </a:r>
            <a:r>
              <a:rPr sz="1400" i="0">
                <a:solidFill>
                  <a:srgbClr val="EEF2FA"/>
                </a:solidFill>
                <a:latin typeface="Consolas"/>
              </a:rPr>
              <a:t> % </a:t>
            </a:r>
            <a:r>
              <a:rPr sz="1400" i="0">
                <a:solidFill>
                  <a:srgbClr val="FFD58A"/>
                </a:solidFill>
                <a:latin typeface="Consolas"/>
              </a:rPr>
              <a:t>4</a:t>
            </a:r>
            <a:r>
              <a:rPr sz="1400" i="0">
                <a:solidFill>
                  <a:srgbClr val="EEF2FA"/>
                </a:solidFill>
                <a:latin typeface="Consolas"/>
              </a:rPr>
              <a:t>);</a:t>
            </a:r>
          </a:p>
        </p:txBody>
      </p:sp>
      <p:sp>
        <p:nvSpPr>
          <p:cNvPr id="8" name="Oval 7"/>
          <p:cNvSpPr/>
          <p:nvPr/>
        </p:nvSpPr>
        <p:spPr>
          <a:xfrm>
            <a:off x="841248" y="4297679"/>
            <a:ext cx="594360" cy="59436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C</a:t>
            </a:r>
          </a:p>
        </p:txBody>
      </p:sp>
      <p:sp>
        <p:nvSpPr>
          <p:cNvPr id="9" name="Code"/>
          <p:cNvSpPr/>
          <p:nvPr/>
        </p:nvSpPr>
        <p:spPr>
          <a:xfrm>
            <a:off x="1618488" y="3749039"/>
            <a:ext cx="4206240" cy="173736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182880" bIns="137160"/>
          <a:lstStyle/>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9EF0C9"/>
                </a:solidFill>
                <a:latin typeface="Consolas"/>
              </a:rPr>
              <a:t>"Sum: "</a:t>
            </a:r>
            <a:r>
              <a:rPr sz="1400" i="0">
                <a:solidFill>
                  <a:srgbClr val="EEF2FA"/>
                </a:solidFill>
                <a:latin typeface="Consolas"/>
              </a:rPr>
              <a:t> + </a:t>
            </a:r>
            <a:r>
              <a:rPr sz="1400" i="0">
                <a:solidFill>
                  <a:srgbClr val="FFD58A"/>
                </a:solidFill>
                <a:latin typeface="Consolas"/>
              </a:rPr>
              <a:t>2</a:t>
            </a:r>
            <a:r>
              <a:rPr sz="1400" i="0">
                <a:solidFill>
                  <a:srgbClr val="EEF2FA"/>
                </a:solidFill>
                <a:latin typeface="Consolas"/>
              </a:rPr>
              <a:t> + </a:t>
            </a:r>
            <a:r>
              <a:rPr sz="1400" i="0">
                <a:solidFill>
                  <a:srgbClr val="FFD58A"/>
                </a:solidFill>
                <a:latin typeface="Consolas"/>
              </a:rPr>
              <a:t>3</a:t>
            </a:r>
            <a:r>
              <a:rPr sz="1400" i="0">
                <a:solidFill>
                  <a:srgbClr val="EEF2FA"/>
                </a:solidFill>
                <a:latin typeface="Consolas"/>
              </a:rPr>
              <a:t>);</a:t>
            </a:r>
          </a:p>
        </p:txBody>
      </p:sp>
      <p:sp>
        <p:nvSpPr>
          <p:cNvPr id="10" name="Oval 9"/>
          <p:cNvSpPr/>
          <p:nvPr/>
        </p:nvSpPr>
        <p:spPr>
          <a:xfrm>
            <a:off x="6053328" y="4297679"/>
            <a:ext cx="594360" cy="594360"/>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800" b="1" i="0">
                <a:solidFill>
                  <a:srgbClr val="FFFFFF"/>
                </a:solidFill>
                <a:latin typeface="Poppins"/>
              </a:rPr>
              <a:t>D</a:t>
            </a:r>
          </a:p>
        </p:txBody>
      </p:sp>
      <p:sp>
        <p:nvSpPr>
          <p:cNvPr id="11" name="Code"/>
          <p:cNvSpPr/>
          <p:nvPr/>
        </p:nvSpPr>
        <p:spPr>
          <a:xfrm>
            <a:off x="6830568" y="3749039"/>
            <a:ext cx="4206240" cy="192024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182880" bIns="137160"/>
          <a:lstStyle/>
          <a:p>
            <a:pPr algn="l">
              <a:lnSpc>
                <a:spcPct val="105000"/>
              </a:lnSpc>
              <a:spcAft>
                <a:spcPts val="0"/>
              </a:spcAft>
            </a:pPr>
            <a:r>
              <a:rPr sz="1400" i="0">
                <a:solidFill>
                  <a:srgbClr val="B9A6FF"/>
                </a:solidFill>
                <a:latin typeface="Consolas"/>
              </a:rPr>
              <a:t>int</a:t>
            </a:r>
            <a:r>
              <a:rPr sz="1400" i="0">
                <a:solidFill>
                  <a:srgbClr val="EEF2FA"/>
                </a:solidFill>
                <a:latin typeface="Consolas"/>
              </a:rPr>
              <a:t> </a:t>
            </a:r>
            <a:r>
              <a:rPr sz="1400" i="0">
                <a:solidFill>
                  <a:srgbClr val="EEF2FA"/>
                </a:solidFill>
                <a:latin typeface="Consolas"/>
              </a:rPr>
              <a:t>x</a:t>
            </a:r>
            <a:r>
              <a:rPr sz="1400" i="0">
                <a:solidFill>
                  <a:srgbClr val="EEF2FA"/>
                </a:solidFill>
                <a:latin typeface="Consolas"/>
              </a:rPr>
              <a:t> = </a:t>
            </a:r>
            <a:r>
              <a:rPr sz="1400" i="0">
                <a:solidFill>
                  <a:srgbClr val="FFD58A"/>
                </a:solidFill>
                <a:latin typeface="Consolas"/>
              </a:rPr>
              <a:t>5</a:t>
            </a:r>
            <a:r>
              <a:rPr sz="1400" i="0">
                <a:solidFill>
                  <a:srgbClr val="EEF2FA"/>
                </a:solidFill>
                <a:latin typeface="Consolas"/>
              </a:rPr>
              <a:t>;</a:t>
            </a:r>
          </a:p>
          <a:p>
            <a:pPr algn="l">
              <a:lnSpc>
                <a:spcPct val="105000"/>
              </a:lnSpc>
              <a:spcAft>
                <a:spcPts val="0"/>
              </a:spcAft>
            </a:pPr>
            <a:r>
              <a:rPr sz="1400" i="0">
                <a:solidFill>
                  <a:srgbClr val="EEF2FA"/>
                </a:solidFill>
                <a:latin typeface="Consolas"/>
              </a:rPr>
              <a:t>x</a:t>
            </a:r>
            <a:r>
              <a:rPr sz="1400" i="0">
                <a:solidFill>
                  <a:srgbClr val="EEF2FA"/>
                </a:solidFill>
                <a:latin typeface="Consolas"/>
              </a:rPr>
              <a:t> += </a:t>
            </a:r>
            <a:r>
              <a:rPr sz="1400" i="0">
                <a:solidFill>
                  <a:srgbClr val="FFD58A"/>
                </a:solidFill>
                <a:latin typeface="Consolas"/>
              </a:rPr>
              <a:t>3</a:t>
            </a:r>
            <a:r>
              <a:rPr sz="1400" i="0">
                <a:solidFill>
                  <a:srgbClr val="EEF2FA"/>
                </a:solidFill>
                <a:latin typeface="Consolas"/>
              </a:rPr>
              <a:t>;</a:t>
            </a:r>
          </a:p>
          <a:p>
            <a:pPr algn="l">
              <a:lnSpc>
                <a:spcPct val="105000"/>
              </a:lnSpc>
              <a:spcAft>
                <a:spcPts val="0"/>
              </a:spcAft>
            </a:pPr>
            <a:r>
              <a:rPr sz="1400" i="0">
                <a:solidFill>
                  <a:srgbClr val="EEF2FA"/>
                </a:solidFill>
                <a:latin typeface="Consolas"/>
              </a:rPr>
              <a:t>x</a:t>
            </a:r>
            <a:r>
              <a:rPr sz="1400" i="0">
                <a:solidFill>
                  <a:srgbClr val="EEF2FA"/>
                </a:solidFill>
                <a:latin typeface="Consolas"/>
              </a:rPr>
              <a:t>++;</a:t>
            </a:r>
          </a:p>
          <a:p>
            <a:pPr algn="l">
              <a:lnSpc>
                <a:spcPct val="105000"/>
              </a:lnSpc>
              <a:spcAft>
                <a:spcPts val="0"/>
              </a:spcAft>
            </a:pPr>
            <a:r>
              <a:rPr sz="1400" i="0">
                <a:solidFill>
                  <a:srgbClr val="B9A6FF"/>
                </a:solidFill>
                <a:latin typeface="Consolas"/>
              </a:rPr>
              <a:t>System</a:t>
            </a:r>
            <a:r>
              <a:rPr sz="1400" i="0">
                <a:solidFill>
                  <a:srgbClr val="EEF2FA"/>
                </a:solidFill>
                <a:latin typeface="Consolas"/>
              </a:rPr>
              <a:t>.</a:t>
            </a:r>
            <a:r>
              <a:rPr sz="1400" i="0">
                <a:solidFill>
                  <a:srgbClr val="EEF2FA"/>
                </a:solidFill>
                <a:latin typeface="Consolas"/>
              </a:rPr>
              <a:t>out</a:t>
            </a:r>
            <a:r>
              <a:rPr sz="1400" i="0">
                <a:solidFill>
                  <a:srgbClr val="EEF2FA"/>
                </a:solidFill>
                <a:latin typeface="Consolas"/>
              </a:rPr>
              <a:t>.</a:t>
            </a:r>
            <a:r>
              <a:rPr sz="1400" i="0">
                <a:solidFill>
                  <a:srgbClr val="EEF2FA"/>
                </a:solidFill>
                <a:latin typeface="Consolas"/>
              </a:rPr>
              <a:t>println</a:t>
            </a:r>
            <a:r>
              <a:rPr sz="1400" i="0">
                <a:solidFill>
                  <a:srgbClr val="EEF2FA"/>
                </a:solidFill>
                <a:latin typeface="Consolas"/>
              </a:rPr>
              <a:t>(</a:t>
            </a:r>
            <a:r>
              <a:rPr sz="1400" i="0">
                <a:solidFill>
                  <a:srgbClr val="EEF2FA"/>
                </a:solidFill>
                <a:latin typeface="Consolas"/>
              </a:rPr>
              <a:t>x</a:t>
            </a:r>
            <a:r>
              <a:rPr sz="1400" i="0">
                <a:solidFill>
                  <a:srgbClr val="EEF2FA"/>
                </a:solidFill>
                <a:latin typeface="Consolas"/>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Afternoon lab (14:00-16:45)</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ab 1"/>
          <p:cNvSpPr/>
          <p:nvPr/>
        </p:nvSpPr>
        <p:spPr>
          <a:xfrm>
            <a:off x="841248" y="1508760"/>
            <a:ext cx="3246120" cy="2011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24128" y="1691639"/>
            <a:ext cx="502920" cy="50292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Poppins"/>
              </a:rPr>
              <a:t>1</a:t>
            </a:r>
          </a:p>
        </p:txBody>
      </p:sp>
      <p:sp>
        <p:nvSpPr>
          <p:cNvPr id="6" name="TextBox 5"/>
          <p:cNvSpPr txBox="1"/>
          <p:nvPr/>
        </p:nvSpPr>
        <p:spPr>
          <a:xfrm>
            <a:off x="1664208" y="1737360"/>
            <a:ext cx="2286000" cy="45720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Personal card</a:t>
            </a:r>
          </a:p>
        </p:txBody>
      </p:sp>
      <p:sp>
        <p:nvSpPr>
          <p:cNvPr id="7" name="TextBox 6"/>
          <p:cNvSpPr txBox="1"/>
          <p:nvPr/>
        </p:nvSpPr>
        <p:spPr>
          <a:xfrm>
            <a:off x="1024128" y="2377439"/>
            <a:ext cx="288036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Print your name, track and city inside a box of * characters.</a:t>
            </a:r>
          </a:p>
        </p:txBody>
      </p:sp>
      <p:sp>
        <p:nvSpPr>
          <p:cNvPr id="8" name="Lab 2"/>
          <p:cNvSpPr/>
          <p:nvPr/>
        </p:nvSpPr>
        <p:spPr>
          <a:xfrm>
            <a:off x="4315968" y="1508760"/>
            <a:ext cx="3246120" cy="2011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98848" y="1691639"/>
            <a:ext cx="502920" cy="50292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Poppins"/>
              </a:rPr>
              <a:t>2</a:t>
            </a:r>
          </a:p>
        </p:txBody>
      </p:sp>
      <p:sp>
        <p:nvSpPr>
          <p:cNvPr id="10" name="TextBox 9"/>
          <p:cNvSpPr txBox="1"/>
          <p:nvPr/>
        </p:nvSpPr>
        <p:spPr>
          <a:xfrm>
            <a:off x="5138928" y="1737360"/>
            <a:ext cx="2286000" cy="45720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Temperature</a:t>
            </a:r>
          </a:p>
        </p:txBody>
      </p:sp>
      <p:sp>
        <p:nvSpPr>
          <p:cNvPr id="11" name="TextBox 10"/>
          <p:cNvSpPr txBox="1"/>
          <p:nvPr/>
        </p:nvSpPr>
        <p:spPr>
          <a:xfrm>
            <a:off x="4498848" y="2377439"/>
            <a:ext cx="288036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Read °C, print °F.  F = C × 9 / 5 + 32</a:t>
            </a:r>
          </a:p>
        </p:txBody>
      </p:sp>
      <p:sp>
        <p:nvSpPr>
          <p:cNvPr id="12" name="Lab 3"/>
          <p:cNvSpPr/>
          <p:nvPr/>
        </p:nvSpPr>
        <p:spPr>
          <a:xfrm>
            <a:off x="7790688" y="1508760"/>
            <a:ext cx="3246120" cy="2011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973567" y="1691639"/>
            <a:ext cx="502920" cy="50292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Poppins"/>
              </a:rPr>
              <a:t>3</a:t>
            </a:r>
          </a:p>
        </p:txBody>
      </p:sp>
      <p:sp>
        <p:nvSpPr>
          <p:cNvPr id="14" name="TextBox 13"/>
          <p:cNvSpPr txBox="1"/>
          <p:nvPr/>
        </p:nvSpPr>
        <p:spPr>
          <a:xfrm>
            <a:off x="8613648" y="1737360"/>
            <a:ext cx="2286000" cy="45720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BMI</a:t>
            </a:r>
          </a:p>
        </p:txBody>
      </p:sp>
      <p:sp>
        <p:nvSpPr>
          <p:cNvPr id="15" name="TextBox 14"/>
          <p:cNvSpPr txBox="1"/>
          <p:nvPr/>
        </p:nvSpPr>
        <p:spPr>
          <a:xfrm>
            <a:off x="7973567" y="2377439"/>
            <a:ext cx="288036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Read weight (kg) and height (m). BMI = weight / height².</a:t>
            </a:r>
          </a:p>
        </p:txBody>
      </p:sp>
      <p:sp>
        <p:nvSpPr>
          <p:cNvPr id="16" name="Lab 4"/>
          <p:cNvSpPr/>
          <p:nvPr/>
        </p:nvSpPr>
        <p:spPr>
          <a:xfrm>
            <a:off x="841248" y="3749039"/>
            <a:ext cx="3246120" cy="2011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24128" y="3931920"/>
            <a:ext cx="502920" cy="50292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Poppins"/>
              </a:rPr>
              <a:t>4</a:t>
            </a:r>
          </a:p>
        </p:txBody>
      </p:sp>
      <p:sp>
        <p:nvSpPr>
          <p:cNvPr id="18" name="TextBox 17"/>
          <p:cNvSpPr txBox="1"/>
          <p:nvPr/>
        </p:nvSpPr>
        <p:spPr>
          <a:xfrm>
            <a:off x="1664208" y="3977639"/>
            <a:ext cx="2286000" cy="45720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Time split</a:t>
            </a:r>
          </a:p>
        </p:txBody>
      </p:sp>
      <p:sp>
        <p:nvSpPr>
          <p:cNvPr id="19" name="TextBox 18"/>
          <p:cNvSpPr txBox="1"/>
          <p:nvPr/>
        </p:nvSpPr>
        <p:spPr>
          <a:xfrm>
            <a:off x="1024128" y="4617720"/>
            <a:ext cx="288036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Read seconds, print hours, minutes, seconds.</a:t>
            </a:r>
          </a:p>
        </p:txBody>
      </p:sp>
      <p:sp>
        <p:nvSpPr>
          <p:cNvPr id="20" name="Lab 5"/>
          <p:cNvSpPr/>
          <p:nvPr/>
        </p:nvSpPr>
        <p:spPr>
          <a:xfrm>
            <a:off x="4315968" y="3749039"/>
            <a:ext cx="3246120" cy="2011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498848" y="3931920"/>
            <a:ext cx="502920" cy="502920"/>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Poppins"/>
              </a:rPr>
              <a:t>5</a:t>
            </a:r>
          </a:p>
        </p:txBody>
      </p:sp>
      <p:sp>
        <p:nvSpPr>
          <p:cNvPr id="22" name="TextBox 21"/>
          <p:cNvSpPr txBox="1"/>
          <p:nvPr/>
        </p:nvSpPr>
        <p:spPr>
          <a:xfrm>
            <a:off x="5138928" y="3977639"/>
            <a:ext cx="2286000" cy="457200"/>
          </a:xfrm>
          <a:prstGeom prst="rect">
            <a:avLst/>
          </a:prstGeom>
          <a:noFill/>
        </p:spPr>
        <p:txBody>
          <a:bodyPr wrap="square" lIns="0" rIns="0" tIns="0" bIns="0" anchor="t">
            <a:spAutoFit/>
          </a:bodyPr>
          <a:lstStyle/>
          <a:p>
            <a:pPr algn="l">
              <a:spcAft>
                <a:spcPts val="600"/>
              </a:spcAft>
            </a:pPr>
            <a:r>
              <a:rPr sz="1600" b="1" i="0">
                <a:solidFill>
                  <a:srgbClr val="0366FF"/>
                </a:solidFill>
                <a:latin typeface="Poppins"/>
              </a:rPr>
              <a:t>Swap</a:t>
            </a:r>
          </a:p>
        </p:txBody>
      </p:sp>
      <p:sp>
        <p:nvSpPr>
          <p:cNvPr id="23" name="TextBox 22"/>
          <p:cNvSpPr txBox="1"/>
          <p:nvPr/>
        </p:nvSpPr>
        <p:spPr>
          <a:xfrm>
            <a:off x="4498848" y="4617720"/>
            <a:ext cx="288036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Swap two variables, with and without a temp variable.</a:t>
            </a:r>
          </a:p>
        </p:txBody>
      </p:sp>
      <p:sp>
        <p:nvSpPr>
          <p:cNvPr id="24" name="Lab 6"/>
          <p:cNvSpPr/>
          <p:nvPr/>
        </p:nvSpPr>
        <p:spPr>
          <a:xfrm>
            <a:off x="7790688" y="3749039"/>
            <a:ext cx="3246120" cy="201168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973567" y="3931920"/>
            <a:ext cx="502920" cy="502920"/>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500" b="1" i="0">
                <a:solidFill>
                  <a:srgbClr val="FFFFFF"/>
                </a:solidFill>
                <a:latin typeface="Poppins"/>
              </a:rPr>
              <a:t>6</a:t>
            </a:r>
          </a:p>
        </p:txBody>
      </p:sp>
      <p:sp>
        <p:nvSpPr>
          <p:cNvPr id="26" name="TextBox 25"/>
          <p:cNvSpPr txBox="1"/>
          <p:nvPr/>
        </p:nvSpPr>
        <p:spPr>
          <a:xfrm>
            <a:off x="8613648" y="3977639"/>
            <a:ext cx="2286000" cy="457200"/>
          </a:xfrm>
          <a:prstGeom prst="rect">
            <a:avLst/>
          </a:prstGeom>
          <a:noFill/>
        </p:spPr>
        <p:txBody>
          <a:bodyPr wrap="square" lIns="0" rIns="0" tIns="0" bIns="0" anchor="t">
            <a:spAutoFit/>
          </a:bodyPr>
          <a:lstStyle/>
          <a:p>
            <a:pPr algn="l">
              <a:spcAft>
                <a:spcPts val="600"/>
              </a:spcAft>
            </a:pPr>
            <a:r>
              <a:rPr sz="1600" b="1" i="0">
                <a:solidFill>
                  <a:srgbClr val="8C4FF4"/>
                </a:solidFill>
                <a:latin typeface="Poppins"/>
              </a:rPr>
              <a:t>Change maker</a:t>
            </a:r>
          </a:p>
        </p:txBody>
      </p:sp>
      <p:sp>
        <p:nvSpPr>
          <p:cNvPr id="27" name="TextBox 26"/>
          <p:cNvSpPr txBox="1"/>
          <p:nvPr/>
        </p:nvSpPr>
        <p:spPr>
          <a:xfrm>
            <a:off x="7973567" y="4617720"/>
            <a:ext cx="2880360" cy="1097280"/>
          </a:xfrm>
          <a:prstGeom prst="rect">
            <a:avLst/>
          </a:prstGeom>
          <a:noFill/>
        </p:spPr>
        <p:txBody>
          <a:bodyPr wrap="square" lIns="0" rIns="0" tIns="0" bIns="0" anchor="t">
            <a:spAutoFit/>
          </a:bodyPr>
          <a:lstStyle/>
          <a:p>
            <a:pPr algn="l">
              <a:spcAft>
                <a:spcPts val="600"/>
              </a:spcAft>
            </a:pPr>
            <a:r>
              <a:rPr sz="1400" b="0" i="0">
                <a:solidFill>
                  <a:srgbClr val="1B2433"/>
                </a:solidFill>
                <a:latin typeface="Poppins"/>
              </a:rPr>
              <a:t>Stretch: fewest EGP notes for an amount (200, 100, 50, 20, 10, 5, 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Materials for this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Slides"/>
          <p:cNvSpPr/>
          <p:nvPr/>
        </p:nvSpPr>
        <p:spPr>
          <a:xfrm>
            <a:off x="841248" y="1463040"/>
            <a:ext cx="4983480" cy="17373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664208"/>
            <a:ext cx="458114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Slides</a:t>
            </a:r>
          </a:p>
        </p:txBody>
      </p:sp>
      <p:sp>
        <p:nvSpPr>
          <p:cNvPr id="6" name="TextBox 5"/>
          <p:cNvSpPr txBox="1"/>
          <p:nvPr/>
        </p:nvSpPr>
        <p:spPr>
          <a:xfrm>
            <a:off x="1042416" y="2121408"/>
            <a:ext cx="4581144" cy="87782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This deck: Session01_Your_First_Java_Programs.pptx</a:t>
            </a:r>
          </a:p>
        </p:txBody>
      </p:sp>
      <p:sp>
        <p:nvSpPr>
          <p:cNvPr id="7" name="Card Demo code"/>
          <p:cNvSpPr/>
          <p:nvPr/>
        </p:nvSpPr>
        <p:spPr>
          <a:xfrm>
            <a:off x="6053328" y="1463040"/>
            <a:ext cx="4983480" cy="173736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54496" y="1664208"/>
            <a:ext cx="458114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Demo code</a:t>
            </a:r>
          </a:p>
        </p:txBody>
      </p:sp>
      <p:sp>
        <p:nvSpPr>
          <p:cNvPr id="9" name="TextBox 8"/>
          <p:cNvSpPr txBox="1"/>
          <p:nvPr/>
        </p:nvSpPr>
        <p:spPr>
          <a:xfrm>
            <a:off x="6254496" y="2121408"/>
            <a:ext cx="4581144" cy="87782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session-01-code.zip → demos/: one file per code slide (file name on each code box)</a:t>
            </a:r>
          </a:p>
        </p:txBody>
      </p:sp>
      <p:sp>
        <p:nvSpPr>
          <p:cNvPr id="10" name="Card Lab starters"/>
          <p:cNvSpPr/>
          <p:nvPr/>
        </p:nvSpPr>
        <p:spPr>
          <a:xfrm>
            <a:off x="841248" y="3429000"/>
            <a:ext cx="4983480" cy="17373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2416" y="3630168"/>
            <a:ext cx="458114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Lab starters</a:t>
            </a:r>
          </a:p>
        </p:txBody>
      </p:sp>
      <p:sp>
        <p:nvSpPr>
          <p:cNvPr id="12" name="TextBox 11"/>
          <p:cNvSpPr txBox="1"/>
          <p:nvPr/>
        </p:nvSpPr>
        <p:spPr>
          <a:xfrm>
            <a:off x="1042416" y="4087368"/>
            <a:ext cx="4581144" cy="87782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lab/starter/: six exercises with TODOs and expected answers</a:t>
            </a:r>
          </a:p>
        </p:txBody>
      </p:sp>
      <p:sp>
        <p:nvSpPr>
          <p:cNvPr id="13" name="Card Lab solutions"/>
          <p:cNvSpPr/>
          <p:nvPr/>
        </p:nvSpPr>
        <p:spPr>
          <a:xfrm>
            <a:off x="6053328" y="3429000"/>
            <a:ext cx="4983480" cy="17373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54496" y="3630168"/>
            <a:ext cx="458114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Lab solutions</a:t>
            </a:r>
          </a:p>
        </p:txBody>
      </p:sp>
      <p:sp>
        <p:nvSpPr>
          <p:cNvPr id="15" name="TextBox 14"/>
          <p:cNvSpPr txBox="1"/>
          <p:nvPr/>
        </p:nvSpPr>
        <p:spPr>
          <a:xfrm>
            <a:off x="6254496" y="4087368"/>
            <a:ext cx="4581144" cy="877824"/>
          </a:xfrm>
          <a:prstGeom prst="rect">
            <a:avLst/>
          </a:prstGeom>
          <a:noFill/>
        </p:spPr>
        <p:txBody>
          <a:bodyPr wrap="square" lIns="0" rIns="0" tIns="0" bIns="0" anchor="t">
            <a:spAutoFit/>
          </a:bodyPr>
          <a:lstStyle/>
          <a:p>
            <a:pPr algn="l">
              <a:spcAft>
                <a:spcPts val="400"/>
              </a:spcAft>
            </a:pPr>
            <a:r>
              <a:rPr sz="1500" b="0" i="0">
                <a:solidFill>
                  <a:srgbClr val="1B2433"/>
                </a:solidFill>
                <a:latin typeface="Poppins"/>
              </a:rPr>
              <a:t>lab/solutions/: shared after the lab, at 16:45</a:t>
            </a:r>
          </a:p>
        </p:txBody>
      </p:sp>
      <p:sp>
        <p:nvSpPr>
          <p:cNvPr id="16" name="Course doc band"/>
          <p:cNvSpPr/>
          <p:nvPr/>
        </p:nvSpPr>
        <p:spPr>
          <a:xfrm>
            <a:off x="841248" y="5486400"/>
            <a:ext cx="10241280" cy="68580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5486400"/>
            <a:ext cx="9784080" cy="685800"/>
          </a:xfrm>
          <a:prstGeom prst="rect">
            <a:avLst/>
          </a:prstGeom>
          <a:noFill/>
        </p:spPr>
        <p:txBody>
          <a:bodyPr wrap="square" lIns="0" rIns="0" tIns="0" bIns="0" anchor="ctr">
            <a:spAutoFit/>
          </a:bodyPr>
          <a:lstStyle/>
          <a:p>
            <a:pPr algn="l">
              <a:spcAft>
                <a:spcPts val="600"/>
              </a:spcAft>
            </a:pPr>
            <a:r>
              <a:rPr sz="1500" b="1" i="0">
                <a:solidFill>
                  <a:srgbClr val="0E2841"/>
                </a:solidFill>
                <a:latin typeface="Poppins"/>
              </a:rPr>
              <a:t>Full plan, schedules and all links: </a:t>
            </a:r>
            <a:r>
              <a:rPr sz="1500" b="0" i="0" u="sng">
                <a:solidFill>
                  <a:srgbClr val="0366FF"/>
                </a:solidFill>
                <a:latin typeface="Poppins"/>
                <a:hlinkClick r:id="rId3">
                  <a:extLst>
                    <a:ext uri="{A12FA001-AC4F-418D-AE19-62706E023703}">
                      <ahyp:hlinkClr xmlns:ahyp="http://schemas.microsoft.com/office/drawing/2018/hyperlinkcolor" val="tx"/>
                    </a:ext>
                  </a:extLst>
                </a:hlinkClick>
              </a:rPr>
              <a:t>Course document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Resources for this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Watch (Arabic)"/>
          <p:cNvSpPr/>
          <p:nvPr/>
        </p:nvSpPr>
        <p:spPr>
          <a:xfrm>
            <a:off x="841248" y="1463040"/>
            <a:ext cx="3291840" cy="32918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664208"/>
            <a:ext cx="288950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Watch (Arabic)</a:t>
            </a:r>
          </a:p>
        </p:txBody>
      </p:sp>
      <p:sp>
        <p:nvSpPr>
          <p:cNvPr id="6" name="TextBox 5"/>
          <p:cNvSpPr txBox="1"/>
          <p:nvPr/>
        </p:nvSpPr>
        <p:spPr>
          <a:xfrm>
            <a:off x="104241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u="sng">
                <a:solidFill>
                  <a:srgbClr val="0366FF"/>
                </a:solidFill>
                <a:latin typeface="Poppins"/>
                <a:hlinkClick r:id="rId3">
                  <a:extLst>
                    <a:ext uri="{A12FA001-AC4F-418D-AE19-62706E023703}">
                      <ahyp:hlinkClr xmlns:ahyp="http://schemas.microsoft.com/office/drawing/2018/hyperlinkcolor" val="tx"/>
                    </a:ext>
                  </a:extLst>
                </a:hlinkClick>
              </a:rPr>
              <a:t>Adel Nasim: Java basics</a:t>
            </a:r>
          </a:p>
          <a:p>
            <a:pPr algn="l" marL="228600" indent="-201168">
              <a:spcAft>
                <a:spcPts val="400"/>
              </a:spcAft>
              <a:buClr>
                <a:srgbClr val="0366FF"/>
              </a:buClr>
              <a:buChar char="•"/>
            </a:pPr>
            <a:r>
              <a:rPr sz="1400" b="0" i="0" u="sng">
                <a:solidFill>
                  <a:srgbClr val="0366FF"/>
                </a:solidFill>
                <a:latin typeface="Poppins"/>
                <a:hlinkClick r:id="rId4">
                  <a:extLst>
                    <a:ext uri="{A12FA001-AC4F-418D-AE19-62706E023703}">
                      <ahyp:hlinkClr xmlns:ahyp="http://schemas.microsoft.com/office/drawing/2018/hyperlinkcolor" val="tx"/>
                    </a:ext>
                  </a:extLst>
                </a:hlinkClick>
              </a:rPr>
              <a:t>Mohamed Shoshan: Level 1</a:t>
            </a:r>
          </a:p>
          <a:p>
            <a:pPr algn="l" marL="228600" indent="-201168">
              <a:spcAft>
                <a:spcPts val="400"/>
              </a:spcAft>
              <a:buClr>
                <a:srgbClr val="0366FF"/>
              </a:buClr>
              <a:buChar char="•"/>
            </a:pPr>
            <a:r>
              <a:rPr sz="1400" b="0" i="0" u="sng">
                <a:solidFill>
                  <a:srgbClr val="0366FF"/>
                </a:solidFill>
                <a:latin typeface="Poppins"/>
                <a:hlinkClick r:id="rId5">
                  <a:extLst>
                    <a:ext uri="{A12FA001-AC4F-418D-AE19-62706E023703}">
                      <ahyp:hlinkClr xmlns:ahyp="http://schemas.microsoft.com/office/drawing/2018/hyperlinkcolor" val="tx"/>
                    </a:ext>
                  </a:extLst>
                </a:hlinkClick>
              </a:rPr>
              <a:t>Elzero: before coding</a:t>
            </a:r>
          </a:p>
          <a:p>
            <a:pPr algn="l" marL="228600" indent="-201168">
              <a:spcAft>
                <a:spcPts val="400"/>
              </a:spcAft>
              <a:buClr>
                <a:srgbClr val="0366FF"/>
              </a:buClr>
              <a:buChar char="•"/>
            </a:pPr>
            <a:r>
              <a:rPr sz="1400" b="0" i="0" u="sng">
                <a:solidFill>
                  <a:srgbClr val="0366FF"/>
                </a:solidFill>
                <a:latin typeface="Poppins"/>
                <a:hlinkClick r:id="rId6">
                  <a:extLst>
                    <a:ext uri="{A12FA001-AC4F-418D-AE19-62706E023703}">
                      <ahyp:hlinkClr xmlns:ahyp="http://schemas.microsoft.com/office/drawing/2018/hyperlinkcolor" val="tx"/>
                    </a:ext>
                  </a:extLst>
                </a:hlinkClick>
              </a:rPr>
              <a:t>Adel Nasim: lessons, quizzes</a:t>
            </a:r>
          </a:p>
        </p:txBody>
      </p:sp>
      <p:sp>
        <p:nvSpPr>
          <p:cNvPr id="7" name="Card Read (English)"/>
          <p:cNvSpPr/>
          <p:nvPr/>
        </p:nvSpPr>
        <p:spPr>
          <a:xfrm>
            <a:off x="4315968" y="1463040"/>
            <a:ext cx="3291840" cy="329184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17136" y="1664208"/>
            <a:ext cx="288950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Read (English)</a:t>
            </a:r>
          </a:p>
        </p:txBody>
      </p:sp>
      <p:sp>
        <p:nvSpPr>
          <p:cNvPr id="9" name="TextBox 8"/>
          <p:cNvSpPr txBox="1"/>
          <p:nvPr/>
        </p:nvSpPr>
        <p:spPr>
          <a:xfrm>
            <a:off x="451713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u="sng">
                <a:solidFill>
                  <a:srgbClr val="0366FF"/>
                </a:solidFill>
                <a:latin typeface="Poppins"/>
                <a:hlinkClick r:id="rId7">
                  <a:extLst>
                    <a:ext uri="{A12FA001-AC4F-418D-AE19-62706E023703}">
                      <ahyp:hlinkClr xmlns:ahyp="http://schemas.microsoft.com/office/drawing/2018/hyperlinkcolor" val="tx"/>
                    </a:ext>
                  </a:extLst>
                </a:hlinkClick>
              </a:rPr>
              <a:t>dev.java: Getting started</a:t>
            </a:r>
          </a:p>
          <a:p>
            <a:pPr algn="l" marL="228600" indent="-201168">
              <a:spcAft>
                <a:spcPts val="400"/>
              </a:spcAft>
              <a:buClr>
                <a:srgbClr val="0366FF"/>
              </a:buClr>
              <a:buChar char="•"/>
            </a:pPr>
            <a:r>
              <a:rPr sz="1400" b="0" i="0" u="sng">
                <a:solidFill>
                  <a:srgbClr val="0366FF"/>
                </a:solidFill>
                <a:latin typeface="Poppins"/>
                <a:hlinkClick r:id="rId8">
                  <a:extLst>
                    <a:ext uri="{A12FA001-AC4F-418D-AE19-62706E023703}">
                      <ahyp:hlinkClr xmlns:ahyp="http://schemas.microsoft.com/office/drawing/2018/hyperlinkcolor" val="tx"/>
                    </a:ext>
                  </a:extLst>
                </a:hlinkClick>
              </a:rPr>
              <a:t>roadmap.sh: Java</a:t>
            </a:r>
          </a:p>
          <a:p>
            <a:pPr algn="l" marL="228600" indent="-201168">
              <a:spcAft>
                <a:spcPts val="400"/>
              </a:spcAft>
              <a:buClr>
                <a:srgbClr val="0366FF"/>
              </a:buClr>
              <a:buChar char="•"/>
            </a:pPr>
            <a:r>
              <a:rPr sz="1400" b="0" i="0" u="sng">
                <a:solidFill>
                  <a:srgbClr val="0366FF"/>
                </a:solidFill>
                <a:latin typeface="Poppins"/>
                <a:hlinkClick r:id="rId9">
                  <a:extLst>
                    <a:ext uri="{A12FA001-AC4F-418D-AE19-62706E023703}">
                      <ahyp:hlinkClr xmlns:ahyp="http://schemas.microsoft.com/office/drawing/2018/hyperlinkcolor" val="tx"/>
                    </a:ext>
                  </a:extLst>
                </a:hlinkClick>
              </a:rPr>
              <a:t>JEP 512: compact files</a:t>
            </a:r>
          </a:p>
        </p:txBody>
      </p:sp>
      <p:sp>
        <p:nvSpPr>
          <p:cNvPr id="10" name="Card Practice"/>
          <p:cNvSpPr/>
          <p:nvPr/>
        </p:nvSpPr>
        <p:spPr>
          <a:xfrm>
            <a:off x="7790688" y="1463040"/>
            <a:ext cx="3291840" cy="329184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91856" y="1664208"/>
            <a:ext cx="288950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Practice</a:t>
            </a:r>
          </a:p>
        </p:txBody>
      </p:sp>
      <p:sp>
        <p:nvSpPr>
          <p:cNvPr id="12" name="TextBox 11"/>
          <p:cNvSpPr txBox="1"/>
          <p:nvPr/>
        </p:nvSpPr>
        <p:spPr>
          <a:xfrm>
            <a:off x="799185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u="sng">
                <a:solidFill>
                  <a:srgbClr val="0366FF"/>
                </a:solidFill>
                <a:latin typeface="Poppins"/>
                <a:hlinkClick r:id="rId10">
                  <a:extLst>
                    <a:ext uri="{A12FA001-AC4F-418D-AE19-62706E023703}">
                      <ahyp:hlinkClr xmlns:ahyp="http://schemas.microsoft.com/office/drawing/2018/hyperlinkcolor" val="tx"/>
                    </a:ext>
                  </a:extLst>
                </a:hlinkClick>
              </a:rPr>
              <a:t>CodingBat Warmup-1</a:t>
            </a:r>
          </a:p>
          <a:p>
            <a:pPr algn="l" marL="228600" indent="-201168">
              <a:spcAft>
                <a:spcPts val="400"/>
              </a:spcAft>
              <a:buClr>
                <a:srgbClr val="0366FF"/>
              </a:buClr>
              <a:buChar char="•"/>
            </a:pPr>
            <a:r>
              <a:rPr sz="1400" b="0" i="0" u="sng">
                <a:solidFill>
                  <a:srgbClr val="0366FF"/>
                </a:solidFill>
                <a:latin typeface="Poppins"/>
                <a:hlinkClick r:id="rId11">
                  <a:extLst>
                    <a:ext uri="{A12FA001-AC4F-418D-AE19-62706E023703}">
                      <ahyp:hlinkClr xmlns:ahyp="http://schemas.microsoft.com/office/drawing/2018/hyperlinkcolor" val="tx"/>
                    </a:ext>
                  </a:extLst>
                </a:hlinkClick>
              </a:rPr>
              <a:t>Exercism: Hello World</a:t>
            </a:r>
          </a:p>
          <a:p>
            <a:pPr algn="l" marL="228600" indent="-201168">
              <a:spcAft>
                <a:spcPts val="400"/>
              </a:spcAft>
              <a:buClr>
                <a:srgbClr val="0366FF"/>
              </a:buClr>
              <a:buChar char="•"/>
            </a:pPr>
            <a:r>
              <a:rPr sz="1400" b="0" i="0" u="sng">
                <a:solidFill>
                  <a:srgbClr val="0366FF"/>
                </a:solidFill>
                <a:latin typeface="Poppins"/>
                <a:hlinkClick r:id="rId12">
                  <a:extLst>
                    <a:ext uri="{A12FA001-AC4F-418D-AE19-62706E023703}">
                      <ahyp:hlinkClr xmlns:ahyp="http://schemas.microsoft.com/office/drawing/2018/hyperlinkcolor" val="tx"/>
                    </a:ext>
                  </a:extLst>
                </a:hlinkClick>
              </a:rPr>
              <a:t>Exercism: Java track</a:t>
            </a:r>
          </a:p>
          <a:p>
            <a:pPr algn="l" marL="228600" indent="-201168">
              <a:spcAft>
                <a:spcPts val="400"/>
              </a:spcAft>
              <a:buClr>
                <a:srgbClr val="0366FF"/>
              </a:buClr>
              <a:buChar char="•"/>
            </a:pPr>
            <a:r>
              <a:rPr sz="1400" b="0" i="0" u="sng">
                <a:solidFill>
                  <a:srgbClr val="0366FF"/>
                </a:solidFill>
                <a:latin typeface="Poppins"/>
                <a:hlinkClick r:id="rId13">
                  <a:extLst>
                    <a:ext uri="{A12FA001-AC4F-418D-AE19-62706E023703}">
                      <ahyp:hlinkClr xmlns:ahyp="http://schemas.microsoft.com/office/drawing/2018/hyperlinkcolor" val="tx"/>
                    </a:ext>
                  </a:extLst>
                </a:hlinkClick>
              </a:rPr>
              <a:t>HackerRank (Intern B)</a:t>
            </a:r>
          </a:p>
        </p:txBody>
      </p:sp>
      <p:sp>
        <p:nvSpPr>
          <p:cNvPr id="13" name="Resource tip band"/>
          <p:cNvSpPr/>
          <p:nvPr/>
        </p:nvSpPr>
        <p:spPr>
          <a:xfrm>
            <a:off x="841248" y="5029200"/>
            <a:ext cx="10241280" cy="82296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5029200"/>
            <a:ext cx="9784080" cy="822960"/>
          </a:xfrm>
          <a:prstGeom prst="rect">
            <a:avLst/>
          </a:prstGeom>
          <a:noFill/>
        </p:spPr>
        <p:txBody>
          <a:bodyPr wrap="square" lIns="0" rIns="0" tIns="0" bIns="0" anchor="ctr">
            <a:spAutoFit/>
          </a:bodyPr>
          <a:lstStyle/>
          <a:p>
            <a:pPr algn="l">
              <a:spcAft>
                <a:spcPts val="600"/>
              </a:spcAft>
            </a:pPr>
            <a:r>
              <a:rPr sz="1500" b="1" i="0">
                <a:solidFill>
                  <a:srgbClr val="0366FF"/>
                </a:solidFill>
                <a:latin typeface="Poppins"/>
              </a:rPr>
              <a:t>Tip: </a:t>
            </a:r>
            <a:r>
              <a:rPr sz="1500" b="0" i="0">
                <a:solidFill>
                  <a:srgbClr val="1B2433"/>
                </a:solidFill>
                <a:latin typeface="Poppins"/>
              </a:rPr>
              <a:t>watch at 1.25x, pause and type every example yourself. Watching without typing does not stick.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Before Wednesday</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Watch (Arabic first)"/>
          <p:cNvSpPr/>
          <p:nvPr/>
        </p:nvSpPr>
        <p:spPr>
          <a:xfrm>
            <a:off x="841248" y="1508760"/>
            <a:ext cx="3291840" cy="4297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288950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Watch (Arabic first)</a:t>
            </a:r>
          </a:p>
        </p:txBody>
      </p:sp>
      <p:sp>
        <p:nvSpPr>
          <p:cNvPr id="6" name="TextBox 5"/>
          <p:cNvSpPr txBox="1"/>
          <p:nvPr/>
        </p:nvSpPr>
        <p:spPr>
          <a:xfrm>
            <a:off x="104241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u="sng">
                <a:solidFill>
                  <a:srgbClr val="0366FF"/>
                </a:solidFill>
                <a:latin typeface="Poppins"/>
                <a:hlinkClick r:id="rId3">
                  <a:extLst>
                    <a:ext uri="{A12FA001-AC4F-418D-AE19-62706E023703}">
                      <ahyp:hlinkClr xmlns:ahyp="http://schemas.microsoft.com/office/drawing/2018/hyperlinkcolor" val="tx"/>
                    </a:ext>
                  </a:extLst>
                </a:hlinkClick>
              </a:rPr>
              <a:t>Nasim: variables, operators</a:t>
            </a:r>
          </a:p>
          <a:p>
            <a:pPr algn="l" marL="228600" indent="-201168">
              <a:spcAft>
                <a:spcPts val="400"/>
              </a:spcAft>
              <a:buClr>
                <a:srgbClr val="0366FF"/>
              </a:buClr>
              <a:buChar char="•"/>
            </a:pPr>
            <a:r>
              <a:rPr sz="1400" b="0" i="0" u="sng">
                <a:solidFill>
                  <a:srgbClr val="0366FF"/>
                </a:solidFill>
                <a:latin typeface="Poppins"/>
                <a:hlinkClick r:id="rId3">
                  <a:extLst>
                    <a:ext uri="{A12FA001-AC4F-418D-AE19-62706E023703}">
                      <ahyp:hlinkClr xmlns:ahyp="http://schemas.microsoft.com/office/drawing/2018/hyperlinkcolor" val="tx"/>
                    </a:ext>
                  </a:extLst>
                </a:hlinkClick>
              </a:rPr>
              <a:t>Nasim: if/else (preview)</a:t>
            </a:r>
          </a:p>
          <a:p>
            <a:pPr algn="l" marL="228600" indent="-201168">
              <a:spcAft>
                <a:spcPts val="400"/>
              </a:spcAft>
              <a:buClr>
                <a:srgbClr val="0366FF"/>
              </a:buClr>
              <a:buChar char="•"/>
            </a:pPr>
            <a:r>
              <a:rPr sz="1400" b="0" i="0" u="sng">
                <a:solidFill>
                  <a:srgbClr val="0366FF"/>
                </a:solidFill>
                <a:latin typeface="Poppins"/>
                <a:hlinkClick r:id="rId4">
                  <a:extLst>
                    <a:ext uri="{A12FA001-AC4F-418D-AE19-62706E023703}">
                      <ahyp:hlinkClr xmlns:ahyp="http://schemas.microsoft.com/office/drawing/2018/hyperlinkcolor" val="tx"/>
                    </a:ext>
                  </a:extLst>
                </a:hlinkClick>
              </a:rPr>
              <a:t>dev.java: Getting started</a:t>
            </a:r>
          </a:p>
        </p:txBody>
      </p:sp>
      <p:sp>
        <p:nvSpPr>
          <p:cNvPr id="7" name="Card Practice"/>
          <p:cNvSpPr/>
          <p:nvPr/>
        </p:nvSpPr>
        <p:spPr>
          <a:xfrm>
            <a:off x="4315968" y="1508760"/>
            <a:ext cx="3291840" cy="429768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17136" y="1709928"/>
            <a:ext cx="288950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Practice</a:t>
            </a:r>
          </a:p>
        </p:txBody>
      </p:sp>
      <p:sp>
        <p:nvSpPr>
          <p:cNvPr id="9" name="TextBox 8"/>
          <p:cNvSpPr txBox="1"/>
          <p:nvPr/>
        </p:nvSpPr>
        <p:spPr>
          <a:xfrm>
            <a:off x="451713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a:solidFill>
                  <a:srgbClr val="1B2433"/>
                </a:solidFill>
                <a:latin typeface="Poppins"/>
              </a:rPr>
              <a:t>Finish lab 1-5 (6 is a bonus)</a:t>
            </a:r>
          </a:p>
          <a:p>
            <a:pPr algn="l" marL="228600" indent="-201168">
              <a:spcAft>
                <a:spcPts val="400"/>
              </a:spcAft>
              <a:buClr>
                <a:srgbClr val="0366FF"/>
              </a:buClr>
              <a:buChar char="•"/>
            </a:pPr>
            <a:r>
              <a:rPr sz="1400" b="0" i="0" u="sng">
                <a:solidFill>
                  <a:srgbClr val="0366FF"/>
                </a:solidFill>
                <a:latin typeface="Poppins"/>
                <a:hlinkClick r:id="rId5">
                  <a:extLst>
                    <a:ext uri="{A12FA001-AC4F-418D-AE19-62706E023703}">
                      <ahyp:hlinkClr xmlns:ahyp="http://schemas.microsoft.com/office/drawing/2018/hyperlinkcolor" val="tx"/>
                    </a:ext>
                  </a:extLst>
                </a:hlinkClick>
              </a:rPr>
              <a:t>CodingBat Warmup-1 (10)</a:t>
            </a:r>
          </a:p>
          <a:p>
            <a:pPr algn="l" marL="228600" indent="-201168">
              <a:spcAft>
                <a:spcPts val="400"/>
              </a:spcAft>
              <a:buClr>
                <a:srgbClr val="0366FF"/>
              </a:buClr>
              <a:buChar char="•"/>
            </a:pPr>
            <a:r>
              <a:rPr sz="1400" b="0" i="0" u="sng">
                <a:solidFill>
                  <a:srgbClr val="0366FF"/>
                </a:solidFill>
                <a:latin typeface="Poppins"/>
                <a:hlinkClick r:id="rId6">
                  <a:extLst>
                    <a:ext uri="{A12FA001-AC4F-418D-AE19-62706E023703}">
                      <ahyp:hlinkClr xmlns:ahyp="http://schemas.microsoft.com/office/drawing/2018/hyperlinkcolor" val="tx"/>
                    </a:ext>
                  </a:extLst>
                </a:hlinkClick>
              </a:rPr>
              <a:t>Exercism: Hello World + 2</a:t>
            </a:r>
          </a:p>
        </p:txBody>
      </p:sp>
      <p:sp>
        <p:nvSpPr>
          <p:cNvPr id="10" name="Card Intern B track"/>
          <p:cNvSpPr/>
          <p:nvPr/>
        </p:nvSpPr>
        <p:spPr>
          <a:xfrm>
            <a:off x="7790688" y="1508760"/>
            <a:ext cx="3291840" cy="429768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91856" y="1709928"/>
            <a:ext cx="288950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Intern B track</a:t>
            </a:r>
          </a:p>
        </p:txBody>
      </p:sp>
      <p:sp>
        <p:nvSpPr>
          <p:cNvPr id="12" name="TextBox 11"/>
          <p:cNvSpPr txBox="1"/>
          <p:nvPr/>
        </p:nvSpPr>
        <p:spPr>
          <a:xfrm>
            <a:off x="799185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sz="1400" b="0" i="0" u="sng">
                <a:solidFill>
                  <a:srgbClr val="0366FF"/>
                </a:solidFill>
                <a:latin typeface="Poppins"/>
                <a:hlinkClick r:id="rId7">
                  <a:extLst>
                    <a:ext uri="{A12FA001-AC4F-418D-AE19-62706E023703}">
                      <ahyp:hlinkClr xmlns:ahyp="http://schemas.microsoft.com/office/drawing/2018/hyperlinkcolor" val="tx"/>
                    </a:ext>
                  </a:extLst>
                </a:hlinkClick>
              </a:rPr>
              <a:t>C# to Java map (doc)</a:t>
            </a:r>
          </a:p>
          <a:p>
            <a:pPr algn="l" marL="228600" indent="-201168">
              <a:spcAft>
                <a:spcPts val="400"/>
              </a:spcAft>
              <a:buClr>
                <a:srgbClr val="0366FF"/>
              </a:buClr>
              <a:buChar char="•"/>
            </a:pPr>
            <a:r>
              <a:rPr sz="1400" b="0" i="0" u="sng">
                <a:solidFill>
                  <a:srgbClr val="0366FF"/>
                </a:solidFill>
                <a:latin typeface="Poppins"/>
                <a:hlinkClick r:id="rId8">
                  <a:extLst>
                    <a:ext uri="{A12FA001-AC4F-418D-AE19-62706E023703}">
                      <ahyp:hlinkClr xmlns:ahyp="http://schemas.microsoft.com/office/drawing/2018/hyperlinkcolor" val="tx"/>
                    </a:ext>
                  </a:extLst>
                </a:hlinkClick>
              </a:rPr>
              <a:t>LeetCode: Two Sum</a:t>
            </a:r>
          </a:p>
          <a:p>
            <a:pPr algn="l" marL="228600" indent="-201168">
              <a:spcAft>
                <a:spcPts val="400"/>
              </a:spcAft>
              <a:buClr>
                <a:srgbClr val="0366FF"/>
              </a:buClr>
              <a:buChar char="•"/>
            </a:pPr>
            <a:r>
              <a:rPr sz="1400" b="0" i="0" u="sng">
                <a:solidFill>
                  <a:srgbClr val="0366FF"/>
                </a:solidFill>
                <a:latin typeface="Poppins"/>
                <a:hlinkClick r:id="rId9">
                  <a:extLst>
                    <a:ext uri="{A12FA001-AC4F-418D-AE19-62706E023703}">
                      <ahyp:hlinkClr xmlns:ahyp="http://schemas.microsoft.com/office/drawing/2018/hyperlinkcolor" val="tx"/>
                    </a:ext>
                  </a:extLst>
                </a:hlinkClick>
              </a:rPr>
              <a:t>LeetCode: Palindrome No.</a:t>
            </a:r>
          </a:p>
          <a:p>
            <a:pPr algn="l" marL="228600" indent="-201168">
              <a:spcAft>
                <a:spcPts val="400"/>
              </a:spcAft>
              <a:buClr>
                <a:srgbClr val="0366FF"/>
              </a:buClr>
              <a:buChar char="•"/>
            </a:pPr>
            <a:r>
              <a:rPr sz="1400" b="0" i="0" u="sng">
                <a:solidFill>
                  <a:srgbClr val="0366FF"/>
                </a:solidFill>
                <a:latin typeface="Poppins"/>
                <a:hlinkClick r:id="rId4">
                  <a:extLst>
                    <a:ext uri="{A12FA001-AC4F-418D-AE19-62706E023703}">
                      <ahyp:hlinkClr xmlns:ahyp="http://schemas.microsoft.com/office/drawing/2018/hyperlinkcolor" val="tx"/>
                    </a:ext>
                  </a:extLst>
                </a:hlinkClick>
              </a:rPr>
              <a:t>dev.java: Exceptions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Key takeaways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Java code → javac → bytecode → JVM → output</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The class name must match the file name</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A variable has a type, a name and a value</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int ÷ int drops the decimals</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After nextInt(), call nextLine() before reading text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5B18E-043A-284C-2D22-EF36EED1DF2C}"/>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62B1B022-A5EE-5706-F770-53C12A35AB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81600" y="2114550"/>
            <a:ext cx="1828800" cy="2628900"/>
          </a:xfrm>
          <a:prstGeom prst="rect">
            <a:avLst/>
          </a:prstGeom>
        </p:spPr>
      </p:pic>
      <p:sp>
        <p:nvSpPr>
          <p:cNvPr id="4" name="TextBox 3"/>
          <p:cNvSpPr txBox="1"/>
          <p:nvPr/>
        </p:nvSpPr>
        <p:spPr>
          <a:xfrm>
            <a:off x="457200" y="5074920"/>
            <a:ext cx="11274552" cy="640080"/>
          </a:xfrm>
          <a:prstGeom prst="rect">
            <a:avLst/>
          </a:prstGeom>
          <a:noFill/>
        </p:spPr>
        <p:txBody>
          <a:bodyPr wrap="square" lIns="0" rIns="0" tIns="0" bIns="0" anchor="t">
            <a:spAutoFit/>
          </a:bodyPr>
          <a:lstStyle/>
          <a:p>
            <a:pPr algn="ctr">
              <a:spcAft>
                <a:spcPts val="600"/>
              </a:spcAft>
            </a:pPr>
            <a:r>
              <a:rPr sz="2800" b="1" i="0">
                <a:solidFill>
                  <a:srgbClr val="FFFFFF"/>
                </a:solidFill>
                <a:latin typeface="Poppins"/>
              </a:rPr>
              <a:t>Questions?</a:t>
            </a:r>
          </a:p>
        </p:txBody>
      </p:sp>
    </p:spTree>
    <p:extLst>
      <p:ext uri="{BB962C8B-B14F-4D97-AF65-F5344CB8AC3E}">
        <p14:creationId xmlns:p14="http://schemas.microsoft.com/office/powerpoint/2010/main" val="2688524318"/>
      </p:ext>
    </p:extLst>
  </p:cSld>
  <p:clrMapOvr>
    <a:masterClrMapping/>
  </p:clrMapOvr>
</p:sld>
</file>

<file path=ppt/theme/theme1.xml><?xml version="1.0" encoding="utf-8"?>
<a:theme xmlns:a="http://schemas.openxmlformats.org/drawingml/2006/main" name="Office Theme">
  <a:themeElements>
    <a:clrScheme name="FlairsTech">
      <a:dk1>
        <a:sysClr val="windowText" lastClr="000000"/>
      </a:dk1>
      <a:lt1>
        <a:sysClr val="window" lastClr="FFFFFF"/>
      </a:lt1>
      <a:dk2>
        <a:srgbClr val="0E2841"/>
      </a:dk2>
      <a:lt2>
        <a:srgbClr val="E8E8E8"/>
      </a:lt2>
      <a:accent1>
        <a:srgbClr val="0366FF"/>
      </a:accent1>
      <a:accent2>
        <a:srgbClr val="8C4FF4"/>
      </a:accent2>
      <a:accent3>
        <a:srgbClr val="6FDFE2"/>
      </a:accent3>
      <a:accent4>
        <a:srgbClr val="8D98FF"/>
      </a:accent4>
      <a:accent5>
        <a:srgbClr val="6FDFE2"/>
      </a:accent5>
      <a:accent6>
        <a:srgbClr val="8D98FF"/>
      </a:accent6>
      <a:hlink>
        <a:srgbClr val="0366FF"/>
      </a:hlink>
      <a:folHlink>
        <a:srgbClr val="0366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Custom 3">
      <a:dk1>
        <a:sysClr val="windowText" lastClr="000000"/>
      </a:dk1>
      <a:lt1>
        <a:sysClr val="window" lastClr="FFFFFF"/>
      </a:lt1>
      <a:dk2>
        <a:srgbClr val="0E2841"/>
      </a:dk2>
      <a:lt2>
        <a:srgbClr val="E8E8E8"/>
      </a:lt2>
      <a:accent1>
        <a:srgbClr val="0366FF"/>
      </a:accent1>
      <a:accent2>
        <a:srgbClr val="8C4FF4"/>
      </a:accent2>
      <a:accent3>
        <a:srgbClr val="8C4FF4"/>
      </a:accent3>
      <a:accent4>
        <a:srgbClr val="8D98FF"/>
      </a:accent4>
      <a:accent5>
        <a:srgbClr val="6FDFE2"/>
      </a:accent5>
      <a:accent6>
        <a:srgbClr val="8D98FF"/>
      </a:accent6>
      <a:hlink>
        <a:srgbClr val="0366FF"/>
      </a:hlink>
      <a:folHlink>
        <a:srgbClr val="0366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85C5D9B-C26F-430B-9CB2-1FE2FD33000E}">
  <we:reference id="wa200010001" version="1.0.0.1" store="en-US" storeType="OMEX"/>
  <we:alternateReferences>
    <we:reference id="WA200010001" version="1.0.0.1" store="WA200010001" storeType="OMEX"/>
  </we:alternateReferences>
  <we:properties>
    <we:property name="claude.fileId" value="&quot;143a1cf4-f2b3-4949-b3e3-5cd303ed249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c554bfa-441c-4d2e-8d7f-5905a154967e">
      <Terms xmlns="http://schemas.microsoft.com/office/infopath/2007/PartnerControls"/>
    </lcf76f155ced4ddcb4097134ff3c332f>
    <TaxCatchAll xmlns="267263e3-1fcf-48fa-b14d-81517c84331f" xsi:nil="true"/>
    <TEST xmlns="0c554bfa-441c-4d2e-8d7f-5905a15496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8597CAA107D94DBD46465D370C6836" ma:contentTypeVersion="15" ma:contentTypeDescription="Create a new document." ma:contentTypeScope="" ma:versionID="8a2f6d7c6cdf44e3d612298ede818f3f">
  <xsd:schema xmlns:xsd="http://www.w3.org/2001/XMLSchema" xmlns:xs="http://www.w3.org/2001/XMLSchema" xmlns:p="http://schemas.microsoft.com/office/2006/metadata/properties" xmlns:ns2="0c554bfa-441c-4d2e-8d7f-5905a154967e" xmlns:ns3="267263e3-1fcf-48fa-b14d-81517c84331f" targetNamespace="http://schemas.microsoft.com/office/2006/metadata/properties" ma:root="true" ma:fieldsID="50cf253f2fde9752ab1e7d332fc8c9db" ns2:_="" ns3:_="">
    <xsd:import namespace="0c554bfa-441c-4d2e-8d7f-5905a154967e"/>
    <xsd:import namespace="267263e3-1fcf-48fa-b14d-81517c84331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element ref="ns2:TES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554bfa-441c-4d2e-8d7f-5905a15496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221b6bc-48c5-41a2-80f4-3c758f11516f"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TEST" ma:index="22" nillable="true" ma:displayName="TEST" ma:format="Thumbnail" ma:internalName="TES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67263e3-1fcf-48fa-b14d-81517c84331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c5d7adb-28fd-43b1-89e6-63139f817e49}" ma:internalName="TaxCatchAll" ma:showField="CatchAllData" ma:web="267263e3-1fcf-48fa-b14d-81517c8433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4A2C8A-29A8-40EB-B812-08F2A2A15023}">
  <ds:schemaRefs>
    <ds:schemaRef ds:uri="http://schemas.microsoft.com/office/2006/documentManagement/types"/>
    <ds:schemaRef ds:uri="http://schemas.openxmlformats.org/package/2006/metadata/core-properties"/>
    <ds:schemaRef ds:uri="http://www.w3.org/XML/1998/namespace"/>
    <ds:schemaRef ds:uri="http://purl.org/dc/terms/"/>
    <ds:schemaRef ds:uri="267263e3-1fcf-48fa-b14d-81517c84331f"/>
    <ds:schemaRef ds:uri="http://purl.org/dc/elements/1.1/"/>
    <ds:schemaRef ds:uri="http://schemas.microsoft.com/office/2006/metadata/properties"/>
    <ds:schemaRef ds:uri="http://schemas.microsoft.com/office/infopath/2007/PartnerControls"/>
    <ds:schemaRef ds:uri="0c554bfa-441c-4d2e-8d7f-5905a154967e"/>
    <ds:schemaRef ds:uri="http://purl.org/dc/dcmitype/"/>
  </ds:schemaRefs>
</ds:datastoreItem>
</file>

<file path=customXml/itemProps2.xml><?xml version="1.0" encoding="utf-8"?>
<ds:datastoreItem xmlns:ds="http://schemas.openxmlformats.org/officeDocument/2006/customXml" ds:itemID="{52F0A244-F1B4-48C8-B90B-FE82002C6D3F}">
  <ds:schemaRefs>
    <ds:schemaRef ds:uri="http://schemas.microsoft.com/sharepoint/v3/contenttype/forms"/>
  </ds:schemaRefs>
</ds:datastoreItem>
</file>

<file path=customXml/itemProps3.xml><?xml version="1.0" encoding="utf-8"?>
<ds:datastoreItem xmlns:ds="http://schemas.openxmlformats.org/officeDocument/2006/customXml" ds:itemID="{9AD8C1A3-981A-4C7E-A414-9868EA333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554bfa-441c-4d2e-8d7f-5905a154967e"/>
    <ds:schemaRef ds:uri="267263e3-1fcf-48fa-b14d-81517c8433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1211</Words>
  <Application>Microsoft Office PowerPoint</Application>
  <PresentationFormat>Widescreen</PresentationFormat>
  <Paragraphs>160</Paragraphs>
  <Slides>55</Slides>
  <Notes>0</Notes>
  <HiddenSlides>0</HiddenSlides>
  <MMClips>0</MMClips>
  <ScaleCrop>false</ScaleCrop>
  <HeadingPairs>
    <vt:vector size="4" baseType="variant">
      <vt:variant>
        <vt:lpstr>Theme</vt:lpstr>
      </vt:variant>
      <vt:variant>
        <vt:i4>2</vt:i4>
      </vt:variant>
      <vt:variant>
        <vt:lpstr>Slide Titles</vt:lpstr>
      </vt:variant>
      <vt:variant>
        <vt:i4>55</vt:i4>
      </vt:variant>
    </vt:vector>
  </HeadingPairs>
  <TitlesOfParts>
    <vt:vector size="57" baseType="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 Ashraf Abubakr</dc:creator>
  <cp:lastModifiedBy>Islam Kamel</cp:lastModifiedBy>
  <cp:revision>2</cp:revision>
  <dcterms:created xsi:type="dcterms:W3CDTF">2025-10-05T10:08:59Z</dcterms:created>
  <dcterms:modified xsi:type="dcterms:W3CDTF">2026-10-05T10:23:19Z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0x0101002F8597CAA107D94DBD46465D370C6836</vt:lpwstr>
  </property>
  <property fmtid="{D5CDD505-2E9C-101B-9397-08002B2CF9AE}" pid="3" name="MediaServiceImageTags">
    <vt:lpwstr/>
  </property>
</Properties>
</file>