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8" r:id="rId5"/>
  </p:sldMasterIdLst>
  <p:sldIdLst>
    <p:sldId id="315" r:id="rId12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1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9887D-4FC9-410D-9A07-46A0CF493F28}" v="1" dt="2026-05-04T12:30:37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7" Type="http://schemas.openxmlformats.org/officeDocument/2006/relationships/slide" Target="slides/slide34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8D98FF"/>
              </a:solidFill>
            </c:spPr>
          </c:dPt>
          <c:dPt>
            <c:idx val="1"/>
            <c:spPr>
              <a:solidFill>
                <a:srgbClr val="8D98FF"/>
              </a:solidFill>
            </c:spPr>
          </c:dPt>
          <c:dPt>
            <c:idx val="2"/>
            <c:spPr>
              <a:solidFill>
                <a:srgbClr val="8D98FF"/>
              </a:solidFill>
            </c:spPr>
          </c:dPt>
          <c:dPt>
            <c:idx val="3"/>
            <c:spPr>
              <a:solidFill>
                <a:srgbClr val="8D98FF"/>
              </a:solidFill>
            </c:spPr>
          </c:dPt>
          <c:dPt>
            <c:idx val="4"/>
            <c:spPr>
              <a:solidFill>
                <a:srgbClr val="8C4FF4"/>
              </a:solidFill>
            </c:spPr>
          </c:dPt>
          <c:dPt>
            <c:idx val="5"/>
            <c:spPr>
              <a:solidFill>
                <a:srgbClr val="0366FF"/>
              </a:solidFill>
            </c:spPr>
          </c:dPt>
          <c:cat>
            <c:strRef>
              <c:f>Sheet1!$A$2:$A$7</c:f>
              <c:strCache>
                <c:ptCount val="6"/>
                <c:pt idx="0">
                  <c:v>Problem-solving target</c:v>
                </c:pt>
                <c:pt idx="1">
                  <c:v>Mock interviews</c:v>
                </c:pt>
                <c:pt idx="2">
                  <c:v>Quizzes and checkpoint</c:v>
                </c:pt>
                <c:pt idx="3">
                  <c:v>Internship process</c:v>
                </c:pt>
                <c:pt idx="4">
                  <c:v>Individual project</c:v>
                </c:pt>
                <c:pt idx="5">
                  <c:v>Team capstone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20</c:v>
                </c:pt>
                <c:pt idx="5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0366FF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B2433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Kickoff session (about 45-60 minutes) before Session 1, or as the first hour of Week 1. Goal: both interns leave knowing what they will build, how they will work, and how they will be assessed.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parts. Spend the most time on 'How the 8 weeks run' and 'Projects': those set daily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Full-time means 40 hours a week: 8 with the instructor, 32 of supervised internship work. Problem targets differ by track: about 70 for Intern A, about 110 for Intern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modern stack, used the same way from Week 4 to Week 8. Spring Boot 4.1 because 4.0's free support ends 31 Dec 2026; we also cover how Boot 2.7 and 3.x differ, since most companies still run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Thirteen outcomes from the syllabus, grouped into four areas. Intern B goes further in concurrency and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microservices are a whiteboard topic, not something we build together. That keeps Week 8 focused on quality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card: topics, then the week's deliverable. Weeks 1-4 Java and data foundations; weeks 5-8 Spring backends and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sessions Monday and Wednesday, 9:00-13:00. Sunday is sprint planning plus study. Thursday afternoon is demo, retro and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hours a week split: 8 live, 9 study, 16 build, 5 problems, 2 team rituals. Stand-up can be async when the instructor is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openly on day one: each intern is graded against their own track, never compared with the other. Intern B's head start becomes depth, not more of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protect Intern A's learning and Intern B's progress. Explain-back is the one people forget: enforce it at every Thursday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GitHub organization and board live. Main is protected from Week 3: no direct pushes.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project grows over four weeks, so each new topic changes code the intern already understands.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pair chooses on Thursday of Week 5. Requirements are identical across options; pick the domain you find most motivating.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is checked at the final demo. Each intern must personally build one secured endpoint with role checks and one Testcontainers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Ownership by vertical slice means Intern A builds real features end to end, not only CRUD. ClinicBook is the example; adapt to the chosen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70% is projects and process, because that is what employers see. Quizzes stay light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individual adjustment (±15%) uses each intern's own pull requests and a 5-minute oral defense of their own code. AI tools are allowed; explaining every line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warning: below 60% at the Week 4 checkpoint triggers a 1:1 and a catch-up plan for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 in stages so nothing is set up before it is needed. Hardware: 16 GB RAM; with 8 GB, run containers on a small remote Linux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Arabic videos for understanding concepts, official docs for exact Spring Boot 4 code. Most free Arabic Spring videos use Boot 2/3: translate javax → jakarta and use SecurityFilterChain instead of WebSecurityConfigurerAdapter. All links are clickable in slideshow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Arabic and English source for each week. Session decks list the exact lessons. Check before each cohort that playlists are still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problem only counts if the intern can explain it aloud without notes. Thursday: each intern walks through one solution as in an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Wuzzuf postings for junior Spring roles in Egypt. Many 'junior' ads ask for 1-2 years and a CS degree; portfolio evidence, referrals and internships are how non-CS candidates get past that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 A also gets 30 minutes of coaching on the career-change story in Week 6: deliberate choice, full-time immersion, real deployed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course ends; the job search starts. Encourage the pair to keep mock-interviewing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expectations. Ask both interns to agree to these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Session 1 (Monday), Your First Java Programs. Confirm setup clinic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0.jpeg"/><Relationship Id="rId4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3277D6-61D2-6AFC-65EC-88AA842228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75413" y="-65988"/>
            <a:ext cx="12349112" cy="69697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C7D7DC-0F2E-2B62-710B-701F131C8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380" y="0"/>
            <a:ext cx="5553585" cy="5611908"/>
          </a:xfrm>
          <a:prstGeom prst="rect">
            <a:avLst/>
          </a:prstGeom>
        </p:spPr>
      </p:pic>
      <p:sp>
        <p:nvSpPr>
          <p:cNvPr id="10" name="Picture Placeholder 70">
            <a:extLst>
              <a:ext uri="{FF2B5EF4-FFF2-40B4-BE49-F238E27FC236}">
                <a16:creationId xmlns:a16="http://schemas.microsoft.com/office/drawing/2014/main" id="{33C6576E-AA77-204E-BAA1-F6ACD60226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006" y="144369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64930-A986-5A1B-B9ED-C10FCF2B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94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3" name="Picture Placeholder 59">
            <a:extLst>
              <a:ext uri="{FF2B5EF4-FFF2-40B4-BE49-F238E27FC236}">
                <a16:creationId xmlns:a16="http://schemas.microsoft.com/office/drawing/2014/main" id="{C17C03D7-BFB3-0407-ABDF-E8A9FD626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5387" y="0"/>
            <a:ext cx="5264150" cy="5872423"/>
          </a:xfrm>
          <a:custGeom>
            <a:avLst/>
            <a:gdLst>
              <a:gd name="connsiteX0" fmla="*/ 0 w 5264150"/>
              <a:gd name="connsiteY0" fmla="*/ 2948796 h 5872423"/>
              <a:gd name="connsiteX1" fmla="*/ 2645418 w 5264150"/>
              <a:gd name="connsiteY1" fmla="*/ 2948796 h 5872423"/>
              <a:gd name="connsiteX2" fmla="*/ 5261511 w 5264150"/>
              <a:gd name="connsiteY2" fmla="*/ 2948796 h 5872423"/>
              <a:gd name="connsiteX3" fmla="*/ 5264150 w 5264150"/>
              <a:gd name="connsiteY3" fmla="*/ 2948796 h 5872423"/>
              <a:gd name="connsiteX4" fmla="*/ 5264150 w 5264150"/>
              <a:gd name="connsiteY4" fmla="*/ 5872423 h 5872423"/>
              <a:gd name="connsiteX5" fmla="*/ 4980322 w 5264150"/>
              <a:gd name="connsiteY5" fmla="*/ 5872423 h 5872423"/>
              <a:gd name="connsiteX6" fmla="*/ 2657464 w 5264150"/>
              <a:gd name="connsiteY6" fmla="*/ 3775313 h 5872423"/>
              <a:gd name="connsiteX7" fmla="*/ 2645418 w 5264150"/>
              <a:gd name="connsiteY7" fmla="*/ 3538785 h 5872423"/>
              <a:gd name="connsiteX8" fmla="*/ 2645418 w 5264150"/>
              <a:gd name="connsiteY8" fmla="*/ 5872423 h 5872423"/>
              <a:gd name="connsiteX9" fmla="*/ 2334516 w 5264150"/>
              <a:gd name="connsiteY9" fmla="*/ 5872423 h 5872423"/>
              <a:gd name="connsiteX10" fmla="*/ 11726 w 5264150"/>
              <a:gd name="connsiteY10" fmla="*/ 3775370 h 5872423"/>
              <a:gd name="connsiteX11" fmla="*/ 0 w 5264150"/>
              <a:gd name="connsiteY11" fmla="*/ 3545136 h 5872423"/>
              <a:gd name="connsiteX12" fmla="*/ 0 w 5264150"/>
              <a:gd name="connsiteY12" fmla="*/ 0 h 5872423"/>
              <a:gd name="connsiteX13" fmla="*/ 2645418 w 5264150"/>
              <a:gd name="connsiteY13" fmla="*/ 0 h 5872423"/>
              <a:gd name="connsiteX14" fmla="*/ 2653008 w 5264150"/>
              <a:gd name="connsiteY14" fmla="*/ 0 h 5872423"/>
              <a:gd name="connsiteX15" fmla="*/ 2675132 w 5264150"/>
              <a:gd name="connsiteY15" fmla="*/ 0 h 5872423"/>
              <a:gd name="connsiteX16" fmla="*/ 2710820 w 5264150"/>
              <a:gd name="connsiteY16" fmla="*/ 0 h 5872423"/>
              <a:gd name="connsiteX17" fmla="*/ 2759105 w 5264150"/>
              <a:gd name="connsiteY17" fmla="*/ 0 h 5872423"/>
              <a:gd name="connsiteX18" fmla="*/ 2819017 w 5264150"/>
              <a:gd name="connsiteY18" fmla="*/ 0 h 5872423"/>
              <a:gd name="connsiteX19" fmla="*/ 2889587 w 5264150"/>
              <a:gd name="connsiteY19" fmla="*/ 0 h 5872423"/>
              <a:gd name="connsiteX20" fmla="*/ 2969846 w 5264150"/>
              <a:gd name="connsiteY20" fmla="*/ 0 h 5872423"/>
              <a:gd name="connsiteX21" fmla="*/ 3058825 w 5264150"/>
              <a:gd name="connsiteY21" fmla="*/ 0 h 5872423"/>
              <a:gd name="connsiteX22" fmla="*/ 3155556 w 5264150"/>
              <a:gd name="connsiteY22" fmla="*/ 0 h 5872423"/>
              <a:gd name="connsiteX23" fmla="*/ 3259070 w 5264150"/>
              <a:gd name="connsiteY23" fmla="*/ 0 h 5872423"/>
              <a:gd name="connsiteX24" fmla="*/ 3482568 w 5264150"/>
              <a:gd name="connsiteY24" fmla="*/ 0 h 5872423"/>
              <a:gd name="connsiteX25" fmla="*/ 3721569 w 5264150"/>
              <a:gd name="connsiteY25" fmla="*/ 0 h 5872423"/>
              <a:gd name="connsiteX26" fmla="*/ 3968322 w 5264150"/>
              <a:gd name="connsiteY26" fmla="*/ 0 h 5872423"/>
              <a:gd name="connsiteX27" fmla="*/ 4215074 w 5264150"/>
              <a:gd name="connsiteY27" fmla="*/ 0 h 5872423"/>
              <a:gd name="connsiteX28" fmla="*/ 4454075 w 5264150"/>
              <a:gd name="connsiteY28" fmla="*/ 0 h 5872423"/>
              <a:gd name="connsiteX29" fmla="*/ 4677574 w 5264150"/>
              <a:gd name="connsiteY29" fmla="*/ 0 h 5872423"/>
              <a:gd name="connsiteX30" fmla="*/ 4781087 w 5264150"/>
              <a:gd name="connsiteY30" fmla="*/ 0 h 5872423"/>
              <a:gd name="connsiteX31" fmla="*/ 4877818 w 5264150"/>
              <a:gd name="connsiteY31" fmla="*/ 0 h 5872423"/>
              <a:gd name="connsiteX32" fmla="*/ 4966797 w 5264150"/>
              <a:gd name="connsiteY32" fmla="*/ 0 h 5872423"/>
              <a:gd name="connsiteX33" fmla="*/ 5047056 w 5264150"/>
              <a:gd name="connsiteY33" fmla="*/ 0 h 5872423"/>
              <a:gd name="connsiteX34" fmla="*/ 5117626 w 5264150"/>
              <a:gd name="connsiteY34" fmla="*/ 0 h 5872423"/>
              <a:gd name="connsiteX35" fmla="*/ 5177538 w 5264150"/>
              <a:gd name="connsiteY35" fmla="*/ 0 h 5872423"/>
              <a:gd name="connsiteX36" fmla="*/ 5225823 w 5264150"/>
              <a:gd name="connsiteY36" fmla="*/ 0 h 5872423"/>
              <a:gd name="connsiteX37" fmla="*/ 5261511 w 5264150"/>
              <a:gd name="connsiteY37" fmla="*/ 0 h 5872423"/>
              <a:gd name="connsiteX38" fmla="*/ 5264150 w 5264150"/>
              <a:gd name="connsiteY38" fmla="*/ 0 h 5872423"/>
              <a:gd name="connsiteX39" fmla="*/ 5264150 w 5264150"/>
              <a:gd name="connsiteY39" fmla="*/ 2923627 h 5872423"/>
              <a:gd name="connsiteX40" fmla="*/ 4980322 w 5264150"/>
              <a:gd name="connsiteY40" fmla="*/ 2923627 h 5872423"/>
              <a:gd name="connsiteX41" fmla="*/ 2657464 w 5264150"/>
              <a:gd name="connsiteY41" fmla="*/ 826517 h 5872423"/>
              <a:gd name="connsiteX42" fmla="*/ 2645418 w 5264150"/>
              <a:gd name="connsiteY42" fmla="*/ 589989 h 5872423"/>
              <a:gd name="connsiteX43" fmla="*/ 2645418 w 5264150"/>
              <a:gd name="connsiteY43" fmla="*/ 2923627 h 5872423"/>
              <a:gd name="connsiteX44" fmla="*/ 2334516 w 5264150"/>
              <a:gd name="connsiteY44" fmla="*/ 2923627 h 5872423"/>
              <a:gd name="connsiteX45" fmla="*/ 11726 w 5264150"/>
              <a:gd name="connsiteY45" fmla="*/ 826573 h 5872423"/>
              <a:gd name="connsiteX46" fmla="*/ 0 w 5264150"/>
              <a:gd name="connsiteY46" fmla="*/ 596340 h 587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264150" h="5872423">
                <a:moveTo>
                  <a:pt x="0" y="2948796"/>
                </a:moveTo>
                <a:lnTo>
                  <a:pt x="2645418" y="2948796"/>
                </a:lnTo>
                <a:cubicBezTo>
                  <a:pt x="2645418" y="2948796"/>
                  <a:pt x="4970834" y="2948796"/>
                  <a:pt x="5261511" y="2948796"/>
                </a:cubicBezTo>
                <a:lnTo>
                  <a:pt x="5264150" y="2948796"/>
                </a:lnTo>
                <a:lnTo>
                  <a:pt x="5264150" y="5872423"/>
                </a:lnTo>
                <a:lnTo>
                  <a:pt x="4980322" y="5872423"/>
                </a:lnTo>
                <a:cubicBezTo>
                  <a:pt x="3776390" y="5872423"/>
                  <a:pt x="2777609" y="4948947"/>
                  <a:pt x="2657464" y="3775313"/>
                </a:cubicBezTo>
                <a:lnTo>
                  <a:pt x="2645418" y="3538785"/>
                </a:lnTo>
                <a:lnTo>
                  <a:pt x="2645418" y="5872423"/>
                </a:lnTo>
                <a:lnTo>
                  <a:pt x="2334516" y="5872423"/>
                </a:lnTo>
                <a:cubicBezTo>
                  <a:pt x="1130584" y="5872487"/>
                  <a:pt x="131863" y="4948955"/>
                  <a:pt x="11726" y="3775370"/>
                </a:cubicBezTo>
                <a:lnTo>
                  <a:pt x="0" y="3545136"/>
                </a:lnTo>
                <a:close/>
                <a:moveTo>
                  <a:pt x="0" y="0"/>
                </a:moveTo>
                <a:lnTo>
                  <a:pt x="2645418" y="0"/>
                </a:lnTo>
                <a:lnTo>
                  <a:pt x="2653008" y="0"/>
                </a:lnTo>
                <a:lnTo>
                  <a:pt x="2675132" y="0"/>
                </a:lnTo>
                <a:lnTo>
                  <a:pt x="2710820" y="0"/>
                </a:lnTo>
                <a:lnTo>
                  <a:pt x="2759105" y="0"/>
                </a:lnTo>
                <a:lnTo>
                  <a:pt x="2819017" y="0"/>
                </a:lnTo>
                <a:lnTo>
                  <a:pt x="2889587" y="0"/>
                </a:lnTo>
                <a:lnTo>
                  <a:pt x="2969846" y="0"/>
                </a:lnTo>
                <a:lnTo>
                  <a:pt x="3058825" y="0"/>
                </a:lnTo>
                <a:lnTo>
                  <a:pt x="3155556" y="0"/>
                </a:lnTo>
                <a:lnTo>
                  <a:pt x="3259070" y="0"/>
                </a:lnTo>
                <a:lnTo>
                  <a:pt x="3482568" y="0"/>
                </a:lnTo>
                <a:lnTo>
                  <a:pt x="3721569" y="0"/>
                </a:lnTo>
                <a:lnTo>
                  <a:pt x="3968322" y="0"/>
                </a:lnTo>
                <a:lnTo>
                  <a:pt x="4215074" y="0"/>
                </a:lnTo>
                <a:lnTo>
                  <a:pt x="4454075" y="0"/>
                </a:lnTo>
                <a:lnTo>
                  <a:pt x="4677574" y="0"/>
                </a:lnTo>
                <a:lnTo>
                  <a:pt x="4781087" y="0"/>
                </a:lnTo>
                <a:lnTo>
                  <a:pt x="4877818" y="0"/>
                </a:lnTo>
                <a:lnTo>
                  <a:pt x="4966797" y="0"/>
                </a:lnTo>
                <a:lnTo>
                  <a:pt x="5047056" y="0"/>
                </a:lnTo>
                <a:lnTo>
                  <a:pt x="5117626" y="0"/>
                </a:lnTo>
                <a:lnTo>
                  <a:pt x="5177538" y="0"/>
                </a:lnTo>
                <a:lnTo>
                  <a:pt x="5225823" y="0"/>
                </a:lnTo>
                <a:lnTo>
                  <a:pt x="5261511" y="0"/>
                </a:lnTo>
                <a:lnTo>
                  <a:pt x="5264150" y="0"/>
                </a:lnTo>
                <a:lnTo>
                  <a:pt x="5264150" y="2923627"/>
                </a:lnTo>
                <a:lnTo>
                  <a:pt x="4980322" y="2923627"/>
                </a:lnTo>
                <a:cubicBezTo>
                  <a:pt x="3776390" y="2923627"/>
                  <a:pt x="2777609" y="2000151"/>
                  <a:pt x="2657464" y="826517"/>
                </a:cubicBezTo>
                <a:lnTo>
                  <a:pt x="2645418" y="589989"/>
                </a:lnTo>
                <a:lnTo>
                  <a:pt x="2645418" y="2923627"/>
                </a:lnTo>
                <a:lnTo>
                  <a:pt x="2334516" y="2923627"/>
                </a:lnTo>
                <a:cubicBezTo>
                  <a:pt x="1130584" y="2923627"/>
                  <a:pt x="131863" y="2000151"/>
                  <a:pt x="11726" y="826573"/>
                </a:cubicBezTo>
                <a:lnTo>
                  <a:pt x="0" y="5963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3102D45-6656-5362-E45D-93BF18999A6C}"/>
              </a:ext>
            </a:extLst>
          </p:cNvPr>
          <p:cNvSpPr/>
          <p:nvPr userDrawn="1"/>
        </p:nvSpPr>
        <p:spPr>
          <a:xfrm>
            <a:off x="6285353" y="2948796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95"/>
                  <a:pt x="0" y="1872916"/>
                  <a:pt x="0" y="588722"/>
                </a:cubicBezTo>
                <a:close/>
              </a:path>
            </a:pathLst>
          </a:custGeom>
          <a:solidFill>
            <a:srgbClr val="8C4FF4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E16BA-4DD0-FB4A-DB15-246E75CAC060}"/>
              </a:ext>
            </a:extLst>
          </p:cNvPr>
          <p:cNvSpPr/>
          <p:nvPr userDrawn="1"/>
        </p:nvSpPr>
        <p:spPr>
          <a:xfrm>
            <a:off x="8931091" y="2948796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75A453-E756-D1D8-0B17-E9A4133E8BBD}"/>
              </a:ext>
            </a:extLst>
          </p:cNvPr>
          <p:cNvSpPr/>
          <p:nvPr userDrawn="1"/>
        </p:nvSpPr>
        <p:spPr>
          <a:xfrm>
            <a:off x="6285353" y="0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27"/>
                  <a:pt x="0" y="1872916"/>
                  <a:pt x="0" y="588722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ED83FEC-2FAC-1044-ADB0-FB8101097D84}"/>
              </a:ext>
            </a:extLst>
          </p:cNvPr>
          <p:cNvSpPr/>
          <p:nvPr userDrawn="1"/>
        </p:nvSpPr>
        <p:spPr>
          <a:xfrm>
            <a:off x="8931091" y="0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0366FF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BF3523-E514-2685-CF6F-5F33EB5D2737}"/>
              </a:ext>
            </a:extLst>
          </p:cNvPr>
          <p:cNvSpPr/>
          <p:nvPr userDrawn="1"/>
        </p:nvSpPr>
        <p:spPr>
          <a:xfrm>
            <a:off x="6695388" y="635372"/>
            <a:ext cx="4713402" cy="38084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2C24-7E8B-B9ED-272A-43B71A20D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707464"/>
            <a:ext cx="4707024" cy="3790437"/>
          </a:xfrm>
          <a:custGeom>
            <a:avLst/>
            <a:gdLst>
              <a:gd name="connsiteX0" fmla="*/ 490410 w 4707024"/>
              <a:gd name="connsiteY0" fmla="*/ 0 h 3790437"/>
              <a:gd name="connsiteX1" fmla="*/ 4222993 w 4707024"/>
              <a:gd name="connsiteY1" fmla="*/ 0 h 3790437"/>
              <a:gd name="connsiteX2" fmla="*/ 4325725 w 4707024"/>
              <a:gd name="connsiteY2" fmla="*/ 31890 h 3790437"/>
              <a:gd name="connsiteX3" fmla="*/ 4700506 w 4707024"/>
              <a:gd name="connsiteY3" fmla="*/ 488835 h 3790437"/>
              <a:gd name="connsiteX4" fmla="*/ 4707024 w 4707024"/>
              <a:gd name="connsiteY4" fmla="*/ 553491 h 3790437"/>
              <a:gd name="connsiteX5" fmla="*/ 4707024 w 4707024"/>
              <a:gd name="connsiteY5" fmla="*/ 3218955 h 3790437"/>
              <a:gd name="connsiteX6" fmla="*/ 4700506 w 4707024"/>
              <a:gd name="connsiteY6" fmla="*/ 3283610 h 3790437"/>
              <a:gd name="connsiteX7" fmla="*/ 4078651 w 4707024"/>
              <a:gd name="connsiteY7" fmla="*/ 3790437 h 3790437"/>
              <a:gd name="connsiteX8" fmla="*/ 634751 w 4707024"/>
              <a:gd name="connsiteY8" fmla="*/ 3790437 h 3790437"/>
              <a:gd name="connsiteX9" fmla="*/ 0 w 4707024"/>
              <a:gd name="connsiteY9" fmla="*/ 3155686 h 3790437"/>
              <a:gd name="connsiteX10" fmla="*/ 0 w 4707024"/>
              <a:gd name="connsiteY10" fmla="*/ 616759 h 3790437"/>
              <a:gd name="connsiteX11" fmla="*/ 387678 w 4707024"/>
              <a:gd name="connsiteY11" fmla="*/ 31890 h 37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07024" h="3790437">
                <a:moveTo>
                  <a:pt x="490410" y="0"/>
                </a:moveTo>
                <a:lnTo>
                  <a:pt x="4222993" y="0"/>
                </a:lnTo>
                <a:lnTo>
                  <a:pt x="4325725" y="31890"/>
                </a:lnTo>
                <a:cubicBezTo>
                  <a:pt x="4515576" y="112190"/>
                  <a:pt x="4658229" y="282231"/>
                  <a:pt x="4700506" y="488835"/>
                </a:cubicBezTo>
                <a:lnTo>
                  <a:pt x="4707024" y="553491"/>
                </a:lnTo>
                <a:lnTo>
                  <a:pt x="4707024" y="3218955"/>
                </a:lnTo>
                <a:lnTo>
                  <a:pt x="4700506" y="3283610"/>
                </a:lnTo>
                <a:cubicBezTo>
                  <a:pt x="4641318" y="3572856"/>
                  <a:pt x="4385394" y="3790437"/>
                  <a:pt x="4078651" y="3790437"/>
                </a:cubicBezTo>
                <a:lnTo>
                  <a:pt x="634751" y="3790437"/>
                </a:lnTo>
                <a:cubicBezTo>
                  <a:pt x="284188" y="3790437"/>
                  <a:pt x="0" y="3506249"/>
                  <a:pt x="0" y="3155686"/>
                </a:cubicBezTo>
                <a:lnTo>
                  <a:pt x="0" y="616759"/>
                </a:lnTo>
                <a:cubicBezTo>
                  <a:pt x="0" y="353837"/>
                  <a:pt x="159856" y="128251"/>
                  <a:pt x="387678" y="3189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A3BC47C-99B6-20BF-D68B-A66F46B7A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-113122"/>
            <a:ext cx="12334974" cy="7010583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EF7A263-0527-9E4C-94C9-B2AB772A41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6C945C-7127-3582-1911-80FBD40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8C6700-8060-24F9-DC2F-AE22C6C88B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3362" y="441491"/>
            <a:ext cx="3185230" cy="57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E3F2709-2A59-D5BA-77B4-FD75FE737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4841" y="-199717"/>
            <a:ext cx="12367967" cy="7085998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C654080-D3CC-4B13-1F27-F4787DC9CB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29939"/>
            <a:ext cx="5547845" cy="5704028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7D827F-A890-DEEA-4C50-C529607F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78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BC4D355-D07A-C443-FE67-FC51A3D22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5" y="-113122"/>
            <a:ext cx="12459025" cy="7010583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4448553-4F90-3088-4944-11C66514BE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819" y="565607"/>
            <a:ext cx="5037054" cy="5468359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B4C912-1FCD-8D8B-21E2-7747A951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22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E7EFE18-FED0-FDAE-5670-7615BB153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0"/>
            <a:ext cx="12330260" cy="69381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7121F9-03BE-C8DA-B22C-FD5C2DDC182D}"/>
              </a:ext>
            </a:extLst>
          </p:cNvPr>
          <p:cNvSpPr/>
          <p:nvPr userDrawn="1"/>
        </p:nvSpPr>
        <p:spPr>
          <a:xfrm>
            <a:off x="7899662" y="0"/>
            <a:ext cx="2988297" cy="6938128"/>
          </a:xfrm>
          <a:prstGeom prst="rect">
            <a:avLst/>
          </a:prstGeom>
          <a:solidFill>
            <a:srgbClr val="B9B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0CAEFC-B65C-032B-DFB8-E941811A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4578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8165F00-7FAA-6193-FE34-3C59CAE7AA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34054" y="1442301"/>
            <a:ext cx="4019746" cy="4626852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B12FD6-7B0A-BF80-BFF7-81C7E7234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9961" y="2807812"/>
            <a:ext cx="974006" cy="1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55ADADA-7206-710F-41F6-660194BFB8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-207390"/>
            <a:ext cx="12330260" cy="714551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A12D95-43DB-3799-A16F-9B17CF3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91F24F-8A5B-5730-704E-3D3A4BCE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D9DD47-7DB4-5925-2826-2DF8CA13CF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0998" y="441491"/>
            <a:ext cx="3185230" cy="5773230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4B7E1533-AD56-6B22-5E91-601A2195A9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2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85556-F773-FF45-9EB7-E8695758FD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21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6C1D21-1CFF-BA0F-4681-BC73E5D897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9213" y="3883843"/>
            <a:ext cx="1270707" cy="1150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0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333A-0501-C2FA-E3CC-1948BAD7D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1174"/>
            <a:ext cx="5795193" cy="1025691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A8D1-A08E-F7E3-95BB-2C1B48BF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65143"/>
            <a:ext cx="3985247" cy="3124508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3611CD5-AFB0-9985-D5F6-4C5101806738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E159D9A-2134-5565-9625-31A6D601E112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A3DFFBB-6EB4-A506-9AA4-5CBE701D75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0D6E4-64C0-37A2-D8D1-B083EEDB5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66F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28A232-4877-ECB8-77C6-BD8BF9F5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C52F2-7F5E-7AB9-35C8-0D7DA40F0CC6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C74F88-CBEE-F3E1-88DE-9AFE59A7D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87E131-D314-2CAA-47DC-F1E10B51FE28}"/>
              </a:ext>
            </a:extLst>
          </p:cNvPr>
          <p:cNvSpPr/>
          <p:nvPr userDrawn="1"/>
        </p:nvSpPr>
        <p:spPr>
          <a:xfrm flipH="1" flipV="1">
            <a:off x="8101534" y="2004293"/>
            <a:ext cx="2107444" cy="1907186"/>
          </a:xfrm>
          <a:custGeom>
            <a:avLst/>
            <a:gdLst>
              <a:gd name="connsiteX0" fmla="*/ 417843 w 2074935"/>
              <a:gd name="connsiteY0" fmla="*/ 0 h 1877766"/>
              <a:gd name="connsiteX1" fmla="*/ 0 w 2074935"/>
              <a:gd name="connsiteY1" fmla="*/ 0 h 1877766"/>
              <a:gd name="connsiteX2" fmla="*/ 0 w 2074935"/>
              <a:gd name="connsiteY2" fmla="*/ 1877767 h 1877766"/>
              <a:gd name="connsiteX3" fmla="*/ 2074935 w 2074935"/>
              <a:gd name="connsiteY3" fmla="*/ 1877767 h 1877766"/>
              <a:gd name="connsiteX4" fmla="*/ 2074935 w 2074935"/>
              <a:gd name="connsiteY4" fmla="*/ 1657093 h 1877766"/>
              <a:gd name="connsiteX5" fmla="*/ 417843 w 2074935"/>
              <a:gd name="connsiteY5" fmla="*/ 0 h 187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4935" h="1877766">
                <a:moveTo>
                  <a:pt x="417843" y="0"/>
                </a:moveTo>
                <a:lnTo>
                  <a:pt x="0" y="0"/>
                </a:lnTo>
                <a:cubicBezTo>
                  <a:pt x="0" y="0"/>
                  <a:pt x="0" y="1877767"/>
                  <a:pt x="0" y="1877767"/>
                </a:cubicBezTo>
                <a:lnTo>
                  <a:pt x="2074935" y="1877767"/>
                </a:lnTo>
                <a:cubicBezTo>
                  <a:pt x="2074935" y="1877767"/>
                  <a:pt x="2074935" y="1657093"/>
                  <a:pt x="2074935" y="1657093"/>
                </a:cubicBezTo>
                <a:cubicBezTo>
                  <a:pt x="2074935" y="745648"/>
                  <a:pt x="1329190" y="0"/>
                  <a:pt x="417843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34E1C845-808B-5601-2B7E-AE9AE3740430}"/>
              </a:ext>
            </a:extLst>
          </p:cNvPr>
          <p:cNvGrpSpPr/>
          <p:nvPr userDrawn="1"/>
        </p:nvGrpSpPr>
        <p:grpSpPr>
          <a:xfrm flipH="1" flipV="1">
            <a:off x="6631380" y="995985"/>
            <a:ext cx="4605245" cy="4167637"/>
            <a:chOff x="7648082" y="1376403"/>
            <a:chExt cx="4534204" cy="4103346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65C319-1459-9B67-4900-C2422BD8E0DA}"/>
                </a:ext>
              </a:extLst>
            </p:cNvPr>
            <p:cNvSpPr/>
            <p:nvPr/>
          </p:nvSpPr>
          <p:spPr>
            <a:xfrm>
              <a:off x="8530292" y="2443252"/>
              <a:ext cx="2399924" cy="2171868"/>
            </a:xfrm>
            <a:custGeom>
              <a:avLst/>
              <a:gdLst>
                <a:gd name="connsiteX0" fmla="*/ 483209 w 2399924"/>
                <a:gd name="connsiteY0" fmla="*/ 0 h 2171868"/>
                <a:gd name="connsiteX1" fmla="*/ 0 w 2399924"/>
                <a:gd name="connsiteY1" fmla="*/ 0 h 2171868"/>
                <a:gd name="connsiteX2" fmla="*/ 0 w 2399924"/>
                <a:gd name="connsiteY2" fmla="*/ 2171869 h 2171868"/>
                <a:gd name="connsiteX3" fmla="*/ 2399924 w 2399924"/>
                <a:gd name="connsiteY3" fmla="*/ 2171869 h 2171868"/>
                <a:gd name="connsiteX4" fmla="*/ 2399924 w 2399924"/>
                <a:gd name="connsiteY4" fmla="*/ 1916715 h 2171868"/>
                <a:gd name="connsiteX5" fmla="*/ 483307 w 2399924"/>
                <a:gd name="connsiteY5" fmla="*/ 97 h 217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9924" h="2171868">
                  <a:moveTo>
                    <a:pt x="483209" y="0"/>
                  </a:moveTo>
                  <a:lnTo>
                    <a:pt x="0" y="0"/>
                  </a:lnTo>
                  <a:cubicBezTo>
                    <a:pt x="0" y="0"/>
                    <a:pt x="0" y="2171869"/>
                    <a:pt x="0" y="2171869"/>
                  </a:cubicBezTo>
                  <a:lnTo>
                    <a:pt x="2399924" y="2171869"/>
                  </a:lnTo>
                  <a:cubicBezTo>
                    <a:pt x="2399924" y="2171869"/>
                    <a:pt x="2399924" y="1916715"/>
                    <a:pt x="2399924" y="1916715"/>
                  </a:cubicBezTo>
                  <a:cubicBezTo>
                    <a:pt x="2399924" y="862590"/>
                    <a:pt x="1537432" y="97"/>
                    <a:pt x="483307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159866-CB6A-C839-13AE-22E86CF7C24E}"/>
                </a:ext>
              </a:extLst>
            </p:cNvPr>
            <p:cNvSpPr/>
            <p:nvPr/>
          </p:nvSpPr>
          <p:spPr>
            <a:xfrm>
              <a:off x="8450064" y="2346222"/>
              <a:ext cx="2593887" cy="2347475"/>
            </a:xfrm>
            <a:custGeom>
              <a:avLst/>
              <a:gdLst>
                <a:gd name="connsiteX0" fmla="*/ 522352 w 2593887"/>
                <a:gd name="connsiteY0" fmla="*/ 0 h 2347475"/>
                <a:gd name="connsiteX1" fmla="*/ 0 w 2593887"/>
                <a:gd name="connsiteY1" fmla="*/ 0 h 2347475"/>
                <a:gd name="connsiteX2" fmla="*/ 0 w 2593887"/>
                <a:gd name="connsiteY2" fmla="*/ 2347475 h 2347475"/>
                <a:gd name="connsiteX3" fmla="*/ 2593888 w 2593887"/>
                <a:gd name="connsiteY3" fmla="*/ 2347475 h 2347475"/>
                <a:gd name="connsiteX4" fmla="*/ 2593888 w 2593887"/>
                <a:gd name="connsiteY4" fmla="*/ 2071633 h 2347475"/>
                <a:gd name="connsiteX5" fmla="*/ 522255 w 2593887"/>
                <a:gd name="connsiteY5" fmla="*/ 0 h 234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3887" h="2347475">
                  <a:moveTo>
                    <a:pt x="522352" y="0"/>
                  </a:moveTo>
                  <a:lnTo>
                    <a:pt x="0" y="0"/>
                  </a:lnTo>
                  <a:cubicBezTo>
                    <a:pt x="0" y="0"/>
                    <a:pt x="0" y="2347475"/>
                    <a:pt x="0" y="2347475"/>
                  </a:cubicBezTo>
                  <a:lnTo>
                    <a:pt x="2593888" y="2347475"/>
                  </a:lnTo>
                  <a:cubicBezTo>
                    <a:pt x="2593888" y="2347475"/>
                    <a:pt x="2593888" y="2071633"/>
                    <a:pt x="2593888" y="2071633"/>
                  </a:cubicBezTo>
                  <a:cubicBezTo>
                    <a:pt x="2593888" y="932230"/>
                    <a:pt x="1661658" y="0"/>
                    <a:pt x="52225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F30909-7351-CC52-AD47-DC0F1719BF2D}"/>
                </a:ext>
              </a:extLst>
            </p:cNvPr>
            <p:cNvSpPr/>
            <p:nvPr/>
          </p:nvSpPr>
          <p:spPr>
            <a:xfrm>
              <a:off x="8369837" y="2249289"/>
              <a:ext cx="2787948" cy="2522984"/>
            </a:xfrm>
            <a:custGeom>
              <a:avLst/>
              <a:gdLst>
                <a:gd name="connsiteX0" fmla="*/ 561397 w 2787948"/>
                <a:gd name="connsiteY0" fmla="*/ 0 h 2522984"/>
                <a:gd name="connsiteX1" fmla="*/ 0 w 2787948"/>
                <a:gd name="connsiteY1" fmla="*/ 0 h 2522984"/>
                <a:gd name="connsiteX2" fmla="*/ 0 w 2787948"/>
                <a:gd name="connsiteY2" fmla="*/ 2522985 h 2522984"/>
                <a:gd name="connsiteX3" fmla="*/ 2787949 w 2787948"/>
                <a:gd name="connsiteY3" fmla="*/ 2522985 h 2522984"/>
                <a:gd name="connsiteX4" fmla="*/ 2787949 w 2787948"/>
                <a:gd name="connsiteY4" fmla="*/ 2226552 h 2522984"/>
                <a:gd name="connsiteX5" fmla="*/ 561397 w 2787948"/>
                <a:gd name="connsiteY5" fmla="*/ 0 h 252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7948" h="2522984">
                  <a:moveTo>
                    <a:pt x="561397" y="0"/>
                  </a:moveTo>
                  <a:lnTo>
                    <a:pt x="0" y="0"/>
                  </a:lnTo>
                  <a:cubicBezTo>
                    <a:pt x="0" y="0"/>
                    <a:pt x="0" y="2522985"/>
                    <a:pt x="0" y="2522985"/>
                  </a:cubicBezTo>
                  <a:lnTo>
                    <a:pt x="2787949" y="2522985"/>
                  </a:lnTo>
                  <a:cubicBezTo>
                    <a:pt x="2787949" y="2522985"/>
                    <a:pt x="2787949" y="2226552"/>
                    <a:pt x="2787949" y="2226552"/>
                  </a:cubicBezTo>
                  <a:cubicBezTo>
                    <a:pt x="2787949" y="1001968"/>
                    <a:pt x="1785981" y="0"/>
                    <a:pt x="561397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0931AF-A759-931D-1D54-6BA4FE51332E}"/>
                </a:ext>
              </a:extLst>
            </p:cNvPr>
            <p:cNvSpPr/>
            <p:nvPr/>
          </p:nvSpPr>
          <p:spPr>
            <a:xfrm>
              <a:off x="8289707" y="2152161"/>
              <a:ext cx="2982009" cy="2698688"/>
            </a:xfrm>
            <a:custGeom>
              <a:avLst/>
              <a:gdLst>
                <a:gd name="connsiteX0" fmla="*/ 600442 w 2982009"/>
                <a:gd name="connsiteY0" fmla="*/ 97 h 2698688"/>
                <a:gd name="connsiteX1" fmla="*/ 0 w 2982009"/>
                <a:gd name="connsiteY1" fmla="*/ 97 h 2698688"/>
                <a:gd name="connsiteX2" fmla="*/ 0 w 2982009"/>
                <a:gd name="connsiteY2" fmla="*/ 2698689 h 2698688"/>
                <a:gd name="connsiteX3" fmla="*/ 2982009 w 2982009"/>
                <a:gd name="connsiteY3" fmla="*/ 2698689 h 2698688"/>
                <a:gd name="connsiteX4" fmla="*/ 2982009 w 2982009"/>
                <a:gd name="connsiteY4" fmla="*/ 2381567 h 2698688"/>
                <a:gd name="connsiteX5" fmla="*/ 600442 w 2982009"/>
                <a:gd name="connsiteY5" fmla="*/ 0 h 269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2009" h="2698688">
                  <a:moveTo>
                    <a:pt x="600442" y="97"/>
                  </a:moveTo>
                  <a:lnTo>
                    <a:pt x="0" y="97"/>
                  </a:lnTo>
                  <a:cubicBezTo>
                    <a:pt x="0" y="97"/>
                    <a:pt x="0" y="2698689"/>
                    <a:pt x="0" y="2698689"/>
                  </a:cubicBezTo>
                  <a:lnTo>
                    <a:pt x="2982009" y="2698689"/>
                  </a:lnTo>
                  <a:cubicBezTo>
                    <a:pt x="2982009" y="2698689"/>
                    <a:pt x="2982009" y="2381567"/>
                    <a:pt x="2982009" y="2381567"/>
                  </a:cubicBezTo>
                  <a:cubicBezTo>
                    <a:pt x="2982009" y="1071705"/>
                    <a:pt x="1910304" y="0"/>
                    <a:pt x="600442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16F574-8BC7-D7AC-1D88-DE833A637B09}"/>
                </a:ext>
              </a:extLst>
            </p:cNvPr>
            <p:cNvSpPr/>
            <p:nvPr/>
          </p:nvSpPr>
          <p:spPr>
            <a:xfrm>
              <a:off x="8209480" y="2055325"/>
              <a:ext cx="3175972" cy="2874197"/>
            </a:xfrm>
            <a:custGeom>
              <a:avLst/>
              <a:gdLst>
                <a:gd name="connsiteX0" fmla="*/ 639488 w 3175972"/>
                <a:gd name="connsiteY0" fmla="*/ 0 h 2874197"/>
                <a:gd name="connsiteX1" fmla="*/ 0 w 3175972"/>
                <a:gd name="connsiteY1" fmla="*/ 0 h 2874197"/>
                <a:gd name="connsiteX2" fmla="*/ 0 w 3175972"/>
                <a:gd name="connsiteY2" fmla="*/ 2874198 h 2874197"/>
                <a:gd name="connsiteX3" fmla="*/ 3175973 w 3175972"/>
                <a:gd name="connsiteY3" fmla="*/ 2874198 h 2874197"/>
                <a:gd name="connsiteX4" fmla="*/ 3175973 w 3175972"/>
                <a:gd name="connsiteY4" fmla="*/ 2536486 h 2874197"/>
                <a:gd name="connsiteX5" fmla="*/ 639488 w 3175972"/>
                <a:gd name="connsiteY5" fmla="*/ 0 h 287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75972" h="2874197">
                  <a:moveTo>
                    <a:pt x="639488" y="0"/>
                  </a:moveTo>
                  <a:lnTo>
                    <a:pt x="0" y="0"/>
                  </a:lnTo>
                  <a:cubicBezTo>
                    <a:pt x="0" y="0"/>
                    <a:pt x="0" y="2874198"/>
                    <a:pt x="0" y="2874198"/>
                  </a:cubicBezTo>
                  <a:lnTo>
                    <a:pt x="3175973" y="2874198"/>
                  </a:lnTo>
                  <a:cubicBezTo>
                    <a:pt x="3175973" y="2874198"/>
                    <a:pt x="3175973" y="2536486"/>
                    <a:pt x="3175973" y="2536486"/>
                  </a:cubicBezTo>
                  <a:cubicBezTo>
                    <a:pt x="3175973" y="1141443"/>
                    <a:pt x="2034530" y="0"/>
                    <a:pt x="63948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DA0745-5885-DD71-E99D-D5D1B0CF86E4}"/>
                </a:ext>
              </a:extLst>
            </p:cNvPr>
            <p:cNvSpPr/>
            <p:nvPr/>
          </p:nvSpPr>
          <p:spPr>
            <a:xfrm>
              <a:off x="8129252" y="1958294"/>
              <a:ext cx="3370033" cy="3049804"/>
            </a:xfrm>
            <a:custGeom>
              <a:avLst/>
              <a:gdLst>
                <a:gd name="connsiteX0" fmla="*/ 678630 w 3370033"/>
                <a:gd name="connsiteY0" fmla="*/ 0 h 3049804"/>
                <a:gd name="connsiteX1" fmla="*/ 0 w 3370033"/>
                <a:gd name="connsiteY1" fmla="*/ 0 h 3049804"/>
                <a:gd name="connsiteX2" fmla="*/ 0 w 3370033"/>
                <a:gd name="connsiteY2" fmla="*/ 3049804 h 3049804"/>
                <a:gd name="connsiteX3" fmla="*/ 3370034 w 3370033"/>
                <a:gd name="connsiteY3" fmla="*/ 3049804 h 3049804"/>
                <a:gd name="connsiteX4" fmla="*/ 3370034 w 3370033"/>
                <a:gd name="connsiteY4" fmla="*/ 2691404 h 3049804"/>
                <a:gd name="connsiteX5" fmla="*/ 678630 w 3370033"/>
                <a:gd name="connsiteY5" fmla="*/ 0 h 304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0033" h="3049804">
                  <a:moveTo>
                    <a:pt x="678630" y="0"/>
                  </a:moveTo>
                  <a:lnTo>
                    <a:pt x="0" y="0"/>
                  </a:lnTo>
                  <a:cubicBezTo>
                    <a:pt x="0" y="0"/>
                    <a:pt x="0" y="3049804"/>
                    <a:pt x="0" y="3049804"/>
                  </a:cubicBezTo>
                  <a:lnTo>
                    <a:pt x="3370034" y="3049804"/>
                  </a:lnTo>
                  <a:cubicBezTo>
                    <a:pt x="3370034" y="3049804"/>
                    <a:pt x="3370034" y="2691404"/>
                    <a:pt x="3370034" y="2691404"/>
                  </a:cubicBezTo>
                  <a:cubicBezTo>
                    <a:pt x="3370034" y="1211083"/>
                    <a:pt x="2158854" y="0"/>
                    <a:pt x="678630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2BD5391-22D2-56B7-1561-4B7441FCF11E}"/>
                </a:ext>
              </a:extLst>
            </p:cNvPr>
            <p:cNvSpPr/>
            <p:nvPr/>
          </p:nvSpPr>
          <p:spPr>
            <a:xfrm>
              <a:off x="8049122" y="1861361"/>
              <a:ext cx="3564094" cy="3225410"/>
            </a:xfrm>
            <a:custGeom>
              <a:avLst/>
              <a:gdLst>
                <a:gd name="connsiteX0" fmla="*/ 717675 w 3564094"/>
                <a:gd name="connsiteY0" fmla="*/ 0 h 3225410"/>
                <a:gd name="connsiteX1" fmla="*/ 0 w 3564094"/>
                <a:gd name="connsiteY1" fmla="*/ 0 h 3225410"/>
                <a:gd name="connsiteX2" fmla="*/ 0 w 3564094"/>
                <a:gd name="connsiteY2" fmla="*/ 3225411 h 3225410"/>
                <a:gd name="connsiteX3" fmla="*/ 3564095 w 3564094"/>
                <a:gd name="connsiteY3" fmla="*/ 3225411 h 3225410"/>
                <a:gd name="connsiteX4" fmla="*/ 3564095 w 3564094"/>
                <a:gd name="connsiteY4" fmla="*/ 2846420 h 3225410"/>
                <a:gd name="connsiteX5" fmla="*/ 717675 w 3564094"/>
                <a:gd name="connsiteY5" fmla="*/ 0 h 322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4094" h="3225410">
                  <a:moveTo>
                    <a:pt x="717675" y="0"/>
                  </a:moveTo>
                  <a:lnTo>
                    <a:pt x="0" y="0"/>
                  </a:lnTo>
                  <a:cubicBezTo>
                    <a:pt x="0" y="0"/>
                    <a:pt x="0" y="3225411"/>
                    <a:pt x="0" y="3225411"/>
                  </a:cubicBezTo>
                  <a:lnTo>
                    <a:pt x="3564095" y="3225411"/>
                  </a:lnTo>
                  <a:cubicBezTo>
                    <a:pt x="3564095" y="3225411"/>
                    <a:pt x="3564095" y="2846420"/>
                    <a:pt x="3564095" y="2846420"/>
                  </a:cubicBezTo>
                  <a:cubicBezTo>
                    <a:pt x="3564095" y="1280918"/>
                    <a:pt x="2283177" y="0"/>
                    <a:pt x="71767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51AE05-5125-9A0C-2234-D4571A7B8751}"/>
                </a:ext>
              </a:extLst>
            </p:cNvPr>
            <p:cNvSpPr/>
            <p:nvPr/>
          </p:nvSpPr>
          <p:spPr>
            <a:xfrm>
              <a:off x="7968895" y="1764331"/>
              <a:ext cx="3758058" cy="3401017"/>
            </a:xfrm>
            <a:custGeom>
              <a:avLst/>
              <a:gdLst>
                <a:gd name="connsiteX0" fmla="*/ 756721 w 3758058"/>
                <a:gd name="connsiteY0" fmla="*/ 0 h 3401017"/>
                <a:gd name="connsiteX1" fmla="*/ 0 w 3758058"/>
                <a:gd name="connsiteY1" fmla="*/ 0 h 3401017"/>
                <a:gd name="connsiteX2" fmla="*/ 0 w 3758058"/>
                <a:gd name="connsiteY2" fmla="*/ 3401018 h 3401017"/>
                <a:gd name="connsiteX3" fmla="*/ 3758058 w 3758058"/>
                <a:gd name="connsiteY3" fmla="*/ 3401018 h 3401017"/>
                <a:gd name="connsiteX4" fmla="*/ 3758058 w 3758058"/>
                <a:gd name="connsiteY4" fmla="*/ 3001435 h 3401017"/>
                <a:gd name="connsiteX5" fmla="*/ 756721 w 3758058"/>
                <a:gd name="connsiteY5" fmla="*/ 97 h 340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8058" h="3401017">
                  <a:moveTo>
                    <a:pt x="756721" y="0"/>
                  </a:moveTo>
                  <a:lnTo>
                    <a:pt x="0" y="0"/>
                  </a:lnTo>
                  <a:cubicBezTo>
                    <a:pt x="0" y="0"/>
                    <a:pt x="0" y="3401018"/>
                    <a:pt x="0" y="3401018"/>
                  </a:cubicBezTo>
                  <a:lnTo>
                    <a:pt x="3758058" y="3401018"/>
                  </a:lnTo>
                  <a:cubicBezTo>
                    <a:pt x="3758058" y="3401018"/>
                    <a:pt x="3758058" y="3001435"/>
                    <a:pt x="3758058" y="3001435"/>
                  </a:cubicBezTo>
                  <a:cubicBezTo>
                    <a:pt x="3758058" y="1350655"/>
                    <a:pt x="2407403" y="97"/>
                    <a:pt x="756721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E28954-65CE-131F-B818-C57CE2823510}"/>
                </a:ext>
              </a:extLst>
            </p:cNvPr>
            <p:cNvSpPr/>
            <p:nvPr/>
          </p:nvSpPr>
          <p:spPr>
            <a:xfrm>
              <a:off x="7888667" y="1667300"/>
              <a:ext cx="3952119" cy="3576623"/>
            </a:xfrm>
            <a:custGeom>
              <a:avLst/>
              <a:gdLst>
                <a:gd name="connsiteX0" fmla="*/ 795863 w 3952119"/>
                <a:gd name="connsiteY0" fmla="*/ 97 h 3576623"/>
                <a:gd name="connsiteX1" fmla="*/ 0 w 3952119"/>
                <a:gd name="connsiteY1" fmla="*/ 97 h 3576623"/>
                <a:gd name="connsiteX2" fmla="*/ 0 w 3952119"/>
                <a:gd name="connsiteY2" fmla="*/ 3576624 h 3576623"/>
                <a:gd name="connsiteX3" fmla="*/ 3952119 w 3952119"/>
                <a:gd name="connsiteY3" fmla="*/ 3576624 h 3576623"/>
                <a:gd name="connsiteX4" fmla="*/ 3952119 w 3952119"/>
                <a:gd name="connsiteY4" fmla="*/ 3156353 h 3576623"/>
                <a:gd name="connsiteX5" fmla="*/ 795766 w 3952119"/>
                <a:gd name="connsiteY5" fmla="*/ 0 h 357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119" h="3576623">
                  <a:moveTo>
                    <a:pt x="795863" y="97"/>
                  </a:moveTo>
                  <a:lnTo>
                    <a:pt x="0" y="97"/>
                  </a:lnTo>
                  <a:cubicBezTo>
                    <a:pt x="0" y="97"/>
                    <a:pt x="0" y="3576624"/>
                    <a:pt x="0" y="3576624"/>
                  </a:cubicBezTo>
                  <a:lnTo>
                    <a:pt x="3952119" y="3576624"/>
                  </a:lnTo>
                  <a:cubicBezTo>
                    <a:pt x="3952119" y="3576624"/>
                    <a:pt x="3952119" y="3156353"/>
                    <a:pt x="3952119" y="3156353"/>
                  </a:cubicBezTo>
                  <a:cubicBezTo>
                    <a:pt x="3952119" y="1420393"/>
                    <a:pt x="2531726" y="0"/>
                    <a:pt x="79576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C51F013-799A-B6B0-F45A-E627BC708A2E}"/>
                </a:ext>
              </a:extLst>
            </p:cNvPr>
            <p:cNvSpPr/>
            <p:nvPr/>
          </p:nvSpPr>
          <p:spPr>
            <a:xfrm>
              <a:off x="7808537" y="1570367"/>
              <a:ext cx="4146179" cy="3752133"/>
            </a:xfrm>
            <a:custGeom>
              <a:avLst/>
              <a:gdLst>
                <a:gd name="connsiteX0" fmla="*/ 834811 w 4146179"/>
                <a:gd name="connsiteY0" fmla="*/ 0 h 3752133"/>
                <a:gd name="connsiteX1" fmla="*/ 0 w 4146179"/>
                <a:gd name="connsiteY1" fmla="*/ 0 h 3752133"/>
                <a:gd name="connsiteX2" fmla="*/ 0 w 4146179"/>
                <a:gd name="connsiteY2" fmla="*/ 3752134 h 3752133"/>
                <a:gd name="connsiteX3" fmla="*/ 4146180 w 4146179"/>
                <a:gd name="connsiteY3" fmla="*/ 3752134 h 3752133"/>
                <a:gd name="connsiteX4" fmla="*/ 4146180 w 4146179"/>
                <a:gd name="connsiteY4" fmla="*/ 3311272 h 3752133"/>
                <a:gd name="connsiteX5" fmla="*/ 834908 w 4146179"/>
                <a:gd name="connsiteY5" fmla="*/ 0 h 375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179" h="3752133">
                  <a:moveTo>
                    <a:pt x="834811" y="0"/>
                  </a:moveTo>
                  <a:lnTo>
                    <a:pt x="0" y="0"/>
                  </a:lnTo>
                  <a:cubicBezTo>
                    <a:pt x="0" y="0"/>
                    <a:pt x="0" y="3752134"/>
                    <a:pt x="0" y="3752134"/>
                  </a:cubicBezTo>
                  <a:lnTo>
                    <a:pt x="4146180" y="3752134"/>
                  </a:lnTo>
                  <a:cubicBezTo>
                    <a:pt x="4146180" y="3752134"/>
                    <a:pt x="4146180" y="3311272"/>
                    <a:pt x="4146180" y="3311272"/>
                  </a:cubicBezTo>
                  <a:cubicBezTo>
                    <a:pt x="4146180" y="1490034"/>
                    <a:pt x="2656147" y="0"/>
                    <a:pt x="83490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26D6E7-2D9B-14BD-E404-BFE5AE25DAAB}"/>
                </a:ext>
              </a:extLst>
            </p:cNvPr>
            <p:cNvSpPr/>
            <p:nvPr/>
          </p:nvSpPr>
          <p:spPr>
            <a:xfrm>
              <a:off x="7728310" y="1473337"/>
              <a:ext cx="4340143" cy="3927837"/>
            </a:xfrm>
            <a:custGeom>
              <a:avLst/>
              <a:gdLst>
                <a:gd name="connsiteX0" fmla="*/ 873954 w 4340143"/>
                <a:gd name="connsiteY0" fmla="*/ 97 h 3927837"/>
                <a:gd name="connsiteX1" fmla="*/ 0 w 4340143"/>
                <a:gd name="connsiteY1" fmla="*/ 97 h 3927837"/>
                <a:gd name="connsiteX2" fmla="*/ 0 w 4340143"/>
                <a:gd name="connsiteY2" fmla="*/ 3927837 h 3927837"/>
                <a:gd name="connsiteX3" fmla="*/ 4340144 w 4340143"/>
                <a:gd name="connsiteY3" fmla="*/ 3927837 h 3927837"/>
                <a:gd name="connsiteX4" fmla="*/ 4340144 w 4340143"/>
                <a:gd name="connsiteY4" fmla="*/ 3466287 h 3927837"/>
                <a:gd name="connsiteX5" fmla="*/ 873856 w 4340143"/>
                <a:gd name="connsiteY5" fmla="*/ 0 h 392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143" h="3927837">
                  <a:moveTo>
                    <a:pt x="873954" y="97"/>
                  </a:moveTo>
                  <a:lnTo>
                    <a:pt x="0" y="97"/>
                  </a:lnTo>
                  <a:cubicBezTo>
                    <a:pt x="0" y="97"/>
                    <a:pt x="0" y="3927837"/>
                    <a:pt x="0" y="3927837"/>
                  </a:cubicBezTo>
                  <a:lnTo>
                    <a:pt x="4340144" y="3927837"/>
                  </a:lnTo>
                  <a:cubicBezTo>
                    <a:pt x="4340144" y="3927837"/>
                    <a:pt x="4340144" y="3466287"/>
                    <a:pt x="4340144" y="3466287"/>
                  </a:cubicBezTo>
                  <a:cubicBezTo>
                    <a:pt x="4340144" y="1559868"/>
                    <a:pt x="2780373" y="0"/>
                    <a:pt x="87385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A8DCA0-D108-7703-A19B-60B550033138}"/>
                </a:ext>
              </a:extLst>
            </p:cNvPr>
            <p:cNvSpPr/>
            <p:nvPr/>
          </p:nvSpPr>
          <p:spPr>
            <a:xfrm>
              <a:off x="7648082" y="1376403"/>
              <a:ext cx="4534204" cy="4103346"/>
            </a:xfrm>
            <a:custGeom>
              <a:avLst/>
              <a:gdLst>
                <a:gd name="connsiteX0" fmla="*/ 912999 w 4534204"/>
                <a:gd name="connsiteY0" fmla="*/ 0 h 4103346"/>
                <a:gd name="connsiteX1" fmla="*/ 0 w 4534204"/>
                <a:gd name="connsiteY1" fmla="*/ 0 h 4103346"/>
                <a:gd name="connsiteX2" fmla="*/ 0 w 4534204"/>
                <a:gd name="connsiteY2" fmla="*/ 4103347 h 4103346"/>
                <a:gd name="connsiteX3" fmla="*/ 4534205 w 4534204"/>
                <a:gd name="connsiteY3" fmla="*/ 4103347 h 4103346"/>
                <a:gd name="connsiteX4" fmla="*/ 4534205 w 4534204"/>
                <a:gd name="connsiteY4" fmla="*/ 3621206 h 4103346"/>
                <a:gd name="connsiteX5" fmla="*/ 912999 w 4534204"/>
                <a:gd name="connsiteY5" fmla="*/ 0 h 410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4204" h="4103346">
                  <a:moveTo>
                    <a:pt x="912999" y="0"/>
                  </a:moveTo>
                  <a:lnTo>
                    <a:pt x="0" y="0"/>
                  </a:lnTo>
                  <a:cubicBezTo>
                    <a:pt x="0" y="0"/>
                    <a:pt x="0" y="4103347"/>
                    <a:pt x="0" y="4103347"/>
                  </a:cubicBezTo>
                  <a:lnTo>
                    <a:pt x="4534205" y="4103347"/>
                  </a:lnTo>
                  <a:cubicBezTo>
                    <a:pt x="4534205" y="4103347"/>
                    <a:pt x="4534205" y="3621206"/>
                    <a:pt x="4534205" y="3621206"/>
                  </a:cubicBezTo>
                  <a:cubicBezTo>
                    <a:pt x="4534205" y="1629509"/>
                    <a:pt x="2904696" y="0"/>
                    <a:pt x="912999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4A18471-8279-D2BD-A87C-F3929C62A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398" y="2246255"/>
            <a:ext cx="3680538" cy="3330822"/>
          </a:xfrm>
          <a:custGeom>
            <a:avLst/>
            <a:gdLst>
              <a:gd name="connsiteX0" fmla="*/ 0 w 3623762"/>
              <a:gd name="connsiteY0" fmla="*/ 0 h 3279440"/>
              <a:gd name="connsiteX1" fmla="*/ 3623762 w 3623762"/>
              <a:gd name="connsiteY1" fmla="*/ 0 h 3279440"/>
              <a:gd name="connsiteX2" fmla="*/ 3623762 w 3623762"/>
              <a:gd name="connsiteY2" fmla="*/ 3279333 h 3279440"/>
              <a:gd name="connsiteX3" fmla="*/ 2894067 w 3623762"/>
              <a:gd name="connsiteY3" fmla="*/ 3279333 h 3279440"/>
              <a:gd name="connsiteX4" fmla="*/ 2894067 w 3623762"/>
              <a:gd name="connsiteY4" fmla="*/ 3279440 h 3279440"/>
              <a:gd name="connsiteX5" fmla="*/ 0 w 3623762"/>
              <a:gd name="connsiteY5" fmla="*/ 385375 h 3279440"/>
              <a:gd name="connsiteX6" fmla="*/ 0 w 3623762"/>
              <a:gd name="connsiteY6" fmla="*/ 0 h 327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3762" h="3279440">
                <a:moveTo>
                  <a:pt x="0" y="0"/>
                </a:moveTo>
                <a:lnTo>
                  <a:pt x="3623762" y="0"/>
                </a:lnTo>
                <a:cubicBezTo>
                  <a:pt x="3623762" y="0"/>
                  <a:pt x="3623762" y="3279333"/>
                  <a:pt x="3623762" y="3279333"/>
                </a:cubicBezTo>
                <a:lnTo>
                  <a:pt x="2894067" y="3279333"/>
                </a:lnTo>
                <a:lnTo>
                  <a:pt x="2894067" y="3279440"/>
                </a:lnTo>
                <a:cubicBezTo>
                  <a:pt x="1302277" y="3279440"/>
                  <a:pt x="0" y="1977056"/>
                  <a:pt x="0" y="385375"/>
                </a:cubicBezTo>
                <a:cubicBezTo>
                  <a:pt x="0" y="385375"/>
                  <a:pt x="0" y="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6BBF8F-B8DC-ADC4-090F-93E56E33656F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C817E87-37D1-907A-EC0C-17E0A1FD9F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F2B8BC-7A0A-5981-70EF-5E8172A7D264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B60EC4-B7E2-0F19-7556-4D251C975D50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10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group of glass containers&#10;&#10;AI-generated content may be incorrect.">
            <a:extLst>
              <a:ext uri="{FF2B5EF4-FFF2-40B4-BE49-F238E27FC236}">
                <a16:creationId xmlns:a16="http://schemas.microsoft.com/office/drawing/2014/main" id="{F1CB07E2-B7B0-E917-3452-648511646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0"/>
            <a:ext cx="6858002" cy="121920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8F036F-B73B-206A-778C-8CA7CA42531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0900D4C8-3F2F-6B7B-1B41-661B4D50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44" y="3264375"/>
            <a:ext cx="4566307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1FA5D4-834B-B7DB-0D7C-F8B8C92FF4F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133ED4-988D-D493-5518-B6B096AEA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2C70A3-2629-E214-6F86-4E3AEBCA6518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B45DD6-2169-C308-D859-B9FCC208DD89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1CBD87B-A4E1-EB65-94CC-E92F6962B0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87" y="6123547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2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6512D8-4A24-7606-C8C8-CB9B880B0DFD}"/>
              </a:ext>
            </a:extLst>
          </p:cNvPr>
          <p:cNvGrpSpPr/>
          <p:nvPr userDrawn="1"/>
        </p:nvGrpSpPr>
        <p:grpSpPr>
          <a:xfrm>
            <a:off x="10095861" y="6117112"/>
            <a:ext cx="1967551" cy="552450"/>
            <a:chOff x="10095861" y="6117112"/>
            <a:chExt cx="1967551" cy="552450"/>
          </a:xfrm>
          <a:solidFill>
            <a:schemeClr val="bg1"/>
          </a:solidFill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02A7DF9-B37B-389F-B4E6-5743B1679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EB226B-2AD6-AE1D-6396-CF295B80C27D}"/>
                </a:ext>
              </a:extLst>
            </p:cNvPr>
            <p:cNvSpPr txBox="1"/>
            <p:nvPr userDrawn="1"/>
          </p:nvSpPr>
          <p:spPr>
            <a:xfrm>
              <a:off x="10095861" y="6398464"/>
              <a:ext cx="15382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4409FA-1683-078F-E2BC-BE0F2F4A719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F9474E-02B0-3098-EB0B-DA2342976B4D}"/>
              </a:ext>
            </a:extLst>
          </p:cNvPr>
          <p:cNvCxnSpPr>
            <a:cxnSpLocks/>
          </p:cNvCxnSpPr>
          <p:nvPr userDrawn="1"/>
        </p:nvCxnSpPr>
        <p:spPr>
          <a:xfrm>
            <a:off x="10161224" y="6652380"/>
            <a:ext cx="13973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purple wavy line&#10;&#10;AI-generated content may be incorrect.">
            <a:extLst>
              <a:ext uri="{FF2B5EF4-FFF2-40B4-BE49-F238E27FC236}">
                <a16:creationId xmlns:a16="http://schemas.microsoft.com/office/drawing/2014/main" id="{F82627BD-2194-EE22-0CF0-BD316FB64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20F0F8-0D58-5C5B-5281-125C1B16ECFD}"/>
              </a:ext>
            </a:extLst>
          </p:cNvPr>
          <p:cNvSpPr txBox="1">
            <a:spLocks/>
          </p:cNvSpPr>
          <p:nvPr userDrawn="1"/>
        </p:nvSpPr>
        <p:spPr>
          <a:xfrm>
            <a:off x="579657" y="483467"/>
            <a:ext cx="564055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2DDD0E-CFBF-2A1A-85C6-78DB4254DEE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AFB9CBA-BCE5-2DA2-8162-FF8B4C772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41815C-EFFB-B78F-B4DC-657BFCA333B3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703ED1-E747-0ED8-C498-4334DDA8AF2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2FAD78F-C794-A499-B33E-7568613E73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0350" y="6139150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24C-8ACB-22A5-D15F-C75A98C4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228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89582-B189-A9E8-8FDE-23D44899C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405" y="433633"/>
            <a:ext cx="5553585" cy="5611908"/>
          </a:xfrm>
          <a:prstGeom prst="rect">
            <a:avLst/>
          </a:prstGeom>
        </p:spPr>
      </p:pic>
      <p:sp>
        <p:nvSpPr>
          <p:cNvPr id="4" name="Picture Placeholder 70">
            <a:extLst>
              <a:ext uri="{FF2B5EF4-FFF2-40B4-BE49-F238E27FC236}">
                <a16:creationId xmlns:a16="http://schemas.microsoft.com/office/drawing/2014/main" id="{A29F5D11-F0EB-D315-ACF8-3E612C13B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1110" y="193913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0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35F0B9-D817-FD68-8C37-CB9F7EF8B3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7675" y="-284409"/>
            <a:ext cx="12693303" cy="714240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ACF39A-EA1F-2542-9FB4-61FC33E2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0BFAD0-FB8C-C9FA-E7BD-585D364E4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901429" y="1690688"/>
            <a:ext cx="4555281" cy="41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4AE8-B731-53ED-A268-E6F75EF93726}"/>
              </a:ext>
            </a:extLst>
          </p:cNvPr>
          <p:cNvSpPr/>
          <p:nvPr userDrawn="1"/>
        </p:nvSpPr>
        <p:spPr>
          <a:xfrm>
            <a:off x="-65975" y="3302000"/>
            <a:ext cx="11597633" cy="3555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58C8F2-88E3-DEF6-7A2E-4B38B6FD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7C1990-4C55-516B-A96A-DD2011C6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5153C4C-5329-992D-9290-5CA19D6C7FF1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AD1AF69-696E-89D8-3289-AAF624999AE7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AB21F52B-5140-C1ED-D7EE-AA12A5A454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0DA9DE-AC7F-9695-F16F-960DAB5C3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118C415-1AD3-68CD-3D0E-F7A3C44311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34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6F9D-963A-1B9D-98D0-5F6BF0E0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2828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290CCC2A-40EB-0D82-E905-FF557D7F8E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9282" y="4396192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C31E0CB6-4089-9068-93DB-8071DA5E09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9282" y="2340703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ADACF33-9F9F-E677-EE4F-2D9B8F4B73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282" y="369206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8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BE7676-D194-3757-6C4A-4A8F2EACE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6570" y="1486885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DCF1B89-2998-7866-72D7-94D8841756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6570" y="3931313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CFC4595-2E31-2239-8DF7-1CF97AB370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01326" y="1479028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F21ADA-893B-C0F3-E52C-6E3BD116BB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1326" y="3923456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99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653F31-B3AB-430C-AFA3-86D131772CC2}"/>
              </a:ext>
            </a:extLst>
          </p:cNvPr>
          <p:cNvSpPr/>
          <p:nvPr userDrawn="1"/>
        </p:nvSpPr>
        <p:spPr>
          <a:xfrm>
            <a:off x="8494250" y="405676"/>
            <a:ext cx="3200873" cy="4176409"/>
          </a:xfrm>
          <a:prstGeom prst="roundRect">
            <a:avLst/>
          </a:prstGeom>
          <a:solidFill>
            <a:srgbClr val="8C4FF4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995FE-E141-4F64-7920-7D05438C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E8EDE16-1BE2-53C6-6F0B-83CC3E613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B0702C-6CC6-15E3-0EA3-4B19A8E4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457D0-2662-53E7-1EC3-61C5B43D47D2}"/>
              </a:ext>
            </a:extLst>
          </p:cNvPr>
          <p:cNvSpPr txBox="1"/>
          <p:nvPr userDrawn="1"/>
        </p:nvSpPr>
        <p:spPr>
          <a:xfrm>
            <a:off x="7806670" y="3910333"/>
            <a:ext cx="28692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>
                <a:solidFill>
                  <a:schemeClr val="accent5"/>
                </a:solidFill>
                <a:latin typeface="+mj-lt"/>
              </a:rPr>
              <a:t>Strategic Planning</a:t>
            </a:r>
            <a:endParaRPr lang="en-US" sz="440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0CB651-754A-63A4-06DE-D4A712935DED}"/>
              </a:ext>
            </a:extLst>
          </p:cNvPr>
          <p:cNvSpPr/>
          <p:nvPr userDrawn="1"/>
        </p:nvSpPr>
        <p:spPr>
          <a:xfrm>
            <a:off x="8223198" y="797541"/>
            <a:ext cx="1467957" cy="39881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2025 plan</a:t>
            </a:r>
          </a:p>
        </p:txBody>
      </p:sp>
    </p:spTree>
    <p:extLst>
      <p:ext uri="{BB962C8B-B14F-4D97-AF65-F5344CB8AC3E}">
        <p14:creationId xmlns:p14="http://schemas.microsoft.com/office/powerpoint/2010/main" val="3596971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281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42D9-B45F-7B82-66BA-5F1D68B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4346-FB20-FDDF-119D-352EB36D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562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40969-8270-FCE7-2A13-B5E47A1170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6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7B2D10B-B544-8D0A-68C3-1B2B488E6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042" y="-42042"/>
            <a:ext cx="12368083" cy="69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2889-721D-8916-BE9E-23C1EAC1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7354-5530-3418-27DF-153AF389F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38272-AA8A-84FA-0F3E-0C2B22C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F02C-9DD5-133B-3AC7-CE9E2323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6923-F478-DD29-DBD3-D99F5DE7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877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1E6B-EFFC-575A-8018-B5DB0B15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FD77-06B5-0FA0-20F4-9BAD852B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95A3-F755-0DE1-F507-0BB8ED5D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04EE-022A-B040-1888-E110452F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97DA-F37F-36EB-CD10-3BD92221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0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AA7F-7002-B702-8D22-D69C3B8D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9AC37-B6C8-CA19-E354-1AB5DBAA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7E27-FB65-6478-1667-F3A7472A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572D3-02E3-2C06-4945-4ACA0D6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D5264-87C6-0D17-43E7-3EB9D12D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99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BE52-A45C-496D-9AD1-1D6D5148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27E7-0E95-8091-5C25-07C91C2A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F041C-B74D-80F4-CF2D-D13FD08C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5A5CC-2683-0710-BB2A-41D1CCAB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D98D-9D9B-EB4E-F948-08E22EB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64A4-09F9-F679-8A6A-763B16AF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6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7002-E936-42F7-3C13-350577DD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87790-CF5D-2071-00E9-56580D76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A361-2114-8E3B-3E18-AAB6DCCB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87C69-A8D5-B381-1E8B-00E950CE3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975A0-E90D-08BF-6B41-A2510E259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09C78-EB9C-F95B-620F-8C7AB6C5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AC7CB-D263-7A57-A93F-71D36E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E12B0-1238-5700-FACD-1B858A5B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29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05EE-D538-1419-F786-8E9F86EA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67E47-BB84-2EDA-24F0-80F5E529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5B48C-D1BF-73B5-3EDD-857EA53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33E63-E1DA-D263-BB6F-E805AF13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C67F2-3807-FA81-2875-472C2C71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57EB5-3E00-A2E2-D293-BEEA9D7E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7B6A3-0811-995C-296B-B5F42137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33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C69F-F2DF-5AA6-41C6-53ADB7EC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417B-3139-B735-C815-299F7A7B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FDBF8-D2C9-EE02-229E-F8ED779C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7CF0-E409-37CC-C853-AD62E58C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AB41-FF17-65A4-43BE-8E0916F3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79EA-5E09-4211-84DF-54B09FC4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35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337C-E527-BEAD-C3E5-D2EAF97E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13AA7-7898-9DE1-FE26-F276B6D4C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95A6-2AA1-BC65-B146-62B9C4DA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FDBA-A2F4-9FA8-6260-157104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0E2F-5C6B-8378-3EB5-56150E0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023A9-F64F-F6C4-6ED0-F9DB9AB9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17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AEAF-8B63-88F3-58D6-B7329027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12C81-ED4B-2E21-EB50-568236911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28AB-3FD6-4455-8B17-EF138205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7874-31EB-4D12-27FA-CE61B2DA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D838-C30D-3E6F-1D9D-039304E9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8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99D32-B49C-F15F-B74F-9C5A27A7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05B1B-F54F-F0A2-BB51-7112D02A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0CD1-953E-E31F-CF16-647AA27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69A4-F851-0F8E-B709-E04DCBD7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EE52-6A89-226A-D0CD-621718FC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4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2.xml"/><Relationship Id="rId1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4C751-9539-11ED-365B-EA245C68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650DF-3132-B144-1B5A-71A6FC10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16657-AC1A-3CBB-CB6C-34022BF601F4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61BCE77-9728-B9DF-A894-E699D5495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4F97B2-799D-7BAB-6412-51072C1437DB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72446-6AA6-264F-4875-1B6A951A3895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1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9" r:id="rId11"/>
    <p:sldLayoutId id="2147483662" r:id="rId12"/>
    <p:sldLayoutId id="2147483665" r:id="rId13"/>
    <p:sldLayoutId id="2147483663" r:id="rId14"/>
    <p:sldLayoutId id="2147483666" r:id="rId15"/>
    <p:sldLayoutId id="2147483667" r:id="rId16"/>
    <p:sldLayoutId id="2147483668" r:id="rId17"/>
    <p:sldLayoutId id="2147483650" r:id="rId18"/>
    <p:sldLayoutId id="2147483671" r:id="rId19"/>
    <p:sldLayoutId id="2147483670" r:id="rId20"/>
    <p:sldLayoutId id="2147483672" r:id="rId21"/>
    <p:sldLayoutId id="2147483673" r:id="rId22"/>
    <p:sldLayoutId id="2147483651" r:id="rId23"/>
    <p:sldLayoutId id="2147483687" r:id="rId24"/>
    <p:sldLayoutId id="214748365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Medium" panose="00000600000000000000" pitchFamily="2" charset="0"/>
          <a:ea typeface="+mn-ea"/>
          <a:cs typeface="Poppins Medium" panose="000006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27478-957B-8004-0BA6-0B4FE126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278C-0DB2-3F92-52B7-08C91A2E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F1E4-27AA-7785-4407-D47EF108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9371-613E-EBD0-CB8F-C94B1AD34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A9A1-96CA-EA9A-C07B-B15E72AF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C2033-7521-C317-3C8D-C9158139320C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6039C41-FE40-33D9-BF28-46DDD12008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93F90A-9E86-6C25-E63C-A0426FB67EE9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DFB403-1619-6C9D-9A9B-569B0DDDCDAD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12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66FF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doptium.net/" TargetMode="External"/><Relationship Id="rId4" Type="http://schemas.openxmlformats.org/officeDocument/2006/relationships/hyperlink" Target="https://www.jetbrains.com/idea/download/" TargetMode="External"/><Relationship Id="rId5" Type="http://schemas.openxmlformats.org/officeDocument/2006/relationships/hyperlink" Target="https://git-scm.com/downloads" TargetMode="External"/><Relationship Id="rId6" Type="http://schemas.openxmlformats.org/officeDocument/2006/relationships/hyperlink" Target="https://start.spring.io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youtube.com/playlist?list=PLCInYL3l2AajYlZGzU_LVrHdoouf8W6ZN" TargetMode="External"/><Relationship Id="rId4" Type="http://schemas.openxmlformats.org/officeDocument/2006/relationships/hyperlink" Target="https://www.youtube.com/playlist?list=PLCInYL3l2AagY7fFlhCrjpLiIFybW3yQv" TargetMode="External"/><Relationship Id="rId5" Type="http://schemas.openxmlformats.org/officeDocument/2006/relationships/hyperlink" Target="https://www.youtube.com/playlist?list=PLnzqK5HvcpwTgEDztQ8y4K4-VoeoK1QCG" TargetMode="External"/><Relationship Id="rId6" Type="http://schemas.openxmlformats.org/officeDocument/2006/relationships/hyperlink" Target="https://www.youtube.com/playlist?list=PLDoPjvoNmBAw4eOj58MZPakHjaO3frVMF" TargetMode="External"/><Relationship Id="rId7" Type="http://schemas.openxmlformats.org/officeDocument/2006/relationships/hyperlink" Target="https://www.youtube.com/playlist?list=PLDoPjvoNmBAz6DT8SzQ1CODJTH-NIA7R9" TargetMode="External"/><Relationship Id="rId8" Type="http://schemas.openxmlformats.org/officeDocument/2006/relationships/hyperlink" Target="https://www.youtube.com/playlist?list=PLzhWJrmO-SPX9CwimKF2-l0e0dcLEiAI2" TargetMode="External"/><Relationship Id="rId9" Type="http://schemas.openxmlformats.org/officeDocument/2006/relationships/hyperlink" Target="https://www.youtube.com/playlist?list=PLzhWJrmO-SPV-yAYiDx7l78zWF4BAtnHt" TargetMode="External"/><Relationship Id="rId10" Type="http://schemas.openxmlformats.org/officeDocument/2006/relationships/hyperlink" Target="https://dev.java/learn/" TargetMode="External"/><Relationship Id="rId11" Type="http://schemas.openxmlformats.org/officeDocument/2006/relationships/hyperlink" Target="https://roadmap.sh/java" TargetMode="External"/><Relationship Id="rId12" Type="http://schemas.openxmlformats.org/officeDocument/2006/relationships/hyperlink" Target="https://spring.io/guides" TargetMode="External"/><Relationship Id="rId13" Type="http://schemas.openxmlformats.org/officeDocument/2006/relationships/hyperlink" Target="https://www.baeldung.com/" TargetMode="External"/><Relationship Id="rId14" Type="http://schemas.openxmlformats.org/officeDocument/2006/relationships/hyperlink" Target="https://www.danvega.dev/blog/spring-boot-crash-course" TargetMode="External"/><Relationship Id="rId15" Type="http://schemas.openxmlformats.org/officeDocument/2006/relationships/hyperlink" Target="https://www.freecodecamp.org/news/spring-boot-tutorial/" TargetMode="External"/><Relationship Id="rId16" Type="http://schemas.openxmlformats.org/officeDocument/2006/relationships/hyperlink" Target="https://github.com/testcontainers/testcontainers-java-spring-boot-quickstart" TargetMode="External"/><Relationship Id="rId17" Type="http://schemas.openxmlformats.org/officeDocument/2006/relationships/hyperlink" Target="https://claude.ai/code/artifact/19667c01-a254-4f4a-8186-fc9f6262a890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youtube.com/playlist?list=PLCInYL3l2AajYlZGzU_LVrHdoouf8W6ZN" TargetMode="External"/><Relationship Id="rId4" Type="http://schemas.openxmlformats.org/officeDocument/2006/relationships/hyperlink" Target="https://dev.java/learn/" TargetMode="External"/><Relationship Id="rId5" Type="http://schemas.openxmlformats.org/officeDocument/2006/relationships/hyperlink" Target="https://www.youtube.com/playlist?list=PLCInYL3l2AagY7fFlhCrjpLiIFybW3yQv" TargetMode="External"/><Relationship Id="rId6" Type="http://schemas.openxmlformats.org/officeDocument/2006/relationships/hyperlink" Target="https://www.youtube.com/playlist?list=PLDoPjvoNmBAw4eOj58MZPakHjaO3frVMF" TargetMode="External"/><Relationship Id="rId7" Type="http://schemas.openxmlformats.org/officeDocument/2006/relationships/hyperlink" Target="https://roadmap.sh/java" TargetMode="External"/><Relationship Id="rId8" Type="http://schemas.openxmlformats.org/officeDocument/2006/relationships/hyperlink" Target="https://www.youtube.com/playlist?list=PLDoPjvoNmBAz6DT8SzQ1CODJTH-NIA7R9" TargetMode="External"/><Relationship Id="rId9" Type="http://schemas.openxmlformats.org/officeDocument/2006/relationships/hyperlink" Target="https://www.baeldung.com/" TargetMode="External"/><Relationship Id="rId10" Type="http://schemas.openxmlformats.org/officeDocument/2006/relationships/hyperlink" Target="https://www.youtube.com/playlist?list=PLzhWJrmO-SPX9CwimKF2-l0e0dcLEiAI2" TargetMode="External"/><Relationship Id="rId11" Type="http://schemas.openxmlformats.org/officeDocument/2006/relationships/hyperlink" Target="https://spring.io/guides" TargetMode="External"/><Relationship Id="rId12" Type="http://schemas.openxmlformats.org/officeDocument/2006/relationships/hyperlink" Target="https://www.udemy.com/course/spring-data-and-spring-boot-course/" TargetMode="External"/><Relationship Id="rId13" Type="http://schemas.openxmlformats.org/officeDocument/2006/relationships/hyperlink" Target="https://www.youtube.com/watch?v=5mVIpSqRKzM" TargetMode="External"/><Relationship Id="rId14" Type="http://schemas.openxmlformats.org/officeDocument/2006/relationships/hyperlink" Target="https://docs.spring.io/spring-boot/reference/testing/testcontainers.html" TargetMode="External"/><Relationship Id="rId15" Type="http://schemas.openxmlformats.org/officeDocument/2006/relationships/hyperlink" Target="https://www.youtube.com/playlist?list=PLzhWJrmO-SPV-yAYiDx7l78zWF4BAtnHt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odingbat.com/java" TargetMode="External"/><Relationship Id="rId4" Type="http://schemas.openxmlformats.org/officeDocument/2006/relationships/hyperlink" Target="https://exercism.org/tracks/java" TargetMode="External"/><Relationship Id="rId5" Type="http://schemas.openxmlformats.org/officeDocument/2006/relationships/hyperlink" Target="https://leetcode.com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5.sv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3246120"/>
            <a:ext cx="6766560" cy="1737360"/>
          </a:xfrm>
        </p:spPr>
        <p:txBody>
          <a:bodyPr wrap="square" anchor="b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Java + Spring Boot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FDFE2"/>
                </a:solidFill>
                <a:latin typeface="Poppins"/>
              </a:rPr>
              <a:t>COURSE OVERVIEW  ·  8 WEEKS  ·  FULL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From zero to junior backend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What we'll cover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685800" cy="68580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15087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The program at a glance</a:t>
            </a:r>
          </a:p>
        </p:txBody>
      </p:sp>
      <p:sp>
        <p:nvSpPr>
          <p:cNvPr id="6" name="Oval 5"/>
          <p:cNvSpPr/>
          <p:nvPr/>
        </p:nvSpPr>
        <p:spPr>
          <a:xfrm>
            <a:off x="6053328" y="1508760"/>
            <a:ext cx="685800" cy="685800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7728" y="15087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What you'll learn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06039"/>
            <a:ext cx="685800" cy="68580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606039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How the 8 weeks run</a:t>
            </a:r>
          </a:p>
        </p:txBody>
      </p:sp>
      <p:sp>
        <p:nvSpPr>
          <p:cNvPr id="10" name="Oval 9"/>
          <p:cNvSpPr/>
          <p:nvPr/>
        </p:nvSpPr>
        <p:spPr>
          <a:xfrm>
            <a:off x="6053328" y="2606039"/>
            <a:ext cx="685800" cy="685800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606039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Projects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703320"/>
            <a:ext cx="685800" cy="68580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7033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How you're assessed</a:t>
            </a:r>
          </a:p>
        </p:txBody>
      </p:sp>
      <p:sp>
        <p:nvSpPr>
          <p:cNvPr id="14" name="Oval 13"/>
          <p:cNvSpPr/>
          <p:nvPr/>
        </p:nvSpPr>
        <p:spPr>
          <a:xfrm>
            <a:off x="6053328" y="3703320"/>
            <a:ext cx="685800" cy="685800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37033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Tools and resources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800600"/>
            <a:ext cx="685800" cy="68580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80060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Career preparation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The program at a glance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 weeks, full time"/>
          <p:cNvSpPr/>
          <p:nvPr/>
        </p:nvSpPr>
        <p:spPr>
          <a:xfrm>
            <a:off x="841248" y="1600200"/>
            <a:ext cx="1892807" cy="237744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926080"/>
            <a:ext cx="16184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weeks, full time</a:t>
            </a:r>
          </a:p>
        </p:txBody>
      </p:sp>
      <p:sp>
        <p:nvSpPr>
          <p:cNvPr id="7" name="Stat hours of learning"/>
          <p:cNvSpPr/>
          <p:nvPr/>
        </p:nvSpPr>
        <p:spPr>
          <a:xfrm>
            <a:off x="2916936" y="1600200"/>
            <a:ext cx="1892807" cy="237744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16936" y="1783080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8C4FF4"/>
                </a:solidFill>
                <a:latin typeface="Poppins"/>
              </a:rPr>
              <a:t>320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2926080"/>
            <a:ext cx="16184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hours of learning</a:t>
            </a:r>
          </a:p>
        </p:txBody>
      </p:sp>
      <p:sp>
        <p:nvSpPr>
          <p:cNvPr id="10" name="Stat hours of live sessions"/>
          <p:cNvSpPr/>
          <p:nvPr/>
        </p:nvSpPr>
        <p:spPr>
          <a:xfrm>
            <a:off x="4992624" y="1600200"/>
            <a:ext cx="1892807" cy="2377440"/>
          </a:xfrm>
          <a:prstGeom prst="roundRect">
            <a:avLst>
              <a:gd name="adj" fmla="val 12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92624" y="1783080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2926080"/>
            <a:ext cx="16184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hours of live sessions</a:t>
            </a:r>
          </a:p>
        </p:txBody>
      </p:sp>
      <p:sp>
        <p:nvSpPr>
          <p:cNvPr id="13" name="Stat portfolio projects"/>
          <p:cNvSpPr/>
          <p:nvPr/>
        </p:nvSpPr>
        <p:spPr>
          <a:xfrm>
            <a:off x="7068312" y="1600200"/>
            <a:ext cx="1892807" cy="237744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8312" y="1783080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8C4FF4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926080"/>
            <a:ext cx="16184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portfolio projects</a:t>
            </a:r>
          </a:p>
        </p:txBody>
      </p:sp>
      <p:sp>
        <p:nvSpPr>
          <p:cNvPr id="16" name="Stat interview problems"/>
          <p:cNvSpPr/>
          <p:nvPr/>
        </p:nvSpPr>
        <p:spPr>
          <a:xfrm>
            <a:off x="9144000" y="1600200"/>
            <a:ext cx="1892807" cy="237744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366FF"/>
                </a:solidFill>
                <a:latin typeface="Poppins"/>
              </a:rPr>
              <a:t>70-110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926080"/>
            <a:ext cx="16184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interview problems</a:t>
            </a:r>
          </a:p>
        </p:txBody>
      </p:sp>
      <p:sp>
        <p:nvSpPr>
          <p:cNvPr id="19" name="Outcome band"/>
          <p:cNvSpPr/>
          <p:nvPr/>
        </p:nvSpPr>
        <p:spPr>
          <a:xfrm>
            <a:off x="841248" y="4343400"/>
            <a:ext cx="10241280" cy="14630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97840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Goal: </a:t>
            </a:r>
            <a:r>
              <a:rPr sz="1700" b="0" i="0">
                <a:solidFill>
                  <a:srgbClr val="1B2433"/>
                </a:solidFill>
                <a:latin typeface="Poppins"/>
              </a:rPr>
              <a:t>two deployed projects, real team Git experience and interview practice, ready for internships, trainee programs and 0-1 year backend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The stack you will use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ck Java 25"/>
          <p:cNvSpPr/>
          <p:nvPr/>
        </p:nvSpPr>
        <p:spPr>
          <a:xfrm>
            <a:off x="841248" y="155448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9848" y="187451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366FF"/>
                </a:solidFill>
                <a:latin typeface="Poppins"/>
              </a:rPr>
              <a:t>Java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Language (LTS)</a:t>
            </a:r>
          </a:p>
        </p:txBody>
      </p:sp>
      <p:sp>
        <p:nvSpPr>
          <p:cNvPr id="7" name="Stack Spring Boot 4.1"/>
          <p:cNvSpPr/>
          <p:nvPr/>
        </p:nvSpPr>
        <p:spPr>
          <a:xfrm>
            <a:off x="3447288" y="155448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75887" y="187451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C4FF4"/>
                </a:solidFill>
                <a:latin typeface="Poppins"/>
              </a:rPr>
              <a:t>Spring Boot 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Backend framework</a:t>
            </a:r>
          </a:p>
        </p:txBody>
      </p:sp>
      <p:sp>
        <p:nvSpPr>
          <p:cNvPr id="10" name="Stack Maven"/>
          <p:cNvSpPr/>
          <p:nvPr/>
        </p:nvSpPr>
        <p:spPr>
          <a:xfrm>
            <a:off x="6053328" y="155448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81928" y="187451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366FF"/>
                </a:solidFill>
                <a:latin typeface="Poppins"/>
              </a:rPr>
              <a:t>Maven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Build tool</a:t>
            </a:r>
          </a:p>
        </p:txBody>
      </p:sp>
      <p:sp>
        <p:nvSpPr>
          <p:cNvPr id="13" name="Stack PostgreSQL"/>
          <p:cNvSpPr/>
          <p:nvPr/>
        </p:nvSpPr>
        <p:spPr>
          <a:xfrm>
            <a:off x="8659368" y="155448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87968" y="187451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C4FF4"/>
                </a:solidFill>
                <a:latin typeface="Poppins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Database</a:t>
            </a:r>
          </a:p>
        </p:txBody>
      </p:sp>
      <p:sp>
        <p:nvSpPr>
          <p:cNvPr id="16" name="Stack Docker"/>
          <p:cNvSpPr/>
          <p:nvPr/>
        </p:nvSpPr>
        <p:spPr>
          <a:xfrm>
            <a:off x="841248" y="365760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9848" y="397763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C4FF4"/>
                </a:solidFill>
                <a:latin typeface="Poppins"/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572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Containers</a:t>
            </a:r>
          </a:p>
        </p:txBody>
      </p:sp>
      <p:sp>
        <p:nvSpPr>
          <p:cNvPr id="19" name="Stack Redis"/>
          <p:cNvSpPr/>
          <p:nvPr/>
        </p:nvSpPr>
        <p:spPr>
          <a:xfrm>
            <a:off x="3447288" y="365760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75887" y="397763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366FF"/>
                </a:solidFill>
                <a:latin typeface="Poppins"/>
              </a:rPr>
              <a:t>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4572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Caching</a:t>
            </a:r>
          </a:p>
        </p:txBody>
      </p:sp>
      <p:sp>
        <p:nvSpPr>
          <p:cNvPr id="22" name="Stack RabbitMQ"/>
          <p:cNvSpPr/>
          <p:nvPr/>
        </p:nvSpPr>
        <p:spPr>
          <a:xfrm>
            <a:off x="6053328" y="365760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81928" y="397763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C4FF4"/>
                </a:solidFill>
                <a:latin typeface="Poppins"/>
              </a:rPr>
              <a:t>RabbitMQ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572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Events</a:t>
            </a:r>
          </a:p>
        </p:txBody>
      </p:sp>
      <p:sp>
        <p:nvSpPr>
          <p:cNvPr id="25" name="Stack GitHub Actions"/>
          <p:cNvSpPr/>
          <p:nvPr/>
        </p:nvSpPr>
        <p:spPr>
          <a:xfrm>
            <a:off x="8659368" y="3657600"/>
            <a:ext cx="2423160" cy="1828800"/>
          </a:xfrm>
          <a:prstGeom prst="roundRect">
            <a:avLst>
              <a:gd name="adj" fmla="val 14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87968" y="3977639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366FF"/>
                </a:solidFill>
                <a:latin typeface="Poppins"/>
              </a:rPr>
              <a:t>GitHub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4572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5"/>
                </a:solidFill>
                <a:latin typeface="Poppins"/>
              </a:rPr>
              <a:t>CI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8978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Also: IntelliJ IDEA, Git and GitHub, Postman, JUnit 5, Mockito, Testcontainers, Flyway.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What you'll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Outcomes, and what is core versus optional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By Week 8, you can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Java and problem sol"/>
          <p:cNvSpPr/>
          <p:nvPr/>
        </p:nvSpPr>
        <p:spPr>
          <a:xfrm>
            <a:off x="841248" y="1463040"/>
            <a:ext cx="4983480" cy="21031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Java and problem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Write, debug and test Java with OOP, collections, streams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Solve interview problems by pattern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Apply Builder, Factory, Strategy; explain SOLID</a:t>
            </a:r>
          </a:p>
        </p:txBody>
      </p:sp>
      <p:sp>
        <p:nvSpPr>
          <p:cNvPr id="7" name="Card Data and teamwork"/>
          <p:cNvSpPr/>
          <p:nvPr/>
        </p:nvSpPr>
        <p:spPr>
          <a:xfrm>
            <a:off x="6053328" y="1463040"/>
            <a:ext cx="4983480" cy="210312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5449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Data and teamwork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21408"/>
            <a:ext cx="458114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Write SQL with JOINs, window functions, indexes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Explain transactions (ACID)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Work with branches, pull requests and reviews</a:t>
            </a:r>
          </a:p>
        </p:txBody>
      </p:sp>
      <p:sp>
        <p:nvSpPr>
          <p:cNvPr id="10" name="Card Spring backends"/>
          <p:cNvSpPr/>
          <p:nvPr/>
        </p:nvSpPr>
        <p:spPr>
          <a:xfrm>
            <a:off x="841248" y="3749039"/>
            <a:ext cx="4983480" cy="210312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3950207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Spring backends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407407"/>
            <a:ext cx="458114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Layered REST APIs with DTOs and validation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JPA without N+1, Flyway migrations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JWT security with roles and ownership rules</a:t>
            </a:r>
          </a:p>
        </p:txBody>
      </p:sp>
      <p:sp>
        <p:nvSpPr>
          <p:cNvPr id="13" name="Card Production skills"/>
          <p:cNvSpPr/>
          <p:nvPr/>
        </p:nvSpPr>
        <p:spPr>
          <a:xfrm>
            <a:off x="6053328" y="3749039"/>
            <a:ext cx="4983480" cy="21031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3950207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Production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407407"/>
            <a:ext cx="458114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Unit, slice and Testcontainers tests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Redis caching and RabbitMQ events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Docker, CI, VPS deployment, Actuator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Core, concept-level and after the course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Core (both interns)"/>
          <p:cNvSpPr/>
          <p:nvPr/>
        </p:nvSpPr>
        <p:spPr>
          <a:xfrm>
            <a:off x="841248" y="1508760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Core (both interns)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2843784" cy="3529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Java, OOP, collections, modern Java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SQL, JDBC, Git, HTTP, REST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Spring Boot, JPA, Flyway, Docker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Security, JWT, testing, CI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Redis, RabbitMQ, deployment</a:t>
            </a:r>
          </a:p>
        </p:txBody>
      </p:sp>
      <p:sp>
        <p:nvSpPr>
          <p:cNvPr id="7" name="Card Concept level"/>
          <p:cNvSpPr/>
          <p:nvPr/>
        </p:nvSpPr>
        <p:spPr>
          <a:xfrm>
            <a:off x="4315968" y="1508760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70992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Concept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67128"/>
            <a:ext cx="2843784" cy="3529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Concurrency for Intern A (hands-on for Intern B)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Microservices and API gateways (whiteboard)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Gateway build: optional for Intern B</a:t>
            </a:r>
          </a:p>
        </p:txBody>
      </p:sp>
      <p:sp>
        <p:nvSpPr>
          <p:cNvPr id="10" name="Card After the course"/>
          <p:cNvSpPr/>
          <p:nvPr/>
        </p:nvSpPr>
        <p:spPr>
          <a:xfrm>
            <a:off x="7790688" y="1508760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70992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5B6475"/>
                </a:solidFill>
                <a:latin typeface="Poppins"/>
              </a:rPr>
              <a:t>After the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67128"/>
            <a:ext cx="2843784" cy="3529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Kafka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Kubernetes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GraalVM native images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WebFlux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Gradle, Liquibase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How the 8 weeks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The roadmap, the weekly rhythm and the two tracks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The 8-week roadmap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eek 1"/>
          <p:cNvSpPr/>
          <p:nvPr/>
        </p:nvSpPr>
        <p:spPr>
          <a:xfrm>
            <a:off x="841248" y="146304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27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0116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Java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8803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366FF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Console Calculator</a:t>
            </a:r>
          </a:p>
        </p:txBody>
      </p:sp>
      <p:sp>
        <p:nvSpPr>
          <p:cNvPr id="8" name="Week 2"/>
          <p:cNvSpPr/>
          <p:nvPr/>
        </p:nvSpPr>
        <p:spPr>
          <a:xfrm>
            <a:off x="3447288" y="146304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8456" y="1627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0116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Methods, arrays, 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8803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366FF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Grade Manager</a:t>
            </a:r>
          </a:p>
        </p:txBody>
      </p:sp>
      <p:sp>
        <p:nvSpPr>
          <p:cNvPr id="12" name="Week 3"/>
          <p:cNvSpPr/>
          <p:nvPr/>
        </p:nvSpPr>
        <p:spPr>
          <a:xfrm>
            <a:off x="6053328" y="146304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54496" y="1627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0116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OOP, collections,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8803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366FF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Library System v1</a:t>
            </a:r>
          </a:p>
        </p:txBody>
      </p:sp>
      <p:sp>
        <p:nvSpPr>
          <p:cNvPr id="16" name="Week 4"/>
          <p:cNvSpPr/>
          <p:nvPr/>
        </p:nvSpPr>
        <p:spPr>
          <a:xfrm>
            <a:off x="8659368" y="146304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0536" y="1627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536" y="20116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Modern Java, SQL,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8803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366FF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Library v2 + checkpoint</a:t>
            </a:r>
          </a:p>
        </p:txBody>
      </p:sp>
      <p:sp>
        <p:nvSpPr>
          <p:cNvPr id="20" name="Week 5"/>
          <p:cNvSpPr/>
          <p:nvPr/>
        </p:nvSpPr>
        <p:spPr>
          <a:xfrm>
            <a:off x="841248" y="37033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42416" y="3867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4FF4"/>
                </a:solidFill>
                <a:latin typeface="Poppins"/>
              </a:rPr>
              <a:t>Week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425196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Spring Boot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5120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C4FF4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Individual project final</a:t>
            </a:r>
          </a:p>
        </p:txBody>
      </p:sp>
      <p:sp>
        <p:nvSpPr>
          <p:cNvPr id="24" name="Week 6"/>
          <p:cNvSpPr/>
          <p:nvPr/>
        </p:nvSpPr>
        <p:spPr>
          <a:xfrm>
            <a:off x="3447288" y="37033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48456" y="3867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4FF4"/>
                </a:solidFill>
                <a:latin typeface="Poppins"/>
              </a:rPr>
              <a:t>Week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425196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JPA, Flyway,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456" y="5120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C4FF4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Capstone sprint 1</a:t>
            </a:r>
          </a:p>
        </p:txBody>
      </p:sp>
      <p:sp>
        <p:nvSpPr>
          <p:cNvPr id="28" name="Week 7"/>
          <p:cNvSpPr/>
          <p:nvPr/>
        </p:nvSpPr>
        <p:spPr>
          <a:xfrm>
            <a:off x="6053328" y="37033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54496" y="3867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4FF4"/>
                </a:solidFill>
                <a:latin typeface="Poppins"/>
              </a:rPr>
              <a:t>Week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425196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Security, JWT,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5120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C4FF4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Capstone sprint 2</a:t>
            </a:r>
          </a:p>
        </p:txBody>
      </p:sp>
      <p:sp>
        <p:nvSpPr>
          <p:cNvPr id="32" name="Week 8"/>
          <p:cNvSpPr/>
          <p:nvPr/>
        </p:nvSpPr>
        <p:spPr>
          <a:xfrm>
            <a:off x="8659368" y="370332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860536" y="3867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C4FF4"/>
                </a:solidFill>
                <a:latin typeface="Poppins"/>
              </a:rPr>
              <a:t>Week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425196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Redis, RabbitMQ,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0536" y="5120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C4FF4"/>
                </a:solidFill>
                <a:latin typeface="Poppins"/>
              </a:rPr>
              <a:t>→ </a:t>
            </a:r>
            <a:r>
              <a:rPr sz="1300" b="0" i="0">
                <a:solidFill>
                  <a:srgbClr val="5B6475"/>
                </a:solidFill>
                <a:latin typeface="Poppins"/>
              </a:rPr>
              <a:t>Final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 typical week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ay Sun"/>
          <p:cNvSpPr/>
          <p:nvPr/>
        </p:nvSpPr>
        <p:spPr>
          <a:xfrm>
            <a:off x="841248" y="1600200"/>
            <a:ext cx="1892807" cy="402336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24128" y="1783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366FF"/>
                </a:solidFill>
                <a:latin typeface="Poppins"/>
              </a:rPr>
              <a:t>Sun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6060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3"/>
                </a:solidFill>
                <a:latin typeface="Poppins"/>
              </a:rPr>
              <a:t>Sprint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429000"/>
            <a:ext cx="1600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Tickets go on the board; study and build</a:t>
            </a:r>
          </a:p>
        </p:txBody>
      </p:sp>
      <p:sp>
        <p:nvSpPr>
          <p:cNvPr id="8" name="Day Mon"/>
          <p:cNvSpPr/>
          <p:nvPr/>
        </p:nvSpPr>
        <p:spPr>
          <a:xfrm>
            <a:off x="2916936" y="1600200"/>
            <a:ext cx="1892807" cy="4023360"/>
          </a:xfrm>
          <a:prstGeom prst="roundRect">
            <a:avLst>
              <a:gd name="adj" fmla="val 12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99816" y="1783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6060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Live session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3429000"/>
            <a:ext cx="1600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9:00-13:00, then lab on the topic</a:t>
            </a:r>
          </a:p>
        </p:txBody>
      </p:sp>
      <p:sp>
        <p:nvSpPr>
          <p:cNvPr id="12" name="Day Tue"/>
          <p:cNvSpPr/>
          <p:nvPr/>
        </p:nvSpPr>
        <p:spPr>
          <a:xfrm>
            <a:off x="4992624" y="1600200"/>
            <a:ext cx="1892807" cy="402336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75504" y="1783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366FF"/>
                </a:solidFill>
                <a:latin typeface="Poppins"/>
              </a:rPr>
              <a:t>Tue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6060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3"/>
                </a:solidFill>
                <a:latin typeface="Poppins"/>
              </a:rPr>
              <a:t>Study and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3429000"/>
            <a:ext cx="1600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Videos, problems, tickets</a:t>
            </a:r>
          </a:p>
        </p:txBody>
      </p:sp>
      <p:sp>
        <p:nvSpPr>
          <p:cNvPr id="16" name="Day Wed"/>
          <p:cNvSpPr/>
          <p:nvPr/>
        </p:nvSpPr>
        <p:spPr>
          <a:xfrm>
            <a:off x="7068312" y="1600200"/>
            <a:ext cx="1892807" cy="4023360"/>
          </a:xfrm>
          <a:prstGeom prst="roundRect">
            <a:avLst>
              <a:gd name="adj" fmla="val 12000"/>
            </a:avLst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51192" y="1783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26060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Live session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3429000"/>
            <a:ext cx="1600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9:00-13:00, then lab on the topic</a:t>
            </a:r>
          </a:p>
        </p:txBody>
      </p:sp>
      <p:sp>
        <p:nvSpPr>
          <p:cNvPr id="20" name="Day Thu"/>
          <p:cNvSpPr/>
          <p:nvPr/>
        </p:nvSpPr>
        <p:spPr>
          <a:xfrm>
            <a:off x="9144000" y="1600200"/>
            <a:ext cx="1892807" cy="4023360"/>
          </a:xfrm>
          <a:prstGeom prst="roundRect">
            <a:avLst>
              <a:gd name="adj" fmla="val 12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0" y="1783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E2841"/>
                </a:solidFill>
                <a:latin typeface="Poppins"/>
              </a:rPr>
              <a:t>Thu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6060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3"/>
                </a:solidFill>
                <a:latin typeface="Poppins"/>
              </a:rPr>
              <a:t>Demo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429000"/>
            <a:ext cx="1600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PR reviews, sprint demo, retro, quiz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 typical day (non-session days)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ot Stand-up"/>
          <p:cNvSpPr/>
          <p:nvPr/>
        </p:nvSpPr>
        <p:spPr>
          <a:xfrm>
            <a:off x="841248" y="1600200"/>
            <a:ext cx="1572768" cy="2743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9:00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13898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Stand-up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880360"/>
            <a:ext cx="13533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475"/>
                </a:solidFill>
                <a:latin typeface="Poppins"/>
              </a:rPr>
              <a:t>Yesterday, today, blockers</a:t>
            </a:r>
          </a:p>
        </p:txBody>
      </p:sp>
      <p:sp>
        <p:nvSpPr>
          <p:cNvPr id="8" name="Slot Study"/>
          <p:cNvSpPr/>
          <p:nvPr/>
        </p:nvSpPr>
        <p:spPr>
          <a:xfrm>
            <a:off x="2560320" y="1600200"/>
            <a:ext cx="1572768" cy="274320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60320" y="178308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9:15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31720"/>
            <a:ext cx="13898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880360"/>
            <a:ext cx="13533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475"/>
                </a:solidFill>
                <a:latin typeface="Poppins"/>
              </a:rPr>
              <a:t>Videos and docs, Arabic first</a:t>
            </a:r>
          </a:p>
        </p:txBody>
      </p:sp>
      <p:sp>
        <p:nvSpPr>
          <p:cNvPr id="12" name="Slot Problems"/>
          <p:cNvSpPr/>
          <p:nvPr/>
        </p:nvSpPr>
        <p:spPr>
          <a:xfrm>
            <a:off x="4279392" y="1600200"/>
            <a:ext cx="1572768" cy="2743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79392" y="178308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11:30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2331720"/>
            <a:ext cx="13898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80360"/>
            <a:ext cx="13533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475"/>
                </a:solidFill>
                <a:latin typeface="Poppins"/>
              </a:rPr>
              <a:t>2-3 from the weekly sheet</a:t>
            </a:r>
          </a:p>
        </p:txBody>
      </p:sp>
      <p:sp>
        <p:nvSpPr>
          <p:cNvPr id="16" name="Slot Break"/>
          <p:cNvSpPr/>
          <p:nvPr/>
        </p:nvSpPr>
        <p:spPr>
          <a:xfrm>
            <a:off x="5998464" y="1600200"/>
            <a:ext cx="1572768" cy="274320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98464" y="178308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5B6475"/>
                </a:solidFill>
                <a:latin typeface="Poppins"/>
              </a:rPr>
              <a:t>13:00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3" y="2331720"/>
            <a:ext cx="13898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Break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880360"/>
            <a:ext cx="13533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</a:p>
        </p:txBody>
      </p:sp>
      <p:sp>
        <p:nvSpPr>
          <p:cNvPr id="20" name="Slot Build"/>
          <p:cNvSpPr/>
          <p:nvPr/>
        </p:nvSpPr>
        <p:spPr>
          <a:xfrm>
            <a:off x="7717536" y="1600200"/>
            <a:ext cx="1572768" cy="2743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17536" y="178308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14:00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2331720"/>
            <a:ext cx="13898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3" y="2880360"/>
            <a:ext cx="13533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475"/>
                </a:solidFill>
                <a:latin typeface="Poppins"/>
              </a:rPr>
              <a:t>Tickets, pull requests, tests</a:t>
            </a:r>
          </a:p>
        </p:txBody>
      </p:sp>
      <p:sp>
        <p:nvSpPr>
          <p:cNvPr id="24" name="Slot Wrap-up"/>
          <p:cNvSpPr/>
          <p:nvPr/>
        </p:nvSpPr>
        <p:spPr>
          <a:xfrm>
            <a:off x="9436607" y="1600200"/>
            <a:ext cx="1572768" cy="274320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436607" y="178308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16:45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7" y="2331720"/>
            <a:ext cx="13898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B2433"/>
                </a:solidFill>
                <a:latin typeface="Poppins"/>
              </a:rPr>
              <a:t>Wrap-up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5" y="2880360"/>
            <a:ext cx="13533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475"/>
                </a:solidFill>
                <a:latin typeface="Poppins"/>
              </a:rPr>
              <a:t>Push code, 3-line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617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Hours per week</a:t>
            </a:r>
          </a:p>
        </p:txBody>
      </p:sp>
      <p:sp>
        <p:nvSpPr>
          <p:cNvPr id="29" name="Hours Live"/>
          <p:cNvSpPr/>
          <p:nvPr/>
        </p:nvSpPr>
        <p:spPr>
          <a:xfrm>
            <a:off x="841248" y="5029200"/>
            <a:ext cx="1892807" cy="822960"/>
          </a:xfrm>
          <a:prstGeom prst="roundRect">
            <a:avLst>
              <a:gd name="adj" fmla="val 2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8" y="5029200"/>
            <a:ext cx="18928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8 h 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Live</a:t>
            </a:r>
          </a:p>
        </p:txBody>
      </p:sp>
      <p:sp>
        <p:nvSpPr>
          <p:cNvPr id="31" name="Hours Study"/>
          <p:cNvSpPr/>
          <p:nvPr/>
        </p:nvSpPr>
        <p:spPr>
          <a:xfrm>
            <a:off x="2916936" y="5029200"/>
            <a:ext cx="1892807" cy="822960"/>
          </a:xfrm>
          <a:prstGeom prst="roundRect">
            <a:avLst>
              <a:gd name="adj" fmla="val 2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16936" y="5029200"/>
            <a:ext cx="18928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9 h 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Study</a:t>
            </a:r>
          </a:p>
        </p:txBody>
      </p:sp>
      <p:sp>
        <p:nvSpPr>
          <p:cNvPr id="33" name="Hours Build"/>
          <p:cNvSpPr/>
          <p:nvPr/>
        </p:nvSpPr>
        <p:spPr>
          <a:xfrm>
            <a:off x="4992624" y="5029200"/>
            <a:ext cx="1892807" cy="822960"/>
          </a:xfrm>
          <a:prstGeom prst="roundRect">
            <a:avLst>
              <a:gd name="adj" fmla="val 2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992624" y="5029200"/>
            <a:ext cx="18928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16 h 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Build</a:t>
            </a:r>
          </a:p>
        </p:txBody>
      </p:sp>
      <p:sp>
        <p:nvSpPr>
          <p:cNvPr id="35" name="Hours Problems"/>
          <p:cNvSpPr/>
          <p:nvPr/>
        </p:nvSpPr>
        <p:spPr>
          <a:xfrm>
            <a:off x="7068312" y="5029200"/>
            <a:ext cx="1892807" cy="822960"/>
          </a:xfrm>
          <a:prstGeom prst="roundRect">
            <a:avLst>
              <a:gd name="adj" fmla="val 2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68312" y="5029200"/>
            <a:ext cx="18928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5 h 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Problems</a:t>
            </a:r>
          </a:p>
        </p:txBody>
      </p:sp>
      <p:sp>
        <p:nvSpPr>
          <p:cNvPr id="37" name="Hours Team"/>
          <p:cNvSpPr/>
          <p:nvPr/>
        </p:nvSpPr>
        <p:spPr>
          <a:xfrm>
            <a:off x="9144000" y="5029200"/>
            <a:ext cx="1892807" cy="822960"/>
          </a:xfrm>
          <a:prstGeom prst="roundRect">
            <a:avLst>
              <a:gd name="adj" fmla="val 2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0" y="5029200"/>
            <a:ext cx="18928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2 h 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Two tracks, one team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463040"/>
          <a:ext cx="1024128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4297680"/>
              </a:tblGrid>
              <a:tr h="62179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Intern A (non-CS)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Intern B (CS, .NET)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</a:tr>
              <a:tr h="62179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Weeks 1-2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Full plan as written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Java for C# devs in 3-4 days, then OOP and streams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62179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Weeks 3-4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Full plan; extra SQL and JDBC instead of concurrency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Library v1-v3 in Week 3; concurrency, early Spring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Live sessions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All sessions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Weeks 1-2: Java-specific parts; all from Week 3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62179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Weeks 5-8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Pair capstone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Pair capstone + messaging, Docker; optional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Problems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~70, mostly Easy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~110, mostly Medium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62179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First job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Internships, trainee, 0-1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Junior roles, .NET + Java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Pairing rules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 hour a day"/>
          <p:cNvSpPr/>
          <p:nvPr/>
        </p:nvSpPr>
        <p:spPr>
          <a:xfrm>
            <a:off x="841248" y="146304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1 hour a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Intern B helps for up to an hour daily, by reviewing and asking questions, never by typing A's code.</a:t>
            </a:r>
          </a:p>
        </p:txBody>
      </p:sp>
      <p:sp>
        <p:nvSpPr>
          <p:cNvPr id="7" name="Card A drives"/>
          <p:cNvSpPr/>
          <p:nvPr/>
        </p:nvSpPr>
        <p:spPr>
          <a:xfrm>
            <a:off x="6053328" y="146304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5449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A drives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21408"/>
            <a:ext cx="458114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In pair programming, Intern A types and Intern B navigates.</a:t>
            </a:r>
          </a:p>
        </p:txBody>
      </p:sp>
      <p:sp>
        <p:nvSpPr>
          <p:cNvPr id="10" name="Card Review each other"/>
          <p:cNvSpPr/>
          <p:nvPr/>
        </p:nvSpPr>
        <p:spPr>
          <a:xfrm>
            <a:off x="841248" y="370332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390448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2841"/>
                </a:solidFill>
                <a:latin typeface="Poppins"/>
              </a:rPr>
              <a:t>Review each 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361688"/>
            <a:ext cx="458114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From Week 3, every pull request needs the other intern's approval.</a:t>
            </a:r>
          </a:p>
        </p:txBody>
      </p:sp>
      <p:sp>
        <p:nvSpPr>
          <p:cNvPr id="13" name="Card Explain-back"/>
          <p:cNvSpPr/>
          <p:nvPr/>
        </p:nvSpPr>
        <p:spPr>
          <a:xfrm>
            <a:off x="6053328" y="370332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390448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Explain-back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361688"/>
            <a:ext cx="458114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At each demo, A explains a design decision by B, and B explains a test written by 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Working like a real team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ard To do"/>
          <p:cNvSpPr/>
          <p:nvPr/>
        </p:nvSpPr>
        <p:spPr>
          <a:xfrm>
            <a:off x="841248" y="1554480"/>
            <a:ext cx="1645920" cy="29260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To do</a:t>
            </a:r>
          </a:p>
        </p:txBody>
      </p:sp>
      <p:sp>
        <p:nvSpPr>
          <p:cNvPr id="6" name="Ticket To do0"/>
          <p:cNvSpPr/>
          <p:nvPr/>
        </p:nvSpPr>
        <p:spPr>
          <a:xfrm>
            <a:off x="978408" y="214884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icket To do1"/>
          <p:cNvSpPr/>
          <p:nvPr/>
        </p:nvSpPr>
        <p:spPr>
          <a:xfrm>
            <a:off x="978408" y="286207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icket To do2"/>
          <p:cNvSpPr/>
          <p:nvPr/>
        </p:nvSpPr>
        <p:spPr>
          <a:xfrm>
            <a:off x="978408" y="3575304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oard In progress"/>
          <p:cNvSpPr/>
          <p:nvPr/>
        </p:nvSpPr>
        <p:spPr>
          <a:xfrm>
            <a:off x="2670048" y="1554480"/>
            <a:ext cx="1645920" cy="29260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70048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In progress</a:t>
            </a:r>
          </a:p>
        </p:txBody>
      </p:sp>
      <p:sp>
        <p:nvSpPr>
          <p:cNvPr id="11" name="Ticket In progress0"/>
          <p:cNvSpPr/>
          <p:nvPr/>
        </p:nvSpPr>
        <p:spPr>
          <a:xfrm>
            <a:off x="2807208" y="214884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icket In progress1"/>
          <p:cNvSpPr/>
          <p:nvPr/>
        </p:nvSpPr>
        <p:spPr>
          <a:xfrm>
            <a:off x="2807208" y="286207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ard In review"/>
          <p:cNvSpPr/>
          <p:nvPr/>
        </p:nvSpPr>
        <p:spPr>
          <a:xfrm>
            <a:off x="4498848" y="1554480"/>
            <a:ext cx="1645920" cy="29260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98848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In review</a:t>
            </a:r>
          </a:p>
        </p:txBody>
      </p:sp>
      <p:sp>
        <p:nvSpPr>
          <p:cNvPr id="15" name="Ticket In review0"/>
          <p:cNvSpPr/>
          <p:nvPr/>
        </p:nvSpPr>
        <p:spPr>
          <a:xfrm>
            <a:off x="4636008" y="214884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icket In review1"/>
          <p:cNvSpPr/>
          <p:nvPr/>
        </p:nvSpPr>
        <p:spPr>
          <a:xfrm>
            <a:off x="4636008" y="286207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icket In review2"/>
          <p:cNvSpPr/>
          <p:nvPr/>
        </p:nvSpPr>
        <p:spPr>
          <a:xfrm>
            <a:off x="4636008" y="3575304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oard Done"/>
          <p:cNvSpPr/>
          <p:nvPr/>
        </p:nvSpPr>
        <p:spPr>
          <a:xfrm>
            <a:off x="6327648" y="1554480"/>
            <a:ext cx="1645920" cy="29260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27648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366FF"/>
                </a:solidFill>
                <a:latin typeface="Poppins"/>
              </a:rPr>
              <a:t>Done</a:t>
            </a:r>
          </a:p>
        </p:txBody>
      </p:sp>
      <p:sp>
        <p:nvSpPr>
          <p:cNvPr id="20" name="Ticket Done0"/>
          <p:cNvSpPr/>
          <p:nvPr/>
        </p:nvSpPr>
        <p:spPr>
          <a:xfrm>
            <a:off x="6464808" y="214884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icket Done1"/>
          <p:cNvSpPr/>
          <p:nvPr/>
        </p:nvSpPr>
        <p:spPr>
          <a:xfrm>
            <a:off x="6464808" y="286207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46634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GitHub Projects board, one-week sprints</a:t>
            </a:r>
          </a:p>
        </p:txBody>
      </p:sp>
      <p:sp>
        <p:nvSpPr>
          <p:cNvPr id="23" name="Card Rules"/>
          <p:cNvSpPr/>
          <p:nvPr/>
        </p:nvSpPr>
        <p:spPr>
          <a:xfrm>
            <a:off x="8275320" y="1554480"/>
            <a:ext cx="2807208" cy="4297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76488" y="1755648"/>
            <a:ext cx="2404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212848"/>
            <a:ext cx="2404872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Protected main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Small pull requests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One approval to merge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Daily commit + log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Thursday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One individual project and one pair capstone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Individual project: the Library System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4208" y="1554480"/>
            <a:ext cx="777240" cy="77724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v1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32888" y="1938528"/>
            <a:ext cx="1645920" cy="0"/>
          </a:xfrm>
          <a:prstGeom prst="line">
            <a:avLst/>
          </a:prstGeom>
          <a:ln w="25400">
            <a:solidFill>
              <a:srgbClr val="8D9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5146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26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Console app, collections, custom exceptions</a:t>
            </a:r>
          </a:p>
        </p:txBody>
      </p:sp>
      <p:sp>
        <p:nvSpPr>
          <p:cNvPr id="8" name="Oval 7"/>
          <p:cNvSpPr/>
          <p:nvPr/>
        </p:nvSpPr>
        <p:spPr>
          <a:xfrm>
            <a:off x="4270248" y="1554480"/>
            <a:ext cx="777240" cy="777240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v2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38928" y="1938528"/>
            <a:ext cx="1645920" cy="0"/>
          </a:xfrm>
          <a:prstGeom prst="line">
            <a:avLst/>
          </a:prstGeom>
          <a:ln w="25400">
            <a:solidFill>
              <a:srgbClr val="8D9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47288" y="25146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C4FF4"/>
                </a:solidFill>
                <a:latin typeface="Poppins"/>
              </a:rPr>
              <a:t>Week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926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Maven, records, streams, 15+ JUnit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6876288" y="1554480"/>
            <a:ext cx="777240" cy="77724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v3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44968" y="1938528"/>
            <a:ext cx="1645920" cy="0"/>
          </a:xfrm>
          <a:prstGeom prst="line">
            <a:avLst/>
          </a:prstGeom>
          <a:ln w="25400">
            <a:solidFill>
              <a:srgbClr val="8D9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53328" y="25146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926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REST API, DTOs, validation, Swagger</a:t>
            </a:r>
          </a:p>
        </p:txBody>
      </p:sp>
      <p:sp>
        <p:nvSpPr>
          <p:cNvPr id="16" name="Oval 15"/>
          <p:cNvSpPr/>
          <p:nvPr/>
        </p:nvSpPr>
        <p:spPr>
          <a:xfrm>
            <a:off x="9482328" y="1554480"/>
            <a:ext cx="777240" cy="777240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v4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5146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C4FF4"/>
                </a:solidFill>
                <a:latin typeface="Poppins"/>
              </a:rPr>
              <a:t>Week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29260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PostgreSQL, JPA, Flyway, Docker Compose</a:t>
            </a:r>
          </a:p>
        </p:txBody>
      </p:sp>
      <p:sp>
        <p:nvSpPr>
          <p:cNvPr id="19" name="Rubric band"/>
          <p:cNvSpPr/>
          <p:nvPr/>
        </p:nvSpPr>
        <p:spPr>
          <a:xfrm>
            <a:off x="841248" y="4572000"/>
            <a:ext cx="10241280" cy="12344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97840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Graded out of 100: </a:t>
            </a:r>
            <a:r>
              <a:rPr sz="1500" b="0" i="0">
                <a:solidFill>
                  <a:srgbClr val="1B2433"/>
                </a:solidFill>
                <a:latin typeface="Poppins"/>
              </a:rPr>
              <a:t>works as specified 35 · structure 20 · tests 20 · Git and PRs 10 · README 10 · on time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Pair capstone: pick one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ClinicBook"/>
          <p:cNvSpPr/>
          <p:nvPr/>
        </p:nvSpPr>
        <p:spPr>
          <a:xfrm>
            <a:off x="841248" y="1554480"/>
            <a:ext cx="2423160" cy="42062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55648"/>
            <a:ext cx="2020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366FF"/>
                </a:solidFill>
                <a:latin typeface="Poppins"/>
              </a:rPr>
              <a:t>ClinicBook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212848"/>
            <a:ext cx="2020824" cy="3346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Appointment booking: doctors, patients, time slots, no double booking.</a:t>
            </a:r>
          </a:p>
        </p:txBody>
      </p:sp>
      <p:sp>
        <p:nvSpPr>
          <p:cNvPr id="7" name="Card ShopLite"/>
          <p:cNvSpPr/>
          <p:nvPr/>
        </p:nvSpPr>
        <p:spPr>
          <a:xfrm>
            <a:off x="3447288" y="1554480"/>
            <a:ext cx="2423160" cy="420624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48456" y="1755648"/>
            <a:ext cx="2020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C4FF4"/>
                </a:solidFill>
                <a:latin typeface="Poppins"/>
              </a:rPr>
              <a:t>ShopLite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212848"/>
            <a:ext cx="2020824" cy="3346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E-commerce backend: products, cart, orders, stock in one transaction.</a:t>
            </a:r>
          </a:p>
        </p:txBody>
      </p:sp>
      <p:sp>
        <p:nvSpPr>
          <p:cNvPr id="10" name="Card TaskHub"/>
          <p:cNvSpPr/>
          <p:nvPr/>
        </p:nvSpPr>
        <p:spPr>
          <a:xfrm>
            <a:off x="6053328" y="1554480"/>
            <a:ext cx="2423160" cy="420624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54496" y="1755648"/>
            <a:ext cx="2020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366FF"/>
                </a:solidFill>
                <a:latin typeface="Poppins"/>
              </a:rPr>
              <a:t>TaskHub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212848"/>
            <a:ext cx="2020824" cy="3346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Team task manager: workspaces, roles, tasks, comments.</a:t>
            </a:r>
          </a:p>
        </p:txBody>
      </p:sp>
      <p:sp>
        <p:nvSpPr>
          <p:cNvPr id="13" name="Card EventPass"/>
          <p:cNvSpPr/>
          <p:nvPr/>
        </p:nvSpPr>
        <p:spPr>
          <a:xfrm>
            <a:off x="8659368" y="1554480"/>
            <a:ext cx="2423160" cy="42062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0536" y="1755648"/>
            <a:ext cx="2020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C4FF4"/>
                </a:solidFill>
                <a:latin typeface="Poppins"/>
              </a:rPr>
              <a:t>EventPass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2212848"/>
            <a:ext cx="2020824" cy="3346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Event ticketing: events, ticket types, purchases, capacity limits.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Capstone requirements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q Domain"/>
          <p:cNvSpPr/>
          <p:nvPr/>
        </p:nvSpPr>
        <p:spPr>
          <a:xfrm>
            <a:off x="841248" y="146304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45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4884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6+ entities, one-to-many and many-to-many</a:t>
            </a:r>
          </a:p>
        </p:txBody>
      </p:sp>
      <p:sp>
        <p:nvSpPr>
          <p:cNvPr id="7" name="Req API"/>
          <p:cNvSpPr/>
          <p:nvPr/>
        </p:nvSpPr>
        <p:spPr>
          <a:xfrm>
            <a:off x="3447288" y="146304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48456" y="1645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14884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20+ endpoints, DTOs, validation, Swagger</a:t>
            </a:r>
          </a:p>
        </p:txBody>
      </p:sp>
      <p:sp>
        <p:nvSpPr>
          <p:cNvPr id="10" name="Req Data"/>
          <p:cNvSpPr/>
          <p:nvPr/>
        </p:nvSpPr>
        <p:spPr>
          <a:xfrm>
            <a:off x="6053328" y="146304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54496" y="1645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14884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PostgreSQL, 5+ Flyway migrations, pagination</a:t>
            </a:r>
          </a:p>
        </p:txBody>
      </p:sp>
      <p:sp>
        <p:nvSpPr>
          <p:cNvPr id="13" name="Req Security"/>
          <p:cNvSpPr/>
          <p:nvPr/>
        </p:nvSpPr>
        <p:spPr>
          <a:xfrm>
            <a:off x="8659368" y="146304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0536" y="1645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214884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JWT access + refresh, 2 roles, ownership rule</a:t>
            </a:r>
          </a:p>
        </p:txBody>
      </p:sp>
      <p:sp>
        <p:nvSpPr>
          <p:cNvPr id="16" name="Req Caching"/>
          <p:cNvSpPr/>
          <p:nvPr/>
        </p:nvSpPr>
        <p:spPr>
          <a:xfrm>
            <a:off x="841248" y="370332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42416" y="3886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Caching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Redis on a read-heavy endpoint, with eviction</a:t>
            </a:r>
          </a:p>
        </p:txBody>
      </p:sp>
      <p:sp>
        <p:nvSpPr>
          <p:cNvPr id="19" name="Req Events"/>
          <p:cNvSpPr/>
          <p:nvPr/>
        </p:nvSpPr>
        <p:spPr>
          <a:xfrm>
            <a:off x="3447288" y="370332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48456" y="3886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RabbitMQ event to a notification module</a:t>
            </a:r>
          </a:p>
        </p:txBody>
      </p:sp>
      <p:sp>
        <p:nvSpPr>
          <p:cNvPr id="22" name="Req Tests"/>
          <p:cNvSpPr/>
          <p:nvPr/>
        </p:nvSpPr>
        <p:spPr>
          <a:xfrm>
            <a:off x="6053328" y="370332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54496" y="3886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30+ tests incl. Testcontainers, CI green</a:t>
            </a:r>
          </a:p>
        </p:txBody>
      </p:sp>
      <p:sp>
        <p:nvSpPr>
          <p:cNvPr id="25" name="Req Delivery"/>
          <p:cNvSpPr/>
          <p:nvPr/>
        </p:nvSpPr>
        <p:spPr>
          <a:xfrm>
            <a:off x="8659368" y="3703320"/>
            <a:ext cx="2423160" cy="201168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0536" y="3886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438912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Docker Compose on a VPS, public URL, health check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Three sprints, split by feature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 1"/>
          <p:cNvSpPr/>
          <p:nvPr/>
        </p:nvSpPr>
        <p:spPr>
          <a:xfrm>
            <a:off x="841248" y="1508760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9848" y="1645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Sprint 1 · 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Entities, migrations, CRUD, Docker Compose</a:t>
            </a:r>
          </a:p>
        </p:txBody>
      </p:sp>
      <p:sp>
        <p:nvSpPr>
          <p:cNvPr id="7" name="Sprint 2"/>
          <p:cNvSpPr/>
          <p:nvPr/>
        </p:nvSpPr>
        <p:spPr>
          <a:xfrm>
            <a:off x="4315968" y="1508760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44568" y="1645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Sprint 2 · Week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1488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Security, refresh tokens, 30+ tests, CI</a:t>
            </a:r>
          </a:p>
        </p:txBody>
      </p:sp>
      <p:sp>
        <p:nvSpPr>
          <p:cNvPr id="10" name="Sprint 3"/>
          <p:cNvSpPr/>
          <p:nvPr/>
        </p:nvSpPr>
        <p:spPr>
          <a:xfrm>
            <a:off x="7790688" y="1508760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19288" y="1645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Sprint 3 ·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1488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Redis, RabbitMQ, VPS deployment, final demo</a:t>
            </a:r>
          </a:p>
        </p:txBody>
      </p:sp>
      <p:sp>
        <p:nvSpPr>
          <p:cNvPr id="13" name="Card Intern A owns"/>
          <p:cNvSpPr/>
          <p:nvPr/>
        </p:nvSpPr>
        <p:spPr>
          <a:xfrm>
            <a:off x="841248" y="3429000"/>
            <a:ext cx="4983480" cy="24231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4241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Intern A owns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087368"/>
            <a:ext cx="458114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Doctor and Appointment Booking slice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Entities to controller, rules, tests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Its cache</a:t>
            </a:r>
          </a:p>
        </p:txBody>
      </p:sp>
      <p:sp>
        <p:nvSpPr>
          <p:cNvPr id="16" name="Card Intern B owns"/>
          <p:cNvSpPr/>
          <p:nvPr/>
        </p:nvSpPr>
        <p:spPr>
          <a:xfrm>
            <a:off x="6099048" y="3429000"/>
            <a:ext cx="4983480" cy="242316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021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Intern B 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4087368"/>
            <a:ext cx="458114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Patient and Billing slice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RabbitMQ notification module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500" b="0" i="0">
                <a:solidFill>
                  <a:srgbClr val="1B2433"/>
                </a:solidFill>
                <a:latin typeface="Poppins"/>
              </a:rPr>
              <a:t>Docker setup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How you're assessed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Weights, the capstone rubric and completion tiers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What counts toward your grade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41248" y="1463040"/>
          <a:ext cx="67665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Card How it's measured"/>
          <p:cNvSpPr/>
          <p:nvPr/>
        </p:nvSpPr>
        <p:spPr>
          <a:xfrm>
            <a:off x="7909560" y="1463040"/>
            <a:ext cx="3154680" cy="44805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10728" y="1664208"/>
            <a:ext cx="27523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366FF"/>
                </a:solidFill>
                <a:latin typeface="Poppins"/>
              </a:rPr>
              <a:t>How it's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0728" y="2121408"/>
            <a:ext cx="2752344" cy="3621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300" b="0" i="0">
                <a:solidFill>
                  <a:srgbClr val="1B2433"/>
                </a:solidFill>
                <a:latin typeface="Poppins"/>
              </a:rPr>
              <a:t>Capstone: rubric ± 15% individual adjustment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300" b="0" i="0">
                <a:solidFill>
                  <a:srgbClr val="1B2433"/>
                </a:solidFill>
                <a:latin typeface="Poppins"/>
              </a:rPr>
              <a:t>Process: commits, logs, PR quality, reviews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300" b="0" i="0">
                <a:solidFill>
                  <a:srgbClr val="1B2433"/>
                </a:solidFill>
                <a:latin typeface="Poppins"/>
              </a:rPr>
              <a:t>Mock interviews: Weeks 4, 7, 8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300" b="0" i="0">
                <a:solidFill>
                  <a:srgbClr val="1B2433"/>
                </a:solidFill>
                <a:latin typeface="Poppins"/>
              </a:rPr>
              <a:t>Problems: checked every Thursday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Capstone rubric (100 points)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41732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1371600"/>
              </a:tblGrid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Criterion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Points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Functionality and API design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Testing and CI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Data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Caching and messaging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Architecture and code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Delivery (Docker, VPS, health)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Team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Documentation and demo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Card Individual adjustmen"/>
          <p:cNvSpPr/>
          <p:nvPr/>
        </p:nvSpPr>
        <p:spPr>
          <a:xfrm>
            <a:off x="8092440" y="1417320"/>
            <a:ext cx="2990088" cy="438912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93608" y="1618488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C4FF4"/>
                </a:solidFill>
                <a:latin typeface="Poppins"/>
              </a:rPr>
              <a:t>Individual adjustment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8" y="2075688"/>
            <a:ext cx="2587752" cy="3529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Up to ±15%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Based on your own pull requests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5-minute oral defense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>
                <a:solidFill>
                  <a:srgbClr val="1B2433"/>
                </a:solidFill>
                <a:latin typeface="Poppins"/>
              </a:rPr>
              <a:t>Explain every line you submit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Completion tiers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er Distinction"/>
          <p:cNvSpPr/>
          <p:nvPr/>
        </p:nvSpPr>
        <p:spPr>
          <a:xfrm>
            <a:off x="841248" y="1554480"/>
            <a:ext cx="3246120" cy="3108960"/>
          </a:xfrm>
          <a:prstGeom prst="roundRect">
            <a:avLst>
              <a:gd name="adj" fmla="val 12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85%+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Poppins"/>
              </a:rPr>
              <a:t>Distinction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20040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Recommended for referral to hiring partners</a:t>
            </a:r>
          </a:p>
        </p:txBody>
      </p:sp>
      <p:sp>
        <p:nvSpPr>
          <p:cNvPr id="8" name="Tier Pass"/>
          <p:cNvSpPr/>
          <p:nvPr/>
        </p:nvSpPr>
        <p:spPr>
          <a:xfrm>
            <a:off x="4315968" y="1554480"/>
            <a:ext cx="3246120" cy="310896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15968" y="178308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8C4FF4"/>
                </a:solidFill>
                <a:latin typeface="Poppins"/>
              </a:rPr>
              <a:t>70-84%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6517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20040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Certificate plus a personal improvement list</a:t>
            </a:r>
          </a:p>
        </p:txBody>
      </p:sp>
      <p:sp>
        <p:nvSpPr>
          <p:cNvPr id="12" name="Tier Attendance"/>
          <p:cNvSpPr/>
          <p:nvPr/>
        </p:nvSpPr>
        <p:spPr>
          <a:xfrm>
            <a:off x="7790688" y="1554480"/>
            <a:ext cx="3246120" cy="310896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90688" y="178308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0E2841"/>
                </a:solidFill>
                <a:latin typeface="Poppins"/>
              </a:rPr>
              <a:t>&lt; 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6517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B2433"/>
                </a:solidFill>
                <a:latin typeface="Poppins"/>
              </a:rPr>
              <a:t>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320040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Certificate of attendance plus a 4-week remediation plan</a:t>
            </a:r>
          </a:p>
        </p:txBody>
      </p:sp>
      <p:sp>
        <p:nvSpPr>
          <p:cNvPr id="16" name="Warning band"/>
          <p:cNvSpPr/>
          <p:nvPr/>
        </p:nvSpPr>
        <p:spPr>
          <a:xfrm>
            <a:off x="841248" y="4983480"/>
            <a:ext cx="10241280" cy="868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9784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Early warning: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below 60% at the Week 4 checkpoint means a 1:1 and a catch-up plan.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Tools and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Your setup, where to learn, and how to practice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Your setup, in stages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417320"/>
          <a:ext cx="10241280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  <a:gridCol w="2011680"/>
              </a:tblGrid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Tool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Notes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Needed from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JDK 25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Eclipse Temurin 25 or Oracle JDK 25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IntelliJ 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Or VS Code with Java extensions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Git + GitHub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SSH key, cohort GitHub organization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Maven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Through the project's mvnw wrapper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Docker + PostgreSQL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Docker Desktop or Engine; DBeaver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4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Postman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Or Bruno / IntelliJ HTTP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Spring Boot 4.1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From start.spring.io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84632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Redis, RabbitMQ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As containers in compose.yaml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3"/>
                          </a:solidFill>
                          <a:latin typeface="Poppins"/>
                        </a:rPr>
                        <a:t>Week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8978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Downloads:  </a:t>
            </a:r>
            <a:r>
              <a:rPr sz="1400" b="0" i="0" u="sng">
                <a:solidFill>
                  <a:srgbClr val="0366FF"/>
                </a:solidFill>
                <a:latin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Temurin JDK</a:t>
            </a:r>
            <a:r>
              <a:rPr sz="1400" b="0" i="0">
                <a:solidFill>
                  <a:srgbClr val="1B2433"/>
                </a:solidFill>
                <a:latin typeface="Poppins"/>
              </a:rPr>
              <a:t>  ·  </a:t>
            </a:r>
            <a:r>
              <a:rPr sz="1400" b="0" i="0" u="sng">
                <a:solidFill>
                  <a:srgbClr val="0366FF"/>
                </a:solidFill>
                <a:latin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IntelliJ IDEA</a:t>
            </a:r>
            <a:r>
              <a:rPr sz="1400" b="0" i="0">
                <a:solidFill>
                  <a:srgbClr val="1B2433"/>
                </a:solidFill>
                <a:latin typeface="Poppins"/>
              </a:rPr>
              <a:t>  ·  </a:t>
            </a:r>
            <a:r>
              <a:rPr sz="1400" b="0" i="0" u="sng">
                <a:solidFill>
                  <a:srgbClr val="0366FF"/>
                </a:solidFill>
                <a:latin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r>
              <a:rPr sz="1400" b="0" i="0">
                <a:solidFill>
                  <a:srgbClr val="1B2433"/>
                </a:solidFill>
                <a:latin typeface="Poppins"/>
              </a:rPr>
              <a:t>  ·  </a:t>
            </a:r>
            <a:r>
              <a:rPr sz="1400" b="0" i="0" u="sng">
                <a:solidFill>
                  <a:srgbClr val="0366FF"/>
                </a:solidFill>
                <a:latin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 Initializr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Where to learn (Arabic first)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Arabic"/>
          <p:cNvSpPr/>
          <p:nvPr/>
        </p:nvSpPr>
        <p:spPr>
          <a:xfrm>
            <a:off x="841248" y="1463040"/>
            <a:ext cx="4983480" cy="3657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366FF"/>
                </a:solidFill>
                <a:latin typeface="Poppins"/>
              </a:rPr>
              <a:t>Arabic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Java basics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OOP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Mohamed Shoshan: Java Level 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Elzero: Git and GitHub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Elzero: MySQL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Abd AbuGhazaleh: Spring Boot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Abd AbuGhazaleh: Docker</a:t>
            </a:r>
          </a:p>
        </p:txBody>
      </p:sp>
      <p:sp>
        <p:nvSpPr>
          <p:cNvPr id="7" name="Card English"/>
          <p:cNvSpPr/>
          <p:nvPr/>
        </p:nvSpPr>
        <p:spPr>
          <a:xfrm>
            <a:off x="6099048" y="1463040"/>
            <a:ext cx="4983480" cy="365760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02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2121408"/>
            <a:ext cx="4581144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 Learn (official)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roadmap.sh: Java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 guides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Baeldung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 Vega: Spring Boot crash course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Amigoscode on freeCodeCamp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400" b="0" i="0" u="sng">
                <a:solidFill>
                  <a:srgbClr val="0366FF"/>
                </a:solidFill>
                <a:latin typeface="Poppins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Testcontainers quickstart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3492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5"/>
                </a:solidFill>
                <a:latin typeface="Poppins"/>
              </a:rPr>
              <a:t>Every session deck has a Resources slide with the links for that day. Full list: </a:t>
            </a:r>
            <a:r>
              <a:rPr sz="1400" b="0" i="0" u="sng">
                <a:solidFill>
                  <a:srgbClr val="0366FF"/>
                </a:solidFill>
                <a:latin typeface="Poppins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 document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Resource library by week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417320"/>
          <a:ext cx="102412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480560"/>
                <a:gridCol w="4480560"/>
              </a:tblGrid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Week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Arabic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Poppins"/>
                        </a:rPr>
                        <a:t>English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1-2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Adel Nasim: Java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dev.java Learn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Adel Nasim: 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dev.java: Classes, Generics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1-3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Elzero: Git and GitHub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roadmap.sh: Java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Elzero: 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Baeldung: records, streams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Abd AbuGhazaleh: Spring Boot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Spring guide: REST service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Spring Data course (free)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Spring guide: JPA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abolkog: Security and JWT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Spring Boot: Testcontainers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0366FF"/>
                          </a:solidFill>
                          <a:latin typeface="Poppin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Abd AbuGhazaleh: 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u="sng">
                          <a:solidFill>
                            <a:srgbClr val="0366FF"/>
                          </a:solidFill>
                          <a:latin typeface="Poppin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Spring guides: Docker, RabbitMQ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Practice: quality over volume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463040"/>
          <a:ext cx="102412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  <a:gridCol w="2468880"/>
                <a:gridCol w="2468880"/>
              </a:tblGrid>
              <a:tr h="56692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Poppins"/>
                        </a:rPr>
                        <a:t>Weeks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Poppins"/>
                        </a:rPr>
                        <a:t>Focus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Poppins"/>
                        </a:rPr>
                        <a:t>Intern A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Poppins"/>
                        </a:rPr>
                        <a:t>Intern B</a:t>
                      </a:r>
                    </a:p>
                  </a:txBody>
                  <a:tcPr>
                    <a:solidFill>
                      <a:srgbClr val="0366FF"/>
                    </a:solidFill>
                  </a:tcPr>
                </a:tc>
              </a:tr>
              <a:tr h="56692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0366FF"/>
                          </a:solidFill>
                          <a:latin typeface="Poppins"/>
                        </a:rPr>
                        <a:t>Weeks 1-2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 u="sng">
                          <a:solidFill>
                            <a:srgbClr val="0366FF"/>
                          </a:solidFill>
                          <a:latin typeface="Poppin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CodingBat</a:t>
                      </a: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, </a:t>
                      </a:r>
                      <a:r>
                        <a:rPr sz="1500" b="0" i="0" u="sng">
                          <a:solidFill>
                            <a:srgbClr val="0366FF"/>
                          </a:solidFill>
                          <a:latin typeface="Poppi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Exercism</a:t>
                      </a: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 warm-ups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Daily, not counted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Skipped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6692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0366FF"/>
                          </a:solidFill>
                          <a:latin typeface="Poppins"/>
                        </a:rPr>
                        <a:t>Weeks 2-8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 u="sng">
                          <a:solidFill>
                            <a:srgbClr val="0366FF"/>
                          </a:solidFill>
                          <a:latin typeface="Poppin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LeetCode</a:t>
                      </a: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 by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~45, mostly Easy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~80, mostly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0366FF"/>
                          </a:solidFill>
                          <a:latin typeface="Poppins"/>
                        </a:rPr>
                        <a:t>Weeks 4-8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 u="sng">
                          <a:solidFill>
                            <a:srgbClr val="0366FF"/>
                          </a:solidFill>
                          <a:latin typeface="Poppin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LeetCode</a:t>
                      </a: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 SQL 50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~25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2433"/>
                          </a:solidFill>
                          <a:latin typeface="Poppins"/>
                        </a:rPr>
                        <a:t>~30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Patterns we practice</a:t>
            </a:r>
          </a:p>
        </p:txBody>
      </p:sp>
      <p:sp>
        <p:nvSpPr>
          <p:cNvPr id="6" name="Pattern Hash maps"/>
          <p:cNvSpPr/>
          <p:nvPr/>
        </p:nvSpPr>
        <p:spPr>
          <a:xfrm>
            <a:off x="841248" y="4526280"/>
            <a:ext cx="1572768" cy="77724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1572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Hash maps</a:t>
            </a:r>
          </a:p>
        </p:txBody>
      </p:sp>
      <p:sp>
        <p:nvSpPr>
          <p:cNvPr id="8" name="Pattern Two pointers"/>
          <p:cNvSpPr/>
          <p:nvPr/>
        </p:nvSpPr>
        <p:spPr>
          <a:xfrm>
            <a:off x="2560320" y="4526280"/>
            <a:ext cx="1572768" cy="777240"/>
          </a:xfrm>
          <a:prstGeom prst="roundRect">
            <a:avLst>
              <a:gd name="adj" fmla="val 3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60320" y="4526280"/>
            <a:ext cx="1572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Two pointers</a:t>
            </a:r>
          </a:p>
        </p:txBody>
      </p:sp>
      <p:sp>
        <p:nvSpPr>
          <p:cNvPr id="10" name="Pattern Sliding window"/>
          <p:cNvSpPr/>
          <p:nvPr/>
        </p:nvSpPr>
        <p:spPr>
          <a:xfrm>
            <a:off x="4279392" y="4526280"/>
            <a:ext cx="1572768" cy="777240"/>
          </a:xfrm>
          <a:prstGeom prst="roundRect">
            <a:avLst>
              <a:gd name="adj" fmla="val 3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4526280"/>
            <a:ext cx="1572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Sliding window</a:t>
            </a:r>
          </a:p>
        </p:txBody>
      </p:sp>
      <p:sp>
        <p:nvSpPr>
          <p:cNvPr id="12" name="Pattern Stack"/>
          <p:cNvSpPr/>
          <p:nvPr/>
        </p:nvSpPr>
        <p:spPr>
          <a:xfrm>
            <a:off x="5998464" y="4526280"/>
            <a:ext cx="1572768" cy="77724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98464" y="4526280"/>
            <a:ext cx="1572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Stack</a:t>
            </a:r>
          </a:p>
        </p:txBody>
      </p:sp>
      <p:sp>
        <p:nvSpPr>
          <p:cNvPr id="14" name="Pattern Fast/slow pointers"/>
          <p:cNvSpPr/>
          <p:nvPr/>
        </p:nvSpPr>
        <p:spPr>
          <a:xfrm>
            <a:off x="7717536" y="4526280"/>
            <a:ext cx="1572768" cy="777240"/>
          </a:xfrm>
          <a:prstGeom prst="roundRect">
            <a:avLst>
              <a:gd name="adj" fmla="val 3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17536" y="4526280"/>
            <a:ext cx="1572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Fast/slow pointers</a:t>
            </a:r>
          </a:p>
        </p:txBody>
      </p:sp>
      <p:sp>
        <p:nvSpPr>
          <p:cNvPr id="16" name="Pattern Binary search"/>
          <p:cNvSpPr/>
          <p:nvPr/>
        </p:nvSpPr>
        <p:spPr>
          <a:xfrm>
            <a:off x="9436607" y="4526280"/>
            <a:ext cx="1572768" cy="777240"/>
          </a:xfrm>
          <a:prstGeom prst="roundRect">
            <a:avLst>
              <a:gd name="adj" fmla="val 30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36607" y="4526280"/>
            <a:ext cx="1572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Binary search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Career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What employers want, and how we prepare you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What employers ask for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kill Core Java + "/>
          <p:cNvSpPr/>
          <p:nvPr/>
        </p:nvSpPr>
        <p:spPr>
          <a:xfrm>
            <a:off x="841248" y="1554480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Core Java + OOP</a:t>
            </a:r>
          </a:p>
        </p:txBody>
      </p:sp>
      <p:sp>
        <p:nvSpPr>
          <p:cNvPr id="6" name="Skill Spring Boot"/>
          <p:cNvSpPr/>
          <p:nvPr/>
        </p:nvSpPr>
        <p:spPr>
          <a:xfrm>
            <a:off x="2916936" y="1554480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990088" y="1554480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Spring Boot</a:t>
            </a:r>
          </a:p>
        </p:txBody>
      </p:sp>
      <p:sp>
        <p:nvSpPr>
          <p:cNvPr id="8" name="Skill Spring Data "/>
          <p:cNvSpPr/>
          <p:nvPr/>
        </p:nvSpPr>
        <p:spPr>
          <a:xfrm>
            <a:off x="4992624" y="1554480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65776" y="1554480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Spring Data JPA / Hibernate</a:t>
            </a:r>
          </a:p>
        </p:txBody>
      </p:sp>
      <p:sp>
        <p:nvSpPr>
          <p:cNvPr id="10" name="Skill SQL (Oracle,"/>
          <p:cNvSpPr/>
          <p:nvPr/>
        </p:nvSpPr>
        <p:spPr>
          <a:xfrm>
            <a:off x="7068312" y="1554480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41464" y="1554480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SQL (Oracle, MySQL, PostgreSQL)</a:t>
            </a:r>
          </a:p>
        </p:txBody>
      </p:sp>
      <p:sp>
        <p:nvSpPr>
          <p:cNvPr id="12" name="Skill Git"/>
          <p:cNvSpPr/>
          <p:nvPr/>
        </p:nvSpPr>
        <p:spPr>
          <a:xfrm>
            <a:off x="9144000" y="1554480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17152" y="1554480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Git</a:t>
            </a:r>
          </a:p>
        </p:txBody>
      </p:sp>
      <p:sp>
        <p:nvSpPr>
          <p:cNvPr id="14" name="Skill Maven"/>
          <p:cNvSpPr/>
          <p:nvPr/>
        </p:nvSpPr>
        <p:spPr>
          <a:xfrm>
            <a:off x="841248" y="2606039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6039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Maven</a:t>
            </a:r>
          </a:p>
        </p:txBody>
      </p:sp>
      <p:sp>
        <p:nvSpPr>
          <p:cNvPr id="16" name="Skill JUnit"/>
          <p:cNvSpPr/>
          <p:nvPr/>
        </p:nvSpPr>
        <p:spPr>
          <a:xfrm>
            <a:off x="2916936" y="2606039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990088" y="2606039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JUnit</a:t>
            </a:r>
          </a:p>
        </p:txBody>
      </p:sp>
      <p:sp>
        <p:nvSpPr>
          <p:cNvPr id="18" name="Skill REST APIs"/>
          <p:cNvSpPr/>
          <p:nvPr/>
        </p:nvSpPr>
        <p:spPr>
          <a:xfrm>
            <a:off x="4992624" y="2606039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65776" y="2606039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REST APIs</a:t>
            </a:r>
          </a:p>
        </p:txBody>
      </p:sp>
      <p:sp>
        <p:nvSpPr>
          <p:cNvPr id="20" name="Skill Docker"/>
          <p:cNvSpPr/>
          <p:nvPr/>
        </p:nvSpPr>
        <p:spPr>
          <a:xfrm>
            <a:off x="7068312" y="2606039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41464" y="2606039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Docker</a:t>
            </a:r>
          </a:p>
        </p:txBody>
      </p:sp>
      <p:sp>
        <p:nvSpPr>
          <p:cNvPr id="22" name="Skill Microservice"/>
          <p:cNvSpPr/>
          <p:nvPr/>
        </p:nvSpPr>
        <p:spPr>
          <a:xfrm>
            <a:off x="9144000" y="2606039"/>
            <a:ext cx="1892807" cy="822960"/>
          </a:xfrm>
          <a:prstGeom prst="roundRect">
            <a:avLst>
              <a:gd name="adj" fmla="val 3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17152" y="2606039"/>
            <a:ext cx="174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B2433"/>
                </a:solidFill>
                <a:latin typeface="Poppins"/>
              </a:rPr>
              <a:t>Microservices awareness</a:t>
            </a:r>
          </a:p>
        </p:txBody>
      </p:sp>
      <p:sp>
        <p:nvSpPr>
          <p:cNvPr id="24" name="Reality band"/>
          <p:cNvSpPr/>
          <p:nvPr/>
        </p:nvSpPr>
        <p:spPr>
          <a:xfrm>
            <a:off x="841248" y="3931920"/>
            <a:ext cx="10241280" cy="1874519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9784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8C4FF4"/>
                </a:solidFill>
                <a:latin typeface="Poppins"/>
              </a:rPr>
              <a:t>Reality check: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many “junior” ads ask for 1-2 years. Your two deployed projects, team Git history and interview practice are your experience.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366FF"/>
                </a:solidFill>
                <a:latin typeface="Poppins"/>
              </a:rPr>
              <a:t>First targets: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internships, trainee programs and 0-1 year roles.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Career milestones during the course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89888" y="1645920"/>
            <a:ext cx="777240" cy="77724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W2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12848" y="2029968"/>
            <a:ext cx="1207008" cy="0"/>
          </a:xfrm>
          <a:prstGeom prst="line">
            <a:avLst/>
          </a:prstGeom>
          <a:ln w="25400">
            <a:solidFill>
              <a:srgbClr val="8D9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651760"/>
            <a:ext cx="189280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LinkedIn and GitHub profile README</a:t>
            </a:r>
          </a:p>
        </p:txBody>
      </p:sp>
      <p:sp>
        <p:nvSpPr>
          <p:cNvPr id="7" name="Oval 6"/>
          <p:cNvSpPr/>
          <p:nvPr/>
        </p:nvSpPr>
        <p:spPr>
          <a:xfrm>
            <a:off x="3465576" y="1645920"/>
            <a:ext cx="777240" cy="777240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W4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88536" y="2029968"/>
            <a:ext cx="1207008" cy="0"/>
          </a:xfrm>
          <a:prstGeom prst="line">
            <a:avLst/>
          </a:prstGeom>
          <a:ln w="25400">
            <a:solidFill>
              <a:srgbClr val="8D9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16936" y="2651760"/>
            <a:ext cx="189280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Mock interview 1: Java core</a:t>
            </a:r>
          </a:p>
        </p:txBody>
      </p:sp>
      <p:sp>
        <p:nvSpPr>
          <p:cNvPr id="10" name="Oval 9"/>
          <p:cNvSpPr/>
          <p:nvPr/>
        </p:nvSpPr>
        <p:spPr>
          <a:xfrm>
            <a:off x="5541264" y="1645920"/>
            <a:ext cx="777240" cy="77724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W6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64224" y="2029968"/>
            <a:ext cx="1207007" cy="0"/>
          </a:xfrm>
          <a:prstGeom prst="line">
            <a:avLst/>
          </a:prstGeom>
          <a:ln w="25400">
            <a:solidFill>
              <a:srgbClr val="8D9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92624" y="2651760"/>
            <a:ext cx="189280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CV draft review; career-change story coaching</a:t>
            </a:r>
          </a:p>
        </p:txBody>
      </p:sp>
      <p:sp>
        <p:nvSpPr>
          <p:cNvPr id="13" name="Oval 12"/>
          <p:cNvSpPr/>
          <p:nvPr/>
        </p:nvSpPr>
        <p:spPr>
          <a:xfrm>
            <a:off x="7616952" y="1645920"/>
            <a:ext cx="777240" cy="777240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W7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39912" y="2029968"/>
            <a:ext cx="1207008" cy="0"/>
          </a:xfrm>
          <a:prstGeom prst="line">
            <a:avLst/>
          </a:prstGeom>
          <a:ln w="25400">
            <a:solidFill>
              <a:srgbClr val="8D9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68312" y="2651760"/>
            <a:ext cx="189280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Mock interview 2: Spring, JPA, SQL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0" y="1645920"/>
            <a:ext cx="777240" cy="777240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oppins"/>
              </a:rPr>
              <a:t>W8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189280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B2433"/>
                </a:solidFill>
                <a:latin typeface="Poppins"/>
              </a:rPr>
              <a:t>Mock interview 3, final CV and GitHub review</a:t>
            </a:r>
          </a:p>
        </p:txBody>
      </p:sp>
      <p:sp>
        <p:nvSpPr>
          <p:cNvPr id="18" name="CV band"/>
          <p:cNvSpPr/>
          <p:nvPr/>
        </p:nvSpPr>
        <p:spPr>
          <a:xfrm>
            <a:off x="841248" y="4754880"/>
            <a:ext cx="10241280" cy="10515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" y="4754880"/>
            <a:ext cx="97840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366FF"/>
                </a:solidFill>
                <a:latin typeface="Poppins"/>
              </a:rPr>
              <a:t>CV rule: </a:t>
            </a:r>
            <a:r>
              <a:rPr sz="1600" b="0" i="0">
                <a:solidFill>
                  <a:srgbClr val="1B2433"/>
                </a:solidFill>
                <a:latin typeface="Poppins"/>
              </a:rPr>
              <a:t>list this program as an internship, with the capstone under it, and only skills you can defend.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After Week 8: the next 60 days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Days 1-30"/>
          <p:cNvSpPr/>
          <p:nvPr/>
        </p:nvSpPr>
        <p:spPr>
          <a:xfrm>
            <a:off x="841248" y="1508760"/>
            <a:ext cx="4983480" cy="3657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366FF"/>
                </a:solidFill>
                <a:latin typeface="Poppins"/>
              </a:rPr>
              <a:t>Days 1-30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4581144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600" b="0" i="0">
                <a:solidFill>
                  <a:srgbClr val="1B2433"/>
                </a:solidFill>
                <a:latin typeface="Poppins"/>
              </a:rPr>
              <a:t>Apply to 5-10 roles a week (Wuzzuf, LinkedIn, Bayt)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600" b="0" i="0">
                <a:solidFill>
                  <a:srgbClr val="1B2433"/>
                </a:solidFill>
                <a:latin typeface="Poppins"/>
              </a:rPr>
              <a:t>30 more LeetCode problems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600" b="0" i="0">
                <a:solidFill>
                  <a:srgbClr val="1B2433"/>
                </a:solidFill>
                <a:latin typeface="Poppins"/>
              </a:rPr>
              <a:t>Add one feature to the capstone</a:t>
            </a:r>
          </a:p>
        </p:txBody>
      </p:sp>
      <p:sp>
        <p:nvSpPr>
          <p:cNvPr id="7" name="Card Days 31-60"/>
          <p:cNvSpPr/>
          <p:nvPr/>
        </p:nvSpPr>
        <p:spPr>
          <a:xfrm>
            <a:off x="6099048" y="1508760"/>
            <a:ext cx="4983480" cy="365760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0216" y="170992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8C4FF4"/>
                </a:solidFill>
                <a:latin typeface="Poppins"/>
              </a:rPr>
              <a:t>Days 31-60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2167128"/>
            <a:ext cx="4581144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600" b="0" i="0">
                <a:solidFill>
                  <a:srgbClr val="1B2433"/>
                </a:solidFill>
                <a:latin typeface="Poppins"/>
              </a:rPr>
              <a:t>A solo project in a new domain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600" b="0" i="0">
                <a:solidFill>
                  <a:srgbClr val="1B2433"/>
                </a:solidFill>
                <a:latin typeface="Poppins"/>
              </a:rPr>
              <a:t>Two mock interviews a week with your peer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sz="1600" b="0" i="0">
                <a:solidFill>
                  <a:srgbClr val="1B2433"/>
                </a:solidFill>
                <a:latin typeface="Poppins"/>
              </a:rPr>
              <a:t>Optional: Oracle Java SE certification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Ground rules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Ask after 45 minutes"/>
          <p:cNvSpPr/>
          <p:nvPr/>
        </p:nvSpPr>
        <p:spPr>
          <a:xfrm>
            <a:off x="841248" y="146304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366FF"/>
                </a:solidFill>
                <a:latin typeface="Poppins"/>
              </a:rPr>
              <a:t>Ask after 45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284378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Being stuck alone longer wastes a day. Asking is a skill.</a:t>
            </a:r>
          </a:p>
        </p:txBody>
      </p:sp>
      <p:sp>
        <p:nvSpPr>
          <p:cNvPr id="7" name="Card Commit every day"/>
          <p:cNvSpPr/>
          <p:nvPr/>
        </p:nvSpPr>
        <p:spPr>
          <a:xfrm>
            <a:off x="4315968" y="146304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66420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C4FF4"/>
                </a:solidFill>
                <a:latin typeface="Poppins"/>
              </a:rPr>
              <a:t>Commit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21408"/>
            <a:ext cx="284378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Plus a 3-line log: done, next, blockers.</a:t>
            </a:r>
          </a:p>
        </p:txBody>
      </p:sp>
      <p:sp>
        <p:nvSpPr>
          <p:cNvPr id="10" name="Card AI is a tutor, not a"/>
          <p:cNvSpPr/>
          <p:nvPr/>
        </p:nvSpPr>
        <p:spPr>
          <a:xfrm>
            <a:off x="7790688" y="146304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66420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AI is a tutor, not an 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21408"/>
            <a:ext cx="284378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Use it to learn; explain every line you submit.</a:t>
            </a:r>
          </a:p>
        </p:txBody>
      </p:sp>
      <p:sp>
        <p:nvSpPr>
          <p:cNvPr id="13" name="Card Read before you ask"/>
          <p:cNvSpPr/>
          <p:nvPr/>
        </p:nvSpPr>
        <p:spPr>
          <a:xfrm>
            <a:off x="841248" y="370332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42416" y="390448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366FF"/>
                </a:solidFill>
                <a:latin typeface="Poppins"/>
              </a:rPr>
              <a:t>Read before you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361688"/>
            <a:ext cx="284378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Error message, docs, then search, then ask.</a:t>
            </a:r>
          </a:p>
        </p:txBody>
      </p:sp>
      <p:sp>
        <p:nvSpPr>
          <p:cNvPr id="16" name="Card Respect the pair"/>
          <p:cNvSpPr/>
          <p:nvPr/>
        </p:nvSpPr>
        <p:spPr>
          <a:xfrm>
            <a:off x="4315968" y="370332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7136" y="390448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C4FF4"/>
                </a:solidFill>
                <a:latin typeface="Poppins"/>
              </a:rPr>
              <a:t>Respect the 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4361688"/>
            <a:ext cx="284378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Review kindly, explain-back honestly, share the credit.</a:t>
            </a:r>
          </a:p>
        </p:txBody>
      </p:sp>
      <p:sp>
        <p:nvSpPr>
          <p:cNvPr id="19" name="Card Protect your energy"/>
          <p:cNvSpPr/>
          <p:nvPr/>
        </p:nvSpPr>
        <p:spPr>
          <a:xfrm>
            <a:off x="7790688" y="370332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91856" y="3904488"/>
            <a:ext cx="2843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841"/>
                </a:solidFill>
                <a:latin typeface="Poppins"/>
              </a:rPr>
              <a:t>Protect your 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4361688"/>
            <a:ext cx="2843784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433"/>
                </a:solidFill>
                <a:latin typeface="Poppins"/>
              </a:rPr>
              <a:t>Thursday afternoons stay light. Struggling is normal.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B18E-043A-284C-2D22-EF36EED1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2B1B022-A5EE-5706-F770-53C12A35A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1600" y="2114550"/>
            <a:ext cx="182880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74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Poppins"/>
              </a:rPr>
              <a:t>Let's build. Questions?</a:t>
            </a:r>
          </a:p>
        </p:txBody>
      </p:sp>
    </p:spTree>
    <p:extLst>
      <p:ext uri="{BB962C8B-B14F-4D97-AF65-F5344CB8AC3E}">
        <p14:creationId xmlns:p14="http://schemas.microsoft.com/office/powerpoint/2010/main" val="2688524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airsTech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6FDFE2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8C4FF4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5C5D9B-C26F-430B-9CB2-1FE2FD33000E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43a1cf4-f2b3-4949-b3e3-5cd303ed249d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554bfa-441c-4d2e-8d7f-5905a154967e">
      <Terms xmlns="http://schemas.microsoft.com/office/infopath/2007/PartnerControls"/>
    </lcf76f155ced4ddcb4097134ff3c332f>
    <TaxCatchAll xmlns="267263e3-1fcf-48fa-b14d-81517c84331f" xsi:nil="true"/>
    <TEST xmlns="0c554bfa-441c-4d2e-8d7f-5905a15496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597CAA107D94DBD46465D370C6836" ma:contentTypeVersion="15" ma:contentTypeDescription="Create a new document." ma:contentTypeScope="" ma:versionID="8a2f6d7c6cdf44e3d612298ede818f3f">
  <xsd:schema xmlns:xsd="http://www.w3.org/2001/XMLSchema" xmlns:xs="http://www.w3.org/2001/XMLSchema" xmlns:p="http://schemas.microsoft.com/office/2006/metadata/properties" xmlns:ns2="0c554bfa-441c-4d2e-8d7f-5905a154967e" xmlns:ns3="267263e3-1fcf-48fa-b14d-81517c84331f" targetNamespace="http://schemas.microsoft.com/office/2006/metadata/properties" ma:root="true" ma:fieldsID="50cf253f2fde9752ab1e7d332fc8c9db" ns2:_="" ns3:_="">
    <xsd:import namespace="0c554bfa-441c-4d2e-8d7f-5905a154967e"/>
    <xsd:import namespace="267263e3-1fcf-48fa-b14d-81517c843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54bfa-441c-4d2e-8d7f-5905a1549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221b6bc-48c5-41a2-80f4-3c758f1151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EST" ma:index="22" nillable="true" ma:displayName="TEST" ma:format="Thumbnail" ma:internalName="TES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263e3-1fcf-48fa-b14d-81517c843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c5d7adb-28fd-43b1-89e6-63139f817e49}" ma:internalName="TaxCatchAll" ma:showField="CatchAllData" ma:web="267263e3-1fcf-48fa-b14d-81517c843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4A2C8A-29A8-40EB-B812-08F2A2A15023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267263e3-1fcf-48fa-b14d-81517c84331f"/>
    <ds:schemaRef ds:uri="http://purl.org/dc/elements/1.1/"/>
    <ds:schemaRef ds:uri="http://schemas.microsoft.com/office/2006/metadata/properties"/>
    <ds:schemaRef ds:uri="http://schemas.microsoft.com/office/infopath/2007/PartnerControls"/>
    <ds:schemaRef ds:uri="0c554bfa-441c-4d2e-8d7f-5905a15496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F0A244-F1B4-48C8-B90B-FE82002C6D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8C1A3-981A-4C7E-A414-9868EA333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54bfa-441c-4d2e-8d7f-5905a154967e"/>
    <ds:schemaRef ds:uri="267263e3-1fcf-48fa-b14d-81517c843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PresentationFormat>Widescreen</PresentationFormat>
  <Paragraphs>160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Ashraf Abubakr</dc:creator>
  <cp:lastModifiedBy>Islam Kamel</cp:lastModifiedBy>
  <cp:revision>2</cp:revision>
  <dcterms:created xsi:type="dcterms:W3CDTF">2025-10-05T10:08:59Z</dcterms:created>
  <dcterms:modified xsi:type="dcterms:W3CDTF">2026-10-05T10:23:19Z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0x0101002F8597CAA107D94DBD46465D370C6836</vt:lpwstr>
  </property>
  <property fmtid="{D5CDD505-2E9C-101B-9397-08002B2CF9AE}" pid="3" name="MediaServiceImageTags">
    <vt:lpwstr/>
  </property>
</Properties>
</file>