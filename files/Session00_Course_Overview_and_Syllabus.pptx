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5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88" r:id="rId5"/>
  </p:sldMasterIdLst>
  <p:sldIdLst>
    <p:sldId id="315" r:id="rId12"/>
    <p:sldId id="316" r:id="rId14"/>
    <p:sldId id="317" r:id="rId15"/>
    <p:sldId id="318" r:id="rId16"/>
    <p:sldId id="319" r:id="rId17"/>
    <p:sldId id="320" r:id="rId18"/>
    <p:sldId id="321" r:id="rId19"/>
    <p:sldId id="322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0" r:id="rId28"/>
    <p:sldId id="331" r:id="rId29"/>
    <p:sldId id="332" r:id="rId30"/>
    <p:sldId id="333" r:id="rId31"/>
    <p:sldId id="334" r:id="rId32"/>
    <p:sldId id="335" r:id="rId33"/>
    <p:sldId id="336" r:id="rId34"/>
    <p:sldId id="337" r:id="rId35"/>
    <p:sldId id="338" r:id="rId36"/>
    <p:sldId id="339" r:id="rId37"/>
    <p:sldId id="340" r:id="rId38"/>
    <p:sldId id="341" r:id="rId39"/>
    <p:sldId id="342" r:id="rId40"/>
    <p:sldId id="343" r:id="rId41"/>
    <p:sldId id="344" r:id="rId42"/>
    <p:sldId id="345" r:id="rId43"/>
    <p:sldId id="346" r:id="rId44"/>
    <p:sldId id="347" r:id="rId45"/>
    <p:sldId id="31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49887D-4FC9-410D-9A07-46A0CF493F28}" v="1" dt="2026-05-04T12:30:37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7" Type="http://schemas.openxmlformats.org/officeDocument/2006/relationships/slide" Target="slides/slide34.xml"/><Relationship Id="rId1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dPt>
            <c:idx val="0"/>
            <c:spPr>
              <a:solidFill>
                <a:srgbClr val="8D98FF"/>
              </a:solidFill>
            </c:spPr>
          </c:dPt>
          <c:dPt>
            <c:idx val="1"/>
            <c:spPr>
              <a:solidFill>
                <a:srgbClr val="8D98FF"/>
              </a:solidFill>
            </c:spPr>
          </c:dPt>
          <c:dPt>
            <c:idx val="2"/>
            <c:spPr>
              <a:solidFill>
                <a:srgbClr val="8D98FF"/>
              </a:solidFill>
            </c:spPr>
          </c:dPt>
          <c:dPt>
            <c:idx val="3"/>
            <c:spPr>
              <a:solidFill>
                <a:srgbClr val="8D98FF"/>
              </a:solidFill>
            </c:spPr>
          </c:dPt>
          <c:dPt>
            <c:idx val="4"/>
            <c:spPr>
              <a:solidFill>
                <a:srgbClr val="8C4FF4"/>
              </a:solidFill>
            </c:spPr>
          </c:dPt>
          <c:dPt>
            <c:idx val="5"/>
            <c:spPr>
              <a:solidFill>
                <a:srgbClr val="0366FF"/>
              </a:solidFill>
            </c:spPr>
          </c:dPt>
          <c:cat>
            <c:strRef>
              <c:f>Sheet1!$A$2:$A$7</c:f>
              <c:strCache>
                <c:ptCount val="6"/>
                <c:pt idx="0">
                  <c:v>Problem-solving target</c:v>
                </c:pt>
                <c:pt idx="1">
                  <c:v>Mock interviews</c:v>
                </c:pt>
                <c:pt idx="2">
                  <c:v>Quizzes and checkpoint</c:v>
                </c:pt>
                <c:pt idx="3">
                  <c:v>Internship process</c:v>
                </c:pt>
                <c:pt idx="4">
                  <c:v>Individual project</c:v>
                </c:pt>
                <c:pt idx="5">
                  <c:v>Team capstone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20</c:v>
                </c:pt>
                <c:pt idx="5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400" b="1">
                  <a:solidFill>
                    <a:srgbClr val="0366FF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1B2433"/>
                </a:solidFill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2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Kickoff session (about 45-60 minutes) before Session 1, or as the first hour of Week 1. Goal: both interns leave knowing what they will build, how they will work, and how they will be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parts. Spend the most time on 'How the 8 weeks run' and 'Projects': those set daily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Full-time means 40 hours a week: 8 with the instructor, 32 of supervised internship work. Problem targets differ by track: about 70 for Intern A, about 110 for Intern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modern stack, used the same way from Week 4 to Week 8. Spring Boot 4.1 because 4.0's free support ends 31 Dec 2026; we also cover how Boot 2.7 and 3.x differ, since most companies still run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Thirteen outcomes from the syllabus, grouped into four areas. Intern B goes further in concurrency and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microservices are a whiteboard topic, not something we build together. That keeps Week 8 focused on quality and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card: topics, then the week's deliverable. Weeks 1-4 Java and data foundations; weeks 5-8 Spring backends and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sessions Monday and Wednesday, 9:00-13:00. Sunday is sprint planning plus study. Thursday afternoon is demo, retro and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hours a week split: 8 live, 9 study, 16 build, 5 problems, 2 team rituals. Stand-up can be async when the instructor is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openly on day one: each intern is graded against their own track, never compared with the other. Intern B's head start becomes depth, not more of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protect Intern A's learning and Intern B's progress. Explain-back is the one people forget: enforce it at every Thursday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GitHub organization and board live. Main is protected from Week 3: no direct pushes.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10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project grows over four weeks, so each new topic changes code the intern already understands.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pair chooses on Thursday of Week 5. Requirements are identical across options; pick the domain you find most motivating.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is checked at the final demo. Each intern must personally build one secured endpoint with role checks and one Testcontainers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Ownership by vertical slice means Intern A builds real features end to end, not only CRUD. ClinicBook is the example; adapt to the chosen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70% is projects and process, because that is what employers see. Quizzes stay light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individual adjustment (±15%) uses each intern's own pull requests and a 5-minute oral defense of their own code. AI tools are allowed; explaining every line is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Early warning: below 60% at the Week 4 checkpoint triggers a 1:1 and a catch-up plan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 in stages so nothing is set up before it is needed. Hardware: 16 GB RAM; with 8 GB, run containers on a small remote Linux VM.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Arabic videos for understanding concepts, official docs for exact Spring Boot 4 code. Most free Arabic Spring videos use Boot 2/3: translate javax → jakarta and use SecurityFilterChain instead of WebSecurityConfigurerAdapter. All links are clickable in slideshow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Arabic and English source for each week. Session decks list the exact lessons. Check before each cohort that playlists are still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problem only counts if the intern can explain it aloud without notes. Thursday: each intern walks through one solution as in an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8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Based on Wuzzuf postings for junior Spring roles in Egypt. Many 'junior' ads ask for 1-2 years and a CS degree; portfolio evidence, referrals and internships are how non-CS candidates get past that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 A also gets 30 minutes of coaching on the career-change story in Week 6: deliberate choice, full-time immersion, real deployed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course ends; the job search starts. Encourage the pair to keep mock-interviewing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expectations. Ask both interns to agree to these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Session 1 (Monday), Your First Java Programs. Confirm setup clinic is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4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svg"/><Relationship Id="rId4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10.jpeg"/><Relationship Id="rId4" Type="http://schemas.openxmlformats.org/officeDocument/2006/relationships/image" Target="../media/image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1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Relationship Id="rId3" Type="http://schemas.openxmlformats.org/officeDocument/2006/relationships/image" Target="../media/image1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1A3277D6-61D2-6AFC-65EC-88AA8422284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75413" y="-65988"/>
            <a:ext cx="12349112" cy="696972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8CC7D7DC-0F2E-2B62-710B-701F131C89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3380" y="0"/>
            <a:ext cx="5553585" cy="5611908"/>
          </a:xfrm>
          <a:prstGeom prst="rect">
            <a:avLst/>
          </a:prstGeom>
        </p:spPr>
      </p:pic>
      <p:sp>
        <p:nvSpPr>
          <p:cNvPr id="10" name="Picture Placeholder 70">
            <a:extLst>
              <a:ext uri="{FF2B5EF4-FFF2-40B4-BE49-F238E27FC236}">
                <a16:creationId xmlns:a16="http://schemas.microsoft.com/office/drawing/2014/main" id="{33C6576E-AA77-204E-BAA1-F6ACD602268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63006" y="1443699"/>
            <a:ext cx="4504697" cy="4553736"/>
          </a:xfrm>
          <a:custGeom>
            <a:avLst/>
            <a:gdLst>
              <a:gd name="connsiteX0" fmla="*/ 2659033 w 3998174"/>
              <a:gd name="connsiteY0" fmla="*/ 0 h 4041699"/>
              <a:gd name="connsiteX1" fmla="*/ 3998174 w 3998174"/>
              <a:gd name="connsiteY1" fmla="*/ 0 h 4041699"/>
              <a:gd name="connsiteX2" fmla="*/ 3998174 w 3998174"/>
              <a:gd name="connsiteY2" fmla="*/ 4041699 h 4041699"/>
              <a:gd name="connsiteX3" fmla="*/ 1090763 w 3998174"/>
              <a:gd name="connsiteY3" fmla="*/ 4041699 h 4041699"/>
              <a:gd name="connsiteX4" fmla="*/ 1085848 w 3998174"/>
              <a:gd name="connsiteY4" fmla="*/ 3822541 h 4041699"/>
              <a:gd name="connsiteX5" fmla="*/ 238552 w 3998174"/>
              <a:gd name="connsiteY5" fmla="*/ 1328646 h 4041699"/>
              <a:gd name="connsiteX6" fmla="*/ 0 w 3998174"/>
              <a:gd name="connsiteY6" fmla="*/ 998002 h 4041699"/>
              <a:gd name="connsiteX7" fmla="*/ 0 w 3998174"/>
              <a:gd name="connsiteY7" fmla="*/ 997999 h 4041699"/>
              <a:gd name="connsiteX8" fmla="*/ 276566 w 3998174"/>
              <a:gd name="connsiteY8" fmla="*/ 776711 h 4041699"/>
              <a:gd name="connsiteX9" fmla="*/ 2659033 w 3998174"/>
              <a:gd name="connsiteY9" fmla="*/ 0 h 404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98174" h="4041699">
                <a:moveTo>
                  <a:pt x="2659033" y="0"/>
                </a:moveTo>
                <a:lnTo>
                  <a:pt x="3998174" y="0"/>
                </a:lnTo>
                <a:lnTo>
                  <a:pt x="3998174" y="4041699"/>
                </a:lnTo>
                <a:lnTo>
                  <a:pt x="1090763" y="4041699"/>
                </a:lnTo>
                <a:lnTo>
                  <a:pt x="1085848" y="3822541"/>
                </a:lnTo>
                <a:cubicBezTo>
                  <a:pt x="1043441" y="2881956"/>
                  <a:pt x="729072" y="2059070"/>
                  <a:pt x="238552" y="1328646"/>
                </a:cubicBezTo>
                <a:lnTo>
                  <a:pt x="0" y="998002"/>
                </a:lnTo>
                <a:lnTo>
                  <a:pt x="0" y="997999"/>
                </a:lnTo>
                <a:lnTo>
                  <a:pt x="276566" y="776711"/>
                </a:lnTo>
                <a:cubicBezTo>
                  <a:pt x="944682" y="288344"/>
                  <a:pt x="1768167" y="0"/>
                  <a:pt x="26590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64930-A986-5A1B-B9ED-C10FCF2BB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494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1E70DFD6-7FCD-6AAB-D023-01BF81F148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0"/>
            <a:ext cx="12257988" cy="6897461"/>
          </a:xfrm>
          <a:prstGeom prst="rect">
            <a:avLst/>
          </a:prstGeom>
        </p:spPr>
      </p:pic>
      <p:sp>
        <p:nvSpPr>
          <p:cNvPr id="13" name="Picture Placeholder 59">
            <a:extLst>
              <a:ext uri="{FF2B5EF4-FFF2-40B4-BE49-F238E27FC236}">
                <a16:creationId xmlns:a16="http://schemas.microsoft.com/office/drawing/2014/main" id="{C17C03D7-BFB3-0407-ABDF-E8A9FD626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05387" y="0"/>
            <a:ext cx="5264150" cy="5872423"/>
          </a:xfrm>
          <a:custGeom>
            <a:avLst/>
            <a:gdLst>
              <a:gd name="connsiteX0" fmla="*/ 0 w 5264150"/>
              <a:gd name="connsiteY0" fmla="*/ 2948796 h 5872423"/>
              <a:gd name="connsiteX1" fmla="*/ 2645418 w 5264150"/>
              <a:gd name="connsiteY1" fmla="*/ 2948796 h 5872423"/>
              <a:gd name="connsiteX2" fmla="*/ 5261511 w 5264150"/>
              <a:gd name="connsiteY2" fmla="*/ 2948796 h 5872423"/>
              <a:gd name="connsiteX3" fmla="*/ 5264150 w 5264150"/>
              <a:gd name="connsiteY3" fmla="*/ 2948796 h 5872423"/>
              <a:gd name="connsiteX4" fmla="*/ 5264150 w 5264150"/>
              <a:gd name="connsiteY4" fmla="*/ 5872423 h 5872423"/>
              <a:gd name="connsiteX5" fmla="*/ 4980322 w 5264150"/>
              <a:gd name="connsiteY5" fmla="*/ 5872423 h 5872423"/>
              <a:gd name="connsiteX6" fmla="*/ 2657464 w 5264150"/>
              <a:gd name="connsiteY6" fmla="*/ 3775313 h 5872423"/>
              <a:gd name="connsiteX7" fmla="*/ 2645418 w 5264150"/>
              <a:gd name="connsiteY7" fmla="*/ 3538785 h 5872423"/>
              <a:gd name="connsiteX8" fmla="*/ 2645418 w 5264150"/>
              <a:gd name="connsiteY8" fmla="*/ 5872423 h 5872423"/>
              <a:gd name="connsiteX9" fmla="*/ 2334516 w 5264150"/>
              <a:gd name="connsiteY9" fmla="*/ 5872423 h 5872423"/>
              <a:gd name="connsiteX10" fmla="*/ 11726 w 5264150"/>
              <a:gd name="connsiteY10" fmla="*/ 3775370 h 5872423"/>
              <a:gd name="connsiteX11" fmla="*/ 0 w 5264150"/>
              <a:gd name="connsiteY11" fmla="*/ 3545136 h 5872423"/>
              <a:gd name="connsiteX12" fmla="*/ 0 w 5264150"/>
              <a:gd name="connsiteY12" fmla="*/ 0 h 5872423"/>
              <a:gd name="connsiteX13" fmla="*/ 2645418 w 5264150"/>
              <a:gd name="connsiteY13" fmla="*/ 0 h 5872423"/>
              <a:gd name="connsiteX14" fmla="*/ 2653008 w 5264150"/>
              <a:gd name="connsiteY14" fmla="*/ 0 h 5872423"/>
              <a:gd name="connsiteX15" fmla="*/ 2675132 w 5264150"/>
              <a:gd name="connsiteY15" fmla="*/ 0 h 5872423"/>
              <a:gd name="connsiteX16" fmla="*/ 2710820 w 5264150"/>
              <a:gd name="connsiteY16" fmla="*/ 0 h 5872423"/>
              <a:gd name="connsiteX17" fmla="*/ 2759105 w 5264150"/>
              <a:gd name="connsiteY17" fmla="*/ 0 h 5872423"/>
              <a:gd name="connsiteX18" fmla="*/ 2819017 w 5264150"/>
              <a:gd name="connsiteY18" fmla="*/ 0 h 5872423"/>
              <a:gd name="connsiteX19" fmla="*/ 2889587 w 5264150"/>
              <a:gd name="connsiteY19" fmla="*/ 0 h 5872423"/>
              <a:gd name="connsiteX20" fmla="*/ 2969846 w 5264150"/>
              <a:gd name="connsiteY20" fmla="*/ 0 h 5872423"/>
              <a:gd name="connsiteX21" fmla="*/ 3058825 w 5264150"/>
              <a:gd name="connsiteY21" fmla="*/ 0 h 5872423"/>
              <a:gd name="connsiteX22" fmla="*/ 3155556 w 5264150"/>
              <a:gd name="connsiteY22" fmla="*/ 0 h 5872423"/>
              <a:gd name="connsiteX23" fmla="*/ 3259070 w 5264150"/>
              <a:gd name="connsiteY23" fmla="*/ 0 h 5872423"/>
              <a:gd name="connsiteX24" fmla="*/ 3482568 w 5264150"/>
              <a:gd name="connsiteY24" fmla="*/ 0 h 5872423"/>
              <a:gd name="connsiteX25" fmla="*/ 3721569 w 5264150"/>
              <a:gd name="connsiteY25" fmla="*/ 0 h 5872423"/>
              <a:gd name="connsiteX26" fmla="*/ 3968322 w 5264150"/>
              <a:gd name="connsiteY26" fmla="*/ 0 h 5872423"/>
              <a:gd name="connsiteX27" fmla="*/ 4215074 w 5264150"/>
              <a:gd name="connsiteY27" fmla="*/ 0 h 5872423"/>
              <a:gd name="connsiteX28" fmla="*/ 4454075 w 5264150"/>
              <a:gd name="connsiteY28" fmla="*/ 0 h 5872423"/>
              <a:gd name="connsiteX29" fmla="*/ 4677574 w 5264150"/>
              <a:gd name="connsiteY29" fmla="*/ 0 h 5872423"/>
              <a:gd name="connsiteX30" fmla="*/ 4781087 w 5264150"/>
              <a:gd name="connsiteY30" fmla="*/ 0 h 5872423"/>
              <a:gd name="connsiteX31" fmla="*/ 4877818 w 5264150"/>
              <a:gd name="connsiteY31" fmla="*/ 0 h 5872423"/>
              <a:gd name="connsiteX32" fmla="*/ 4966797 w 5264150"/>
              <a:gd name="connsiteY32" fmla="*/ 0 h 5872423"/>
              <a:gd name="connsiteX33" fmla="*/ 5047056 w 5264150"/>
              <a:gd name="connsiteY33" fmla="*/ 0 h 5872423"/>
              <a:gd name="connsiteX34" fmla="*/ 5117626 w 5264150"/>
              <a:gd name="connsiteY34" fmla="*/ 0 h 5872423"/>
              <a:gd name="connsiteX35" fmla="*/ 5177538 w 5264150"/>
              <a:gd name="connsiteY35" fmla="*/ 0 h 5872423"/>
              <a:gd name="connsiteX36" fmla="*/ 5225823 w 5264150"/>
              <a:gd name="connsiteY36" fmla="*/ 0 h 5872423"/>
              <a:gd name="connsiteX37" fmla="*/ 5261511 w 5264150"/>
              <a:gd name="connsiteY37" fmla="*/ 0 h 5872423"/>
              <a:gd name="connsiteX38" fmla="*/ 5264150 w 5264150"/>
              <a:gd name="connsiteY38" fmla="*/ 0 h 5872423"/>
              <a:gd name="connsiteX39" fmla="*/ 5264150 w 5264150"/>
              <a:gd name="connsiteY39" fmla="*/ 2923627 h 5872423"/>
              <a:gd name="connsiteX40" fmla="*/ 4980322 w 5264150"/>
              <a:gd name="connsiteY40" fmla="*/ 2923627 h 5872423"/>
              <a:gd name="connsiteX41" fmla="*/ 2657464 w 5264150"/>
              <a:gd name="connsiteY41" fmla="*/ 826517 h 5872423"/>
              <a:gd name="connsiteX42" fmla="*/ 2645418 w 5264150"/>
              <a:gd name="connsiteY42" fmla="*/ 589989 h 5872423"/>
              <a:gd name="connsiteX43" fmla="*/ 2645418 w 5264150"/>
              <a:gd name="connsiteY43" fmla="*/ 2923627 h 5872423"/>
              <a:gd name="connsiteX44" fmla="*/ 2334516 w 5264150"/>
              <a:gd name="connsiteY44" fmla="*/ 2923627 h 5872423"/>
              <a:gd name="connsiteX45" fmla="*/ 11726 w 5264150"/>
              <a:gd name="connsiteY45" fmla="*/ 826573 h 5872423"/>
              <a:gd name="connsiteX46" fmla="*/ 0 w 5264150"/>
              <a:gd name="connsiteY46" fmla="*/ 596340 h 58724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5264150" h="5872423">
                <a:moveTo>
                  <a:pt x="0" y="2948796"/>
                </a:moveTo>
                <a:lnTo>
                  <a:pt x="2645418" y="2948796"/>
                </a:lnTo>
                <a:cubicBezTo>
                  <a:pt x="2645418" y="2948796"/>
                  <a:pt x="4970834" y="2948796"/>
                  <a:pt x="5261511" y="2948796"/>
                </a:cubicBezTo>
                <a:lnTo>
                  <a:pt x="5264150" y="2948796"/>
                </a:lnTo>
                <a:lnTo>
                  <a:pt x="5264150" y="5872423"/>
                </a:lnTo>
                <a:lnTo>
                  <a:pt x="4980322" y="5872423"/>
                </a:lnTo>
                <a:cubicBezTo>
                  <a:pt x="3776390" y="5872423"/>
                  <a:pt x="2777609" y="4948947"/>
                  <a:pt x="2657464" y="3775313"/>
                </a:cubicBezTo>
                <a:lnTo>
                  <a:pt x="2645418" y="3538785"/>
                </a:lnTo>
                <a:lnTo>
                  <a:pt x="2645418" y="5872423"/>
                </a:lnTo>
                <a:lnTo>
                  <a:pt x="2334516" y="5872423"/>
                </a:lnTo>
                <a:cubicBezTo>
                  <a:pt x="1130584" y="5872487"/>
                  <a:pt x="131863" y="4948955"/>
                  <a:pt x="11726" y="3775370"/>
                </a:cubicBezTo>
                <a:lnTo>
                  <a:pt x="0" y="3545136"/>
                </a:lnTo>
                <a:close/>
                <a:moveTo>
                  <a:pt x="0" y="0"/>
                </a:moveTo>
                <a:lnTo>
                  <a:pt x="2645418" y="0"/>
                </a:lnTo>
                <a:lnTo>
                  <a:pt x="2653008" y="0"/>
                </a:lnTo>
                <a:lnTo>
                  <a:pt x="2675132" y="0"/>
                </a:lnTo>
                <a:lnTo>
                  <a:pt x="2710820" y="0"/>
                </a:lnTo>
                <a:lnTo>
                  <a:pt x="2759105" y="0"/>
                </a:lnTo>
                <a:lnTo>
                  <a:pt x="2819017" y="0"/>
                </a:lnTo>
                <a:lnTo>
                  <a:pt x="2889587" y="0"/>
                </a:lnTo>
                <a:lnTo>
                  <a:pt x="2969846" y="0"/>
                </a:lnTo>
                <a:lnTo>
                  <a:pt x="3058825" y="0"/>
                </a:lnTo>
                <a:lnTo>
                  <a:pt x="3155556" y="0"/>
                </a:lnTo>
                <a:lnTo>
                  <a:pt x="3259070" y="0"/>
                </a:lnTo>
                <a:lnTo>
                  <a:pt x="3482568" y="0"/>
                </a:lnTo>
                <a:lnTo>
                  <a:pt x="3721569" y="0"/>
                </a:lnTo>
                <a:lnTo>
                  <a:pt x="3968322" y="0"/>
                </a:lnTo>
                <a:lnTo>
                  <a:pt x="4215074" y="0"/>
                </a:lnTo>
                <a:lnTo>
                  <a:pt x="4454075" y="0"/>
                </a:lnTo>
                <a:lnTo>
                  <a:pt x="4677574" y="0"/>
                </a:lnTo>
                <a:lnTo>
                  <a:pt x="4781087" y="0"/>
                </a:lnTo>
                <a:lnTo>
                  <a:pt x="4877818" y="0"/>
                </a:lnTo>
                <a:lnTo>
                  <a:pt x="4966797" y="0"/>
                </a:lnTo>
                <a:lnTo>
                  <a:pt x="5047056" y="0"/>
                </a:lnTo>
                <a:lnTo>
                  <a:pt x="5117626" y="0"/>
                </a:lnTo>
                <a:lnTo>
                  <a:pt x="5177538" y="0"/>
                </a:lnTo>
                <a:lnTo>
                  <a:pt x="5225823" y="0"/>
                </a:lnTo>
                <a:lnTo>
                  <a:pt x="5261511" y="0"/>
                </a:lnTo>
                <a:lnTo>
                  <a:pt x="5264150" y="0"/>
                </a:lnTo>
                <a:lnTo>
                  <a:pt x="5264150" y="2923627"/>
                </a:lnTo>
                <a:lnTo>
                  <a:pt x="4980322" y="2923627"/>
                </a:lnTo>
                <a:cubicBezTo>
                  <a:pt x="3776390" y="2923627"/>
                  <a:pt x="2777609" y="2000151"/>
                  <a:pt x="2657464" y="826517"/>
                </a:cubicBezTo>
                <a:lnTo>
                  <a:pt x="2645418" y="589989"/>
                </a:lnTo>
                <a:lnTo>
                  <a:pt x="2645418" y="2923627"/>
                </a:lnTo>
                <a:lnTo>
                  <a:pt x="2334516" y="2923627"/>
                </a:lnTo>
                <a:cubicBezTo>
                  <a:pt x="1130584" y="2923627"/>
                  <a:pt x="131863" y="2000151"/>
                  <a:pt x="11726" y="826573"/>
                </a:cubicBezTo>
                <a:lnTo>
                  <a:pt x="0" y="59634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5F9B7A9F-0150-5A4A-DF4E-BB51497EE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3102D45-6656-5362-E45D-93BF18999A6C}"/>
              </a:ext>
            </a:extLst>
          </p:cNvPr>
          <p:cNvSpPr/>
          <p:nvPr userDrawn="1"/>
        </p:nvSpPr>
        <p:spPr>
          <a:xfrm>
            <a:off x="6285353" y="2948796"/>
            <a:ext cx="2645806" cy="2923626"/>
          </a:xfrm>
          <a:custGeom>
            <a:avLst/>
            <a:gdLst>
              <a:gd name="connsiteX0" fmla="*/ 0 w 2645806"/>
              <a:gd name="connsiteY0" fmla="*/ 588722 h 2923626"/>
              <a:gd name="connsiteX1" fmla="*/ 0 w 2645806"/>
              <a:gd name="connsiteY1" fmla="*/ 0 h 2923626"/>
              <a:gd name="connsiteX2" fmla="*/ 2645806 w 2645806"/>
              <a:gd name="connsiteY2" fmla="*/ 0 h 2923626"/>
              <a:gd name="connsiteX3" fmla="*/ 2645806 w 2645806"/>
              <a:gd name="connsiteY3" fmla="*/ 2923627 h 2923626"/>
              <a:gd name="connsiteX4" fmla="*/ 2334904 w 2645806"/>
              <a:gd name="connsiteY4" fmla="*/ 2923627 h 2923626"/>
              <a:gd name="connsiteX5" fmla="*/ 0 w 2645806"/>
              <a:gd name="connsiteY5" fmla="*/ 588722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06" h="2923626">
                <a:moveTo>
                  <a:pt x="0" y="588722"/>
                </a:moveTo>
                <a:lnTo>
                  <a:pt x="0" y="0"/>
                </a:lnTo>
                <a:lnTo>
                  <a:pt x="2645806" y="0"/>
                </a:lnTo>
                <a:lnTo>
                  <a:pt x="2645806" y="2923627"/>
                </a:lnTo>
                <a:lnTo>
                  <a:pt x="2334904" y="2923627"/>
                </a:lnTo>
                <a:cubicBezTo>
                  <a:pt x="1050710" y="2923695"/>
                  <a:pt x="0" y="1872916"/>
                  <a:pt x="0" y="588722"/>
                </a:cubicBezTo>
                <a:close/>
              </a:path>
            </a:pathLst>
          </a:custGeom>
          <a:solidFill>
            <a:srgbClr val="8C4FF4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55E16BA-4DD0-FB4A-DB15-246E75CAC060}"/>
              </a:ext>
            </a:extLst>
          </p:cNvPr>
          <p:cNvSpPr/>
          <p:nvPr userDrawn="1"/>
        </p:nvSpPr>
        <p:spPr>
          <a:xfrm>
            <a:off x="8931091" y="2948796"/>
            <a:ext cx="2645874" cy="2923626"/>
          </a:xfrm>
          <a:custGeom>
            <a:avLst/>
            <a:gdLst>
              <a:gd name="connsiteX0" fmla="*/ 68 w 2645874"/>
              <a:gd name="connsiteY0" fmla="*/ 588722 h 2923626"/>
              <a:gd name="connsiteX1" fmla="*/ 68 w 2645874"/>
              <a:gd name="connsiteY1" fmla="*/ 0 h 2923626"/>
              <a:gd name="connsiteX2" fmla="*/ 2645875 w 2645874"/>
              <a:gd name="connsiteY2" fmla="*/ 0 h 2923626"/>
              <a:gd name="connsiteX3" fmla="*/ 2645875 w 2645874"/>
              <a:gd name="connsiteY3" fmla="*/ 2923627 h 2923626"/>
              <a:gd name="connsiteX4" fmla="*/ 2334972 w 2645874"/>
              <a:gd name="connsiteY4" fmla="*/ 2923627 h 2923626"/>
              <a:gd name="connsiteX5" fmla="*/ 0 w 2645874"/>
              <a:gd name="connsiteY5" fmla="*/ 588654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74" h="2923626">
                <a:moveTo>
                  <a:pt x="68" y="588722"/>
                </a:moveTo>
                <a:lnTo>
                  <a:pt x="68" y="0"/>
                </a:lnTo>
                <a:cubicBezTo>
                  <a:pt x="68" y="0"/>
                  <a:pt x="2645875" y="0"/>
                  <a:pt x="2645875" y="0"/>
                </a:cubicBezTo>
                <a:lnTo>
                  <a:pt x="2645875" y="2923627"/>
                </a:lnTo>
                <a:lnTo>
                  <a:pt x="2334972" y="2923627"/>
                </a:lnTo>
                <a:cubicBezTo>
                  <a:pt x="1050778" y="2923627"/>
                  <a:pt x="0" y="1872916"/>
                  <a:pt x="0" y="588654"/>
                </a:cubicBezTo>
                <a:close/>
              </a:path>
            </a:pathLst>
          </a:custGeom>
          <a:solidFill>
            <a:srgbClr val="B9B9FC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575A453-E756-D1D8-0B17-E9A4133E8BBD}"/>
              </a:ext>
            </a:extLst>
          </p:cNvPr>
          <p:cNvSpPr/>
          <p:nvPr userDrawn="1"/>
        </p:nvSpPr>
        <p:spPr>
          <a:xfrm>
            <a:off x="6285353" y="0"/>
            <a:ext cx="2645806" cy="2923626"/>
          </a:xfrm>
          <a:custGeom>
            <a:avLst/>
            <a:gdLst>
              <a:gd name="connsiteX0" fmla="*/ 0 w 2645806"/>
              <a:gd name="connsiteY0" fmla="*/ 588722 h 2923626"/>
              <a:gd name="connsiteX1" fmla="*/ 0 w 2645806"/>
              <a:gd name="connsiteY1" fmla="*/ 0 h 2923626"/>
              <a:gd name="connsiteX2" fmla="*/ 2645806 w 2645806"/>
              <a:gd name="connsiteY2" fmla="*/ 0 h 2923626"/>
              <a:gd name="connsiteX3" fmla="*/ 2645806 w 2645806"/>
              <a:gd name="connsiteY3" fmla="*/ 2923627 h 2923626"/>
              <a:gd name="connsiteX4" fmla="*/ 2334904 w 2645806"/>
              <a:gd name="connsiteY4" fmla="*/ 2923627 h 2923626"/>
              <a:gd name="connsiteX5" fmla="*/ 0 w 2645806"/>
              <a:gd name="connsiteY5" fmla="*/ 588722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06" h="2923626">
                <a:moveTo>
                  <a:pt x="0" y="588722"/>
                </a:moveTo>
                <a:lnTo>
                  <a:pt x="0" y="0"/>
                </a:lnTo>
                <a:lnTo>
                  <a:pt x="2645806" y="0"/>
                </a:lnTo>
                <a:lnTo>
                  <a:pt x="2645806" y="2923627"/>
                </a:lnTo>
                <a:lnTo>
                  <a:pt x="2334904" y="2923627"/>
                </a:lnTo>
                <a:cubicBezTo>
                  <a:pt x="1050710" y="2923627"/>
                  <a:pt x="0" y="1872916"/>
                  <a:pt x="0" y="588722"/>
                </a:cubicBezTo>
                <a:close/>
              </a:path>
            </a:pathLst>
          </a:custGeom>
          <a:solidFill>
            <a:srgbClr val="B9B9FC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ED83FEC-2FAC-1044-ADB0-FB8101097D84}"/>
              </a:ext>
            </a:extLst>
          </p:cNvPr>
          <p:cNvSpPr/>
          <p:nvPr userDrawn="1"/>
        </p:nvSpPr>
        <p:spPr>
          <a:xfrm>
            <a:off x="8931091" y="0"/>
            <a:ext cx="2645874" cy="2923626"/>
          </a:xfrm>
          <a:custGeom>
            <a:avLst/>
            <a:gdLst>
              <a:gd name="connsiteX0" fmla="*/ 68 w 2645874"/>
              <a:gd name="connsiteY0" fmla="*/ 588722 h 2923626"/>
              <a:gd name="connsiteX1" fmla="*/ 68 w 2645874"/>
              <a:gd name="connsiteY1" fmla="*/ 0 h 2923626"/>
              <a:gd name="connsiteX2" fmla="*/ 2645875 w 2645874"/>
              <a:gd name="connsiteY2" fmla="*/ 0 h 2923626"/>
              <a:gd name="connsiteX3" fmla="*/ 2645875 w 2645874"/>
              <a:gd name="connsiteY3" fmla="*/ 2923627 h 2923626"/>
              <a:gd name="connsiteX4" fmla="*/ 2334972 w 2645874"/>
              <a:gd name="connsiteY4" fmla="*/ 2923627 h 2923626"/>
              <a:gd name="connsiteX5" fmla="*/ 0 w 2645874"/>
              <a:gd name="connsiteY5" fmla="*/ 588654 h 2923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874" h="2923626">
                <a:moveTo>
                  <a:pt x="68" y="588722"/>
                </a:moveTo>
                <a:lnTo>
                  <a:pt x="68" y="0"/>
                </a:lnTo>
                <a:cubicBezTo>
                  <a:pt x="68" y="0"/>
                  <a:pt x="2645875" y="0"/>
                  <a:pt x="2645875" y="0"/>
                </a:cubicBezTo>
                <a:lnTo>
                  <a:pt x="2645875" y="2923627"/>
                </a:lnTo>
                <a:lnTo>
                  <a:pt x="2334972" y="2923627"/>
                </a:lnTo>
                <a:cubicBezTo>
                  <a:pt x="1050778" y="2923627"/>
                  <a:pt x="0" y="1872916"/>
                  <a:pt x="0" y="588654"/>
                </a:cubicBezTo>
                <a:close/>
              </a:path>
            </a:pathLst>
          </a:custGeom>
          <a:solidFill>
            <a:srgbClr val="0366FF">
              <a:alpha val="4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619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1E70DFD6-7FCD-6AAB-D023-01BF81F148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0"/>
            <a:ext cx="12257988" cy="6897461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5F9B7A9F-0150-5A4A-DF4E-BB51497EE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BF3523-E514-2685-CF6F-5F33EB5D2737}"/>
              </a:ext>
            </a:extLst>
          </p:cNvPr>
          <p:cNvSpPr/>
          <p:nvPr userDrawn="1"/>
        </p:nvSpPr>
        <p:spPr>
          <a:xfrm>
            <a:off x="6695388" y="635372"/>
            <a:ext cx="4713402" cy="380842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652C24-7E8B-B9ED-272A-43B71A20D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1707464"/>
            <a:ext cx="4707024" cy="3790437"/>
          </a:xfrm>
          <a:custGeom>
            <a:avLst/>
            <a:gdLst>
              <a:gd name="connsiteX0" fmla="*/ 490410 w 4707024"/>
              <a:gd name="connsiteY0" fmla="*/ 0 h 3790437"/>
              <a:gd name="connsiteX1" fmla="*/ 4222993 w 4707024"/>
              <a:gd name="connsiteY1" fmla="*/ 0 h 3790437"/>
              <a:gd name="connsiteX2" fmla="*/ 4325725 w 4707024"/>
              <a:gd name="connsiteY2" fmla="*/ 31890 h 3790437"/>
              <a:gd name="connsiteX3" fmla="*/ 4700506 w 4707024"/>
              <a:gd name="connsiteY3" fmla="*/ 488835 h 3790437"/>
              <a:gd name="connsiteX4" fmla="*/ 4707024 w 4707024"/>
              <a:gd name="connsiteY4" fmla="*/ 553491 h 3790437"/>
              <a:gd name="connsiteX5" fmla="*/ 4707024 w 4707024"/>
              <a:gd name="connsiteY5" fmla="*/ 3218955 h 3790437"/>
              <a:gd name="connsiteX6" fmla="*/ 4700506 w 4707024"/>
              <a:gd name="connsiteY6" fmla="*/ 3283610 h 3790437"/>
              <a:gd name="connsiteX7" fmla="*/ 4078651 w 4707024"/>
              <a:gd name="connsiteY7" fmla="*/ 3790437 h 3790437"/>
              <a:gd name="connsiteX8" fmla="*/ 634751 w 4707024"/>
              <a:gd name="connsiteY8" fmla="*/ 3790437 h 3790437"/>
              <a:gd name="connsiteX9" fmla="*/ 0 w 4707024"/>
              <a:gd name="connsiteY9" fmla="*/ 3155686 h 3790437"/>
              <a:gd name="connsiteX10" fmla="*/ 0 w 4707024"/>
              <a:gd name="connsiteY10" fmla="*/ 616759 h 3790437"/>
              <a:gd name="connsiteX11" fmla="*/ 387678 w 4707024"/>
              <a:gd name="connsiteY11" fmla="*/ 31890 h 3790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707024" h="3790437">
                <a:moveTo>
                  <a:pt x="490410" y="0"/>
                </a:moveTo>
                <a:lnTo>
                  <a:pt x="4222993" y="0"/>
                </a:lnTo>
                <a:lnTo>
                  <a:pt x="4325725" y="31890"/>
                </a:lnTo>
                <a:cubicBezTo>
                  <a:pt x="4515576" y="112190"/>
                  <a:pt x="4658229" y="282231"/>
                  <a:pt x="4700506" y="488835"/>
                </a:cubicBezTo>
                <a:lnTo>
                  <a:pt x="4707024" y="553491"/>
                </a:lnTo>
                <a:lnTo>
                  <a:pt x="4707024" y="3218955"/>
                </a:lnTo>
                <a:lnTo>
                  <a:pt x="4700506" y="3283610"/>
                </a:lnTo>
                <a:cubicBezTo>
                  <a:pt x="4641318" y="3572856"/>
                  <a:pt x="4385394" y="3790437"/>
                  <a:pt x="4078651" y="3790437"/>
                </a:cubicBezTo>
                <a:lnTo>
                  <a:pt x="634751" y="3790437"/>
                </a:lnTo>
                <a:cubicBezTo>
                  <a:pt x="284188" y="3790437"/>
                  <a:pt x="0" y="3506249"/>
                  <a:pt x="0" y="3155686"/>
                </a:cubicBezTo>
                <a:lnTo>
                  <a:pt x="0" y="616759"/>
                </a:lnTo>
                <a:cubicBezTo>
                  <a:pt x="0" y="353837"/>
                  <a:pt x="159856" y="128251"/>
                  <a:pt x="387678" y="3189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8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7A3BC47C-99B6-20BF-D68B-A66F46B7A5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4" y="-113122"/>
            <a:ext cx="12334974" cy="7010583"/>
          </a:xfrm>
          <a:prstGeom prst="rect">
            <a:avLst/>
          </a:prstGeom>
        </p:spPr>
      </p:pic>
      <p:sp>
        <p:nvSpPr>
          <p:cNvPr id="3" name="Picture Placeholder 12">
            <a:extLst>
              <a:ext uri="{FF2B5EF4-FFF2-40B4-BE49-F238E27FC236}">
                <a16:creationId xmlns:a16="http://schemas.microsoft.com/office/drawing/2014/main" id="{9EF7A263-0527-9E4C-94C9-B2AB772A418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58148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6C945C-7127-3582-1911-80FBD40D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78C6700-8060-24F9-DC2F-AE22C6C88B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43362" y="441491"/>
            <a:ext cx="3185230" cy="5773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513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E3F2709-2A59-D5BA-77B4-FD75FE7371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4841" y="-199717"/>
            <a:ext cx="12367967" cy="7085998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8C654080-D3CC-4B13-1F27-F4787DC9CBF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6000" y="329939"/>
            <a:ext cx="5547845" cy="5704028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C7D827F-A890-DEEA-4C50-C529607F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70783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BC4D355-D07A-C443-FE67-FC51A3D22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32995" y="-113122"/>
            <a:ext cx="12459025" cy="7010583"/>
          </a:xfrm>
          <a:prstGeom prst="rect">
            <a:avLst/>
          </a:prstGeom>
        </p:spPr>
      </p:pic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64448553-4F90-3088-4944-11C66514BE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12819" y="565607"/>
            <a:ext cx="5037054" cy="5468359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1B4C912-1FCD-8D8B-21E2-7747A9510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35" y="2294199"/>
            <a:ext cx="5264150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0722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9E7EFE18-FED0-FDAE-5670-7615BB1536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65988" y="0"/>
            <a:ext cx="12330260" cy="693812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7121F9-03BE-C8DA-B22C-FD5C2DDC182D}"/>
              </a:ext>
            </a:extLst>
          </p:cNvPr>
          <p:cNvSpPr/>
          <p:nvPr userDrawn="1"/>
        </p:nvSpPr>
        <p:spPr>
          <a:xfrm>
            <a:off x="7899662" y="0"/>
            <a:ext cx="2988297" cy="6938128"/>
          </a:xfrm>
          <a:prstGeom prst="rect">
            <a:avLst/>
          </a:prstGeom>
          <a:solidFill>
            <a:srgbClr val="B9B9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90CAEFC-B65C-032B-DFB8-E941811AA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45784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48165F00-7FAA-6193-FE34-3C59CAE7AA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334054" y="1442301"/>
            <a:ext cx="4019746" cy="4626852"/>
          </a:xfrm>
          <a:custGeom>
            <a:avLst/>
            <a:gdLst>
              <a:gd name="connsiteX0" fmla="*/ 808104 w 5547845"/>
              <a:gd name="connsiteY0" fmla="*/ 0 h 5704028"/>
              <a:gd name="connsiteX1" fmla="*/ 4739741 w 5547845"/>
              <a:gd name="connsiteY1" fmla="*/ 0 h 5704028"/>
              <a:gd name="connsiteX2" fmla="*/ 5547845 w 5547845"/>
              <a:gd name="connsiteY2" fmla="*/ 830854 h 5704028"/>
              <a:gd name="connsiteX3" fmla="*/ 5547845 w 5547845"/>
              <a:gd name="connsiteY3" fmla="*/ 4873175 h 5704028"/>
              <a:gd name="connsiteX4" fmla="*/ 4739741 w 5547845"/>
              <a:gd name="connsiteY4" fmla="*/ 5704028 h 5704028"/>
              <a:gd name="connsiteX5" fmla="*/ 808104 w 5547845"/>
              <a:gd name="connsiteY5" fmla="*/ 5704028 h 5704028"/>
              <a:gd name="connsiteX6" fmla="*/ 0 w 5547845"/>
              <a:gd name="connsiteY6" fmla="*/ 4873175 h 5704028"/>
              <a:gd name="connsiteX7" fmla="*/ 0 w 5547845"/>
              <a:gd name="connsiteY7" fmla="*/ 830853 h 5704028"/>
              <a:gd name="connsiteX8" fmla="*/ 808104 w 5547845"/>
              <a:gd name="connsiteY8" fmla="*/ 0 h 5704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547845" h="5704028">
                <a:moveTo>
                  <a:pt x="808104" y="0"/>
                </a:moveTo>
                <a:lnTo>
                  <a:pt x="4739741" y="0"/>
                </a:lnTo>
                <a:cubicBezTo>
                  <a:pt x="5186045" y="0"/>
                  <a:pt x="5547845" y="371986"/>
                  <a:pt x="5547845" y="830854"/>
                </a:cubicBezTo>
                <a:lnTo>
                  <a:pt x="5547845" y="4873175"/>
                </a:lnTo>
                <a:cubicBezTo>
                  <a:pt x="5547845" y="5332043"/>
                  <a:pt x="5186045" y="5704028"/>
                  <a:pt x="4739741" y="5704028"/>
                </a:cubicBezTo>
                <a:lnTo>
                  <a:pt x="808104" y="5704028"/>
                </a:lnTo>
                <a:cubicBezTo>
                  <a:pt x="361800" y="5704028"/>
                  <a:pt x="0" y="5332043"/>
                  <a:pt x="0" y="4873175"/>
                </a:cubicBezTo>
                <a:lnTo>
                  <a:pt x="0" y="830853"/>
                </a:lnTo>
                <a:cubicBezTo>
                  <a:pt x="0" y="371986"/>
                  <a:pt x="361800" y="0"/>
                  <a:pt x="808104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B12FD6-7B0A-BF80-BFF7-81C7E7234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89961" y="2807812"/>
            <a:ext cx="974006" cy="132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12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55ADADA-7206-710F-41F6-660194BFB8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65988" y="-207390"/>
            <a:ext cx="12330260" cy="7145518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9EA12D95-43DB-3799-A16F-9B17CF3A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41491"/>
            <a:ext cx="5795193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D91F24F-8A5B-5730-704E-3D3A4BCE5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398524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4D9DD47-7DB4-5925-2826-2DF8CA13CF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50998" y="441491"/>
            <a:ext cx="3185230" cy="5773230"/>
          </a:xfrm>
          <a:prstGeom prst="rect">
            <a:avLst/>
          </a:prstGeom>
        </p:spPr>
      </p:pic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4B7E1533-AD56-6B22-5E91-601A2195A9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58148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925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A85556-F773-FF45-9EB7-E8695758FD2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B4D7551-AD66-CA46-4CE5-C93FF0C39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876300"/>
            <a:ext cx="5795193" cy="1141578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2F4A152-11CA-8B2C-21AE-D5766A8794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5" name="Picture Placeholder 15">
            <a:extLst>
              <a:ext uri="{FF2B5EF4-FFF2-40B4-BE49-F238E27FC236}">
                <a16:creationId xmlns:a16="http://schemas.microsoft.com/office/drawing/2014/main" id="{E2DFB00C-A418-E60B-ACB1-DBB9AF0C77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97228" y="1498862"/>
            <a:ext cx="4940697" cy="4565877"/>
          </a:xfrm>
          <a:custGeom>
            <a:avLst/>
            <a:gdLst>
              <a:gd name="connsiteX0" fmla="*/ 1831111 w 5564187"/>
              <a:gd name="connsiteY0" fmla="*/ 0 h 5142067"/>
              <a:gd name="connsiteX1" fmla="*/ 5106263 w 5564187"/>
              <a:gd name="connsiteY1" fmla="*/ 0 h 5142067"/>
              <a:gd name="connsiteX2" fmla="*/ 5193803 w 5564187"/>
              <a:gd name="connsiteY2" fmla="*/ 27174 h 5142067"/>
              <a:gd name="connsiteX3" fmla="*/ 5564187 w 5564187"/>
              <a:gd name="connsiteY3" fmla="*/ 585954 h 5142067"/>
              <a:gd name="connsiteX4" fmla="*/ 5564187 w 5564187"/>
              <a:gd name="connsiteY4" fmla="*/ 3011630 h 5142067"/>
              <a:gd name="connsiteX5" fmla="*/ 4957750 w 5564187"/>
              <a:gd name="connsiteY5" fmla="*/ 3618067 h 5142067"/>
              <a:gd name="connsiteX6" fmla="*/ 2554287 w 5564187"/>
              <a:gd name="connsiteY6" fmla="*/ 3618067 h 5142067"/>
              <a:gd name="connsiteX7" fmla="*/ 2554287 w 5564187"/>
              <a:gd name="connsiteY7" fmla="*/ 4725897 h 5142067"/>
              <a:gd name="connsiteX8" fmla="*/ 2138117 w 5564187"/>
              <a:gd name="connsiteY8" fmla="*/ 5142067 h 5142067"/>
              <a:gd name="connsiteX9" fmla="*/ 415400 w 5564187"/>
              <a:gd name="connsiteY9" fmla="*/ 5142067 h 5142067"/>
              <a:gd name="connsiteX10" fmla="*/ 7685 w 5564187"/>
              <a:gd name="connsiteY10" fmla="*/ 4809770 h 5142067"/>
              <a:gd name="connsiteX11" fmla="*/ 0 w 5564187"/>
              <a:gd name="connsiteY11" fmla="*/ 4733536 h 5142067"/>
              <a:gd name="connsiteX12" fmla="*/ 0 w 5564187"/>
              <a:gd name="connsiteY12" fmla="*/ 3053627 h 5142067"/>
              <a:gd name="connsiteX13" fmla="*/ 7685 w 5564187"/>
              <a:gd name="connsiteY13" fmla="*/ 2977392 h 5142067"/>
              <a:gd name="connsiteX14" fmla="*/ 415400 w 5564187"/>
              <a:gd name="connsiteY14" fmla="*/ 2645095 h 5142067"/>
              <a:gd name="connsiteX15" fmla="*/ 1373187 w 5564187"/>
              <a:gd name="connsiteY15" fmla="*/ 2645095 h 5142067"/>
              <a:gd name="connsiteX16" fmla="*/ 1373187 w 5564187"/>
              <a:gd name="connsiteY16" fmla="*/ 585954 h 5142067"/>
              <a:gd name="connsiteX17" fmla="*/ 1743572 w 5564187"/>
              <a:gd name="connsiteY17" fmla="*/ 27174 h 514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564187" h="5142067">
                <a:moveTo>
                  <a:pt x="1831111" y="0"/>
                </a:moveTo>
                <a:lnTo>
                  <a:pt x="5106263" y="0"/>
                </a:lnTo>
                <a:lnTo>
                  <a:pt x="5193803" y="27174"/>
                </a:lnTo>
                <a:cubicBezTo>
                  <a:pt x="5411462" y="119236"/>
                  <a:pt x="5564187" y="334760"/>
                  <a:pt x="5564187" y="585954"/>
                </a:cubicBezTo>
                <a:lnTo>
                  <a:pt x="5564187" y="3011630"/>
                </a:lnTo>
                <a:cubicBezTo>
                  <a:pt x="5564187" y="3346556"/>
                  <a:pt x="5292676" y="3618067"/>
                  <a:pt x="4957750" y="3618067"/>
                </a:cubicBezTo>
                <a:lnTo>
                  <a:pt x="2554287" y="3618067"/>
                </a:lnTo>
                <a:lnTo>
                  <a:pt x="2554287" y="4725897"/>
                </a:lnTo>
                <a:cubicBezTo>
                  <a:pt x="2554287" y="4955741"/>
                  <a:pt x="2367961" y="5142067"/>
                  <a:pt x="2138117" y="5142067"/>
                </a:cubicBezTo>
                <a:lnTo>
                  <a:pt x="415400" y="5142067"/>
                </a:lnTo>
                <a:cubicBezTo>
                  <a:pt x="214287" y="5142067"/>
                  <a:pt x="46492" y="4999411"/>
                  <a:pt x="7685" y="4809770"/>
                </a:cubicBezTo>
                <a:lnTo>
                  <a:pt x="0" y="4733536"/>
                </a:lnTo>
                <a:lnTo>
                  <a:pt x="0" y="3053627"/>
                </a:lnTo>
                <a:lnTo>
                  <a:pt x="7685" y="2977392"/>
                </a:lnTo>
                <a:cubicBezTo>
                  <a:pt x="46492" y="2787751"/>
                  <a:pt x="214287" y="2645095"/>
                  <a:pt x="415400" y="2645095"/>
                </a:cubicBezTo>
                <a:lnTo>
                  <a:pt x="1373187" y="2645095"/>
                </a:lnTo>
                <a:lnTo>
                  <a:pt x="1373187" y="585954"/>
                </a:lnTo>
                <a:cubicBezTo>
                  <a:pt x="1373187" y="334760"/>
                  <a:pt x="1525912" y="119236"/>
                  <a:pt x="1743572" y="271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3A7269-8DC1-4503-DBB5-478A0C5F8F16}"/>
              </a:ext>
            </a:extLst>
          </p:cNvPr>
          <p:cNvSpPr/>
          <p:nvPr userDrawn="1"/>
        </p:nvSpPr>
        <p:spPr>
          <a:xfrm>
            <a:off x="831850" y="2210539"/>
            <a:ext cx="5054046" cy="431454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B267085C-1D9C-A051-B73E-A1AFC00E77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4588" y="2387600"/>
            <a:ext cx="4419600" cy="3879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9CE9D9-084F-688F-FC93-64A3593A4D1B}"/>
              </a:ext>
            </a:extLst>
          </p:cNvPr>
          <p:cNvSpPr txBox="1"/>
          <p:nvPr userDrawn="1"/>
        </p:nvSpPr>
        <p:spPr>
          <a:xfrm rot="16200000">
            <a:off x="10561658" y="4524452"/>
            <a:ext cx="24986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www.flairstech.com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EAD411-6B23-6947-CBA9-2CE4E1A19A6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8213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B4D7551-AD66-CA46-4CE5-C93FF0C39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876300"/>
            <a:ext cx="5795193" cy="1141578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2F4A152-11CA-8B2C-21AE-D5766A8794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5" name="Picture Placeholder 15">
            <a:extLst>
              <a:ext uri="{FF2B5EF4-FFF2-40B4-BE49-F238E27FC236}">
                <a16:creationId xmlns:a16="http://schemas.microsoft.com/office/drawing/2014/main" id="{E2DFB00C-A418-E60B-ACB1-DBB9AF0C77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97228" y="1498862"/>
            <a:ext cx="4940697" cy="4565877"/>
          </a:xfrm>
          <a:custGeom>
            <a:avLst/>
            <a:gdLst>
              <a:gd name="connsiteX0" fmla="*/ 1831111 w 5564187"/>
              <a:gd name="connsiteY0" fmla="*/ 0 h 5142067"/>
              <a:gd name="connsiteX1" fmla="*/ 5106263 w 5564187"/>
              <a:gd name="connsiteY1" fmla="*/ 0 h 5142067"/>
              <a:gd name="connsiteX2" fmla="*/ 5193803 w 5564187"/>
              <a:gd name="connsiteY2" fmla="*/ 27174 h 5142067"/>
              <a:gd name="connsiteX3" fmla="*/ 5564187 w 5564187"/>
              <a:gd name="connsiteY3" fmla="*/ 585954 h 5142067"/>
              <a:gd name="connsiteX4" fmla="*/ 5564187 w 5564187"/>
              <a:gd name="connsiteY4" fmla="*/ 3011630 h 5142067"/>
              <a:gd name="connsiteX5" fmla="*/ 4957750 w 5564187"/>
              <a:gd name="connsiteY5" fmla="*/ 3618067 h 5142067"/>
              <a:gd name="connsiteX6" fmla="*/ 2554287 w 5564187"/>
              <a:gd name="connsiteY6" fmla="*/ 3618067 h 5142067"/>
              <a:gd name="connsiteX7" fmla="*/ 2554287 w 5564187"/>
              <a:gd name="connsiteY7" fmla="*/ 4725897 h 5142067"/>
              <a:gd name="connsiteX8" fmla="*/ 2138117 w 5564187"/>
              <a:gd name="connsiteY8" fmla="*/ 5142067 h 5142067"/>
              <a:gd name="connsiteX9" fmla="*/ 415400 w 5564187"/>
              <a:gd name="connsiteY9" fmla="*/ 5142067 h 5142067"/>
              <a:gd name="connsiteX10" fmla="*/ 7685 w 5564187"/>
              <a:gd name="connsiteY10" fmla="*/ 4809770 h 5142067"/>
              <a:gd name="connsiteX11" fmla="*/ 0 w 5564187"/>
              <a:gd name="connsiteY11" fmla="*/ 4733536 h 5142067"/>
              <a:gd name="connsiteX12" fmla="*/ 0 w 5564187"/>
              <a:gd name="connsiteY12" fmla="*/ 3053627 h 5142067"/>
              <a:gd name="connsiteX13" fmla="*/ 7685 w 5564187"/>
              <a:gd name="connsiteY13" fmla="*/ 2977392 h 5142067"/>
              <a:gd name="connsiteX14" fmla="*/ 415400 w 5564187"/>
              <a:gd name="connsiteY14" fmla="*/ 2645095 h 5142067"/>
              <a:gd name="connsiteX15" fmla="*/ 1373187 w 5564187"/>
              <a:gd name="connsiteY15" fmla="*/ 2645095 h 5142067"/>
              <a:gd name="connsiteX16" fmla="*/ 1373187 w 5564187"/>
              <a:gd name="connsiteY16" fmla="*/ 585954 h 5142067"/>
              <a:gd name="connsiteX17" fmla="*/ 1743572 w 5564187"/>
              <a:gd name="connsiteY17" fmla="*/ 27174 h 5142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5564187" h="5142067">
                <a:moveTo>
                  <a:pt x="1831111" y="0"/>
                </a:moveTo>
                <a:lnTo>
                  <a:pt x="5106263" y="0"/>
                </a:lnTo>
                <a:lnTo>
                  <a:pt x="5193803" y="27174"/>
                </a:lnTo>
                <a:cubicBezTo>
                  <a:pt x="5411462" y="119236"/>
                  <a:pt x="5564187" y="334760"/>
                  <a:pt x="5564187" y="585954"/>
                </a:cubicBezTo>
                <a:lnTo>
                  <a:pt x="5564187" y="3011630"/>
                </a:lnTo>
                <a:cubicBezTo>
                  <a:pt x="5564187" y="3346556"/>
                  <a:pt x="5292676" y="3618067"/>
                  <a:pt x="4957750" y="3618067"/>
                </a:cubicBezTo>
                <a:lnTo>
                  <a:pt x="2554287" y="3618067"/>
                </a:lnTo>
                <a:lnTo>
                  <a:pt x="2554287" y="4725897"/>
                </a:lnTo>
                <a:cubicBezTo>
                  <a:pt x="2554287" y="4955741"/>
                  <a:pt x="2367961" y="5142067"/>
                  <a:pt x="2138117" y="5142067"/>
                </a:cubicBezTo>
                <a:lnTo>
                  <a:pt x="415400" y="5142067"/>
                </a:lnTo>
                <a:cubicBezTo>
                  <a:pt x="214287" y="5142067"/>
                  <a:pt x="46492" y="4999411"/>
                  <a:pt x="7685" y="4809770"/>
                </a:cubicBezTo>
                <a:lnTo>
                  <a:pt x="0" y="4733536"/>
                </a:lnTo>
                <a:lnTo>
                  <a:pt x="0" y="3053627"/>
                </a:lnTo>
                <a:lnTo>
                  <a:pt x="7685" y="2977392"/>
                </a:lnTo>
                <a:cubicBezTo>
                  <a:pt x="46492" y="2787751"/>
                  <a:pt x="214287" y="2645095"/>
                  <a:pt x="415400" y="2645095"/>
                </a:cubicBezTo>
                <a:lnTo>
                  <a:pt x="1373187" y="2645095"/>
                </a:lnTo>
                <a:lnTo>
                  <a:pt x="1373187" y="585954"/>
                </a:lnTo>
                <a:cubicBezTo>
                  <a:pt x="1373187" y="334760"/>
                  <a:pt x="1525912" y="119236"/>
                  <a:pt x="1743572" y="271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E6C1D21-1CFF-BA0F-4681-BC73E5D897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9213" y="3883843"/>
            <a:ext cx="1270707" cy="11500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3A7269-8DC1-4503-DBB5-478A0C5F8F16}"/>
              </a:ext>
            </a:extLst>
          </p:cNvPr>
          <p:cNvSpPr/>
          <p:nvPr userDrawn="1"/>
        </p:nvSpPr>
        <p:spPr>
          <a:xfrm>
            <a:off x="831850" y="2210539"/>
            <a:ext cx="5054046" cy="431454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B267085C-1D9C-A051-B73E-A1AFC00E77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4588" y="2387600"/>
            <a:ext cx="4419600" cy="3879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9CE9D9-084F-688F-FC93-64A3593A4D1B}"/>
              </a:ext>
            </a:extLst>
          </p:cNvPr>
          <p:cNvSpPr txBox="1"/>
          <p:nvPr userDrawn="1"/>
        </p:nvSpPr>
        <p:spPr>
          <a:xfrm rot="16200000">
            <a:off x="10561658" y="4524452"/>
            <a:ext cx="24986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www.flairstech.com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FEAD411-6B23-6947-CBA9-2CE4E1A19A6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6408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8333A-0501-C2FA-E3CC-1948BAD7D3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061174"/>
            <a:ext cx="5795193" cy="1025691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9A8D1-A08E-F7E3-95BB-2C1B48BF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965143"/>
            <a:ext cx="3985247" cy="3124508"/>
          </a:xfrm>
        </p:spPr>
        <p:txBody>
          <a:bodyPr/>
          <a:lstStyle>
            <a:lvl1pPr marL="0" indent="0">
              <a:buNone/>
              <a:defRPr sz="2400">
                <a:solidFill>
                  <a:srgbClr val="B9B9FC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3611CD5-AFB0-9985-D5F6-4C5101806738}"/>
              </a:ext>
            </a:extLst>
          </p:cNvPr>
          <p:cNvSpPr/>
          <p:nvPr userDrawn="1"/>
        </p:nvSpPr>
        <p:spPr>
          <a:xfrm>
            <a:off x="8050998" y="441491"/>
            <a:ext cx="3185827" cy="2883031"/>
          </a:xfrm>
          <a:custGeom>
            <a:avLst/>
            <a:gdLst>
              <a:gd name="connsiteX0" fmla="*/ 641426 w 3185827"/>
              <a:gd name="connsiteY0" fmla="*/ 0 h 2883031"/>
              <a:gd name="connsiteX1" fmla="*/ 0 w 3185827"/>
              <a:gd name="connsiteY1" fmla="*/ 0 h 2883031"/>
              <a:gd name="connsiteX2" fmla="*/ 0 w 3185827"/>
              <a:gd name="connsiteY2" fmla="*/ 2883032 h 2883031"/>
              <a:gd name="connsiteX3" fmla="*/ 3185827 w 3185827"/>
              <a:gd name="connsiteY3" fmla="*/ 2883032 h 2883031"/>
              <a:gd name="connsiteX4" fmla="*/ 3185827 w 3185827"/>
              <a:gd name="connsiteY4" fmla="*/ 2544203 h 2883031"/>
              <a:gd name="connsiteX5" fmla="*/ 641426 w 3185827"/>
              <a:gd name="connsiteY5" fmla="*/ 0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641426" y="0"/>
                </a:moveTo>
                <a:lnTo>
                  <a:pt x="0" y="0"/>
                </a:lnTo>
                <a:cubicBezTo>
                  <a:pt x="0" y="0"/>
                  <a:pt x="0" y="2883032"/>
                  <a:pt x="0" y="2883032"/>
                </a:cubicBezTo>
                <a:lnTo>
                  <a:pt x="3185827" y="2883032"/>
                </a:lnTo>
                <a:cubicBezTo>
                  <a:pt x="3185827" y="2883032"/>
                  <a:pt x="3185827" y="2544203"/>
                  <a:pt x="3185827" y="2544203"/>
                </a:cubicBezTo>
                <a:cubicBezTo>
                  <a:pt x="3185827" y="1144891"/>
                  <a:pt x="2040737" y="0"/>
                  <a:pt x="641426" y="0"/>
                </a:cubicBezTo>
                <a:close/>
              </a:path>
            </a:pathLst>
          </a:custGeom>
          <a:solidFill>
            <a:schemeClr val="accent3">
              <a:alpha val="3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E159D9A-2134-5565-9625-31A6D601E112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2A3DFFBB-6EB4-A506-9AA4-5CBE701D75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76617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4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190D6E4-64C0-37A2-D8D1-B083EEDB547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66FF"/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A28A232-4877-ECB8-77C6-BD8BF9F54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0"/>
            <a:ext cx="5795193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C52F2-7F5E-7AB9-35C8-0D7DA40F0CC6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3C74F88-CBEE-F3E1-88DE-9AFE59A7DF7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87E131-D314-2CAA-47DC-F1E10B51FE28}"/>
              </a:ext>
            </a:extLst>
          </p:cNvPr>
          <p:cNvSpPr/>
          <p:nvPr userDrawn="1"/>
        </p:nvSpPr>
        <p:spPr>
          <a:xfrm flipH="1" flipV="1">
            <a:off x="8101534" y="2004293"/>
            <a:ext cx="2107444" cy="1907186"/>
          </a:xfrm>
          <a:custGeom>
            <a:avLst/>
            <a:gdLst>
              <a:gd name="connsiteX0" fmla="*/ 417843 w 2074935"/>
              <a:gd name="connsiteY0" fmla="*/ 0 h 1877766"/>
              <a:gd name="connsiteX1" fmla="*/ 0 w 2074935"/>
              <a:gd name="connsiteY1" fmla="*/ 0 h 1877766"/>
              <a:gd name="connsiteX2" fmla="*/ 0 w 2074935"/>
              <a:gd name="connsiteY2" fmla="*/ 1877767 h 1877766"/>
              <a:gd name="connsiteX3" fmla="*/ 2074935 w 2074935"/>
              <a:gd name="connsiteY3" fmla="*/ 1877767 h 1877766"/>
              <a:gd name="connsiteX4" fmla="*/ 2074935 w 2074935"/>
              <a:gd name="connsiteY4" fmla="*/ 1657093 h 1877766"/>
              <a:gd name="connsiteX5" fmla="*/ 417843 w 2074935"/>
              <a:gd name="connsiteY5" fmla="*/ 0 h 1877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74935" h="1877766">
                <a:moveTo>
                  <a:pt x="417843" y="0"/>
                </a:moveTo>
                <a:lnTo>
                  <a:pt x="0" y="0"/>
                </a:lnTo>
                <a:cubicBezTo>
                  <a:pt x="0" y="0"/>
                  <a:pt x="0" y="1877767"/>
                  <a:pt x="0" y="1877767"/>
                </a:cubicBezTo>
                <a:lnTo>
                  <a:pt x="2074935" y="1877767"/>
                </a:lnTo>
                <a:cubicBezTo>
                  <a:pt x="2074935" y="1877767"/>
                  <a:pt x="2074935" y="1657093"/>
                  <a:pt x="2074935" y="1657093"/>
                </a:cubicBezTo>
                <a:cubicBezTo>
                  <a:pt x="2074935" y="745648"/>
                  <a:pt x="1329190" y="0"/>
                  <a:pt x="417843" y="0"/>
                </a:cubicBezTo>
                <a:close/>
              </a:path>
            </a:pathLst>
          </a:custGeom>
          <a:solidFill>
            <a:schemeClr val="accent3"/>
          </a:solidFill>
          <a:ln w="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" name="Graphic 4">
            <a:extLst>
              <a:ext uri="{FF2B5EF4-FFF2-40B4-BE49-F238E27FC236}">
                <a16:creationId xmlns:a16="http://schemas.microsoft.com/office/drawing/2014/main" id="{34E1C845-808B-5601-2B7E-AE9AE3740430}"/>
              </a:ext>
            </a:extLst>
          </p:cNvPr>
          <p:cNvGrpSpPr/>
          <p:nvPr userDrawn="1"/>
        </p:nvGrpSpPr>
        <p:grpSpPr>
          <a:xfrm flipH="1" flipV="1">
            <a:off x="6631380" y="995985"/>
            <a:ext cx="4605245" cy="4167637"/>
            <a:chOff x="7648082" y="1376403"/>
            <a:chExt cx="4534204" cy="4103346"/>
          </a:xfrm>
          <a:noFill/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365C319-1459-9B67-4900-C2422BD8E0DA}"/>
                </a:ext>
              </a:extLst>
            </p:cNvPr>
            <p:cNvSpPr/>
            <p:nvPr/>
          </p:nvSpPr>
          <p:spPr>
            <a:xfrm>
              <a:off x="8530292" y="2443252"/>
              <a:ext cx="2399924" cy="2171868"/>
            </a:xfrm>
            <a:custGeom>
              <a:avLst/>
              <a:gdLst>
                <a:gd name="connsiteX0" fmla="*/ 483209 w 2399924"/>
                <a:gd name="connsiteY0" fmla="*/ 0 h 2171868"/>
                <a:gd name="connsiteX1" fmla="*/ 0 w 2399924"/>
                <a:gd name="connsiteY1" fmla="*/ 0 h 2171868"/>
                <a:gd name="connsiteX2" fmla="*/ 0 w 2399924"/>
                <a:gd name="connsiteY2" fmla="*/ 2171869 h 2171868"/>
                <a:gd name="connsiteX3" fmla="*/ 2399924 w 2399924"/>
                <a:gd name="connsiteY3" fmla="*/ 2171869 h 2171868"/>
                <a:gd name="connsiteX4" fmla="*/ 2399924 w 2399924"/>
                <a:gd name="connsiteY4" fmla="*/ 1916715 h 2171868"/>
                <a:gd name="connsiteX5" fmla="*/ 483307 w 2399924"/>
                <a:gd name="connsiteY5" fmla="*/ 97 h 2171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9924" h="2171868">
                  <a:moveTo>
                    <a:pt x="483209" y="0"/>
                  </a:moveTo>
                  <a:lnTo>
                    <a:pt x="0" y="0"/>
                  </a:lnTo>
                  <a:cubicBezTo>
                    <a:pt x="0" y="0"/>
                    <a:pt x="0" y="2171869"/>
                    <a:pt x="0" y="2171869"/>
                  </a:cubicBezTo>
                  <a:lnTo>
                    <a:pt x="2399924" y="2171869"/>
                  </a:lnTo>
                  <a:cubicBezTo>
                    <a:pt x="2399924" y="2171869"/>
                    <a:pt x="2399924" y="1916715"/>
                    <a:pt x="2399924" y="1916715"/>
                  </a:cubicBezTo>
                  <a:cubicBezTo>
                    <a:pt x="2399924" y="862590"/>
                    <a:pt x="1537432" y="97"/>
                    <a:pt x="483307" y="97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2159866-CB6A-C839-13AE-22E86CF7C24E}"/>
                </a:ext>
              </a:extLst>
            </p:cNvPr>
            <p:cNvSpPr/>
            <p:nvPr/>
          </p:nvSpPr>
          <p:spPr>
            <a:xfrm>
              <a:off x="8450064" y="2346222"/>
              <a:ext cx="2593887" cy="2347475"/>
            </a:xfrm>
            <a:custGeom>
              <a:avLst/>
              <a:gdLst>
                <a:gd name="connsiteX0" fmla="*/ 522352 w 2593887"/>
                <a:gd name="connsiteY0" fmla="*/ 0 h 2347475"/>
                <a:gd name="connsiteX1" fmla="*/ 0 w 2593887"/>
                <a:gd name="connsiteY1" fmla="*/ 0 h 2347475"/>
                <a:gd name="connsiteX2" fmla="*/ 0 w 2593887"/>
                <a:gd name="connsiteY2" fmla="*/ 2347475 h 2347475"/>
                <a:gd name="connsiteX3" fmla="*/ 2593888 w 2593887"/>
                <a:gd name="connsiteY3" fmla="*/ 2347475 h 2347475"/>
                <a:gd name="connsiteX4" fmla="*/ 2593888 w 2593887"/>
                <a:gd name="connsiteY4" fmla="*/ 2071633 h 2347475"/>
                <a:gd name="connsiteX5" fmla="*/ 522255 w 2593887"/>
                <a:gd name="connsiteY5" fmla="*/ 0 h 2347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3887" h="2347475">
                  <a:moveTo>
                    <a:pt x="522352" y="0"/>
                  </a:moveTo>
                  <a:lnTo>
                    <a:pt x="0" y="0"/>
                  </a:lnTo>
                  <a:cubicBezTo>
                    <a:pt x="0" y="0"/>
                    <a:pt x="0" y="2347475"/>
                    <a:pt x="0" y="2347475"/>
                  </a:cubicBezTo>
                  <a:lnTo>
                    <a:pt x="2593888" y="2347475"/>
                  </a:lnTo>
                  <a:cubicBezTo>
                    <a:pt x="2593888" y="2347475"/>
                    <a:pt x="2593888" y="2071633"/>
                    <a:pt x="2593888" y="2071633"/>
                  </a:cubicBezTo>
                  <a:cubicBezTo>
                    <a:pt x="2593888" y="932230"/>
                    <a:pt x="1661658" y="0"/>
                    <a:pt x="522255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9F30909-7351-CC52-AD47-DC0F1719BF2D}"/>
                </a:ext>
              </a:extLst>
            </p:cNvPr>
            <p:cNvSpPr/>
            <p:nvPr/>
          </p:nvSpPr>
          <p:spPr>
            <a:xfrm>
              <a:off x="8369837" y="2249289"/>
              <a:ext cx="2787948" cy="2522984"/>
            </a:xfrm>
            <a:custGeom>
              <a:avLst/>
              <a:gdLst>
                <a:gd name="connsiteX0" fmla="*/ 561397 w 2787948"/>
                <a:gd name="connsiteY0" fmla="*/ 0 h 2522984"/>
                <a:gd name="connsiteX1" fmla="*/ 0 w 2787948"/>
                <a:gd name="connsiteY1" fmla="*/ 0 h 2522984"/>
                <a:gd name="connsiteX2" fmla="*/ 0 w 2787948"/>
                <a:gd name="connsiteY2" fmla="*/ 2522985 h 2522984"/>
                <a:gd name="connsiteX3" fmla="*/ 2787949 w 2787948"/>
                <a:gd name="connsiteY3" fmla="*/ 2522985 h 2522984"/>
                <a:gd name="connsiteX4" fmla="*/ 2787949 w 2787948"/>
                <a:gd name="connsiteY4" fmla="*/ 2226552 h 2522984"/>
                <a:gd name="connsiteX5" fmla="*/ 561397 w 2787948"/>
                <a:gd name="connsiteY5" fmla="*/ 0 h 2522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87948" h="2522984">
                  <a:moveTo>
                    <a:pt x="561397" y="0"/>
                  </a:moveTo>
                  <a:lnTo>
                    <a:pt x="0" y="0"/>
                  </a:lnTo>
                  <a:cubicBezTo>
                    <a:pt x="0" y="0"/>
                    <a:pt x="0" y="2522985"/>
                    <a:pt x="0" y="2522985"/>
                  </a:cubicBezTo>
                  <a:lnTo>
                    <a:pt x="2787949" y="2522985"/>
                  </a:lnTo>
                  <a:cubicBezTo>
                    <a:pt x="2787949" y="2522985"/>
                    <a:pt x="2787949" y="2226552"/>
                    <a:pt x="2787949" y="2226552"/>
                  </a:cubicBezTo>
                  <a:cubicBezTo>
                    <a:pt x="2787949" y="1001968"/>
                    <a:pt x="1785981" y="0"/>
                    <a:pt x="561397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F0931AF-A759-931D-1D54-6BA4FE51332E}"/>
                </a:ext>
              </a:extLst>
            </p:cNvPr>
            <p:cNvSpPr/>
            <p:nvPr/>
          </p:nvSpPr>
          <p:spPr>
            <a:xfrm>
              <a:off x="8289707" y="2152161"/>
              <a:ext cx="2982009" cy="2698688"/>
            </a:xfrm>
            <a:custGeom>
              <a:avLst/>
              <a:gdLst>
                <a:gd name="connsiteX0" fmla="*/ 600442 w 2982009"/>
                <a:gd name="connsiteY0" fmla="*/ 97 h 2698688"/>
                <a:gd name="connsiteX1" fmla="*/ 0 w 2982009"/>
                <a:gd name="connsiteY1" fmla="*/ 97 h 2698688"/>
                <a:gd name="connsiteX2" fmla="*/ 0 w 2982009"/>
                <a:gd name="connsiteY2" fmla="*/ 2698689 h 2698688"/>
                <a:gd name="connsiteX3" fmla="*/ 2982009 w 2982009"/>
                <a:gd name="connsiteY3" fmla="*/ 2698689 h 2698688"/>
                <a:gd name="connsiteX4" fmla="*/ 2982009 w 2982009"/>
                <a:gd name="connsiteY4" fmla="*/ 2381567 h 2698688"/>
                <a:gd name="connsiteX5" fmla="*/ 600442 w 2982009"/>
                <a:gd name="connsiteY5" fmla="*/ 0 h 2698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82009" h="2698688">
                  <a:moveTo>
                    <a:pt x="600442" y="97"/>
                  </a:moveTo>
                  <a:lnTo>
                    <a:pt x="0" y="97"/>
                  </a:lnTo>
                  <a:cubicBezTo>
                    <a:pt x="0" y="97"/>
                    <a:pt x="0" y="2698689"/>
                    <a:pt x="0" y="2698689"/>
                  </a:cubicBezTo>
                  <a:lnTo>
                    <a:pt x="2982009" y="2698689"/>
                  </a:lnTo>
                  <a:cubicBezTo>
                    <a:pt x="2982009" y="2698689"/>
                    <a:pt x="2982009" y="2381567"/>
                    <a:pt x="2982009" y="2381567"/>
                  </a:cubicBezTo>
                  <a:cubicBezTo>
                    <a:pt x="2982009" y="1071705"/>
                    <a:pt x="1910304" y="0"/>
                    <a:pt x="600442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816F574-8BC7-D7AC-1D88-DE833A637B09}"/>
                </a:ext>
              </a:extLst>
            </p:cNvPr>
            <p:cNvSpPr/>
            <p:nvPr/>
          </p:nvSpPr>
          <p:spPr>
            <a:xfrm>
              <a:off x="8209480" y="2055325"/>
              <a:ext cx="3175972" cy="2874197"/>
            </a:xfrm>
            <a:custGeom>
              <a:avLst/>
              <a:gdLst>
                <a:gd name="connsiteX0" fmla="*/ 639488 w 3175972"/>
                <a:gd name="connsiteY0" fmla="*/ 0 h 2874197"/>
                <a:gd name="connsiteX1" fmla="*/ 0 w 3175972"/>
                <a:gd name="connsiteY1" fmla="*/ 0 h 2874197"/>
                <a:gd name="connsiteX2" fmla="*/ 0 w 3175972"/>
                <a:gd name="connsiteY2" fmla="*/ 2874198 h 2874197"/>
                <a:gd name="connsiteX3" fmla="*/ 3175973 w 3175972"/>
                <a:gd name="connsiteY3" fmla="*/ 2874198 h 2874197"/>
                <a:gd name="connsiteX4" fmla="*/ 3175973 w 3175972"/>
                <a:gd name="connsiteY4" fmla="*/ 2536486 h 2874197"/>
                <a:gd name="connsiteX5" fmla="*/ 639488 w 3175972"/>
                <a:gd name="connsiteY5" fmla="*/ 0 h 287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5972" h="2874197">
                  <a:moveTo>
                    <a:pt x="639488" y="0"/>
                  </a:moveTo>
                  <a:lnTo>
                    <a:pt x="0" y="0"/>
                  </a:lnTo>
                  <a:cubicBezTo>
                    <a:pt x="0" y="0"/>
                    <a:pt x="0" y="2874198"/>
                    <a:pt x="0" y="2874198"/>
                  </a:cubicBezTo>
                  <a:lnTo>
                    <a:pt x="3175973" y="2874198"/>
                  </a:lnTo>
                  <a:cubicBezTo>
                    <a:pt x="3175973" y="2874198"/>
                    <a:pt x="3175973" y="2536486"/>
                    <a:pt x="3175973" y="2536486"/>
                  </a:cubicBezTo>
                  <a:cubicBezTo>
                    <a:pt x="3175973" y="1141443"/>
                    <a:pt x="2034530" y="0"/>
                    <a:pt x="639488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FDA0745-5885-DD71-E99D-D5D1B0CF86E4}"/>
                </a:ext>
              </a:extLst>
            </p:cNvPr>
            <p:cNvSpPr/>
            <p:nvPr/>
          </p:nvSpPr>
          <p:spPr>
            <a:xfrm>
              <a:off x="8129252" y="1958294"/>
              <a:ext cx="3370033" cy="3049804"/>
            </a:xfrm>
            <a:custGeom>
              <a:avLst/>
              <a:gdLst>
                <a:gd name="connsiteX0" fmla="*/ 678630 w 3370033"/>
                <a:gd name="connsiteY0" fmla="*/ 0 h 3049804"/>
                <a:gd name="connsiteX1" fmla="*/ 0 w 3370033"/>
                <a:gd name="connsiteY1" fmla="*/ 0 h 3049804"/>
                <a:gd name="connsiteX2" fmla="*/ 0 w 3370033"/>
                <a:gd name="connsiteY2" fmla="*/ 3049804 h 3049804"/>
                <a:gd name="connsiteX3" fmla="*/ 3370034 w 3370033"/>
                <a:gd name="connsiteY3" fmla="*/ 3049804 h 3049804"/>
                <a:gd name="connsiteX4" fmla="*/ 3370034 w 3370033"/>
                <a:gd name="connsiteY4" fmla="*/ 2691404 h 3049804"/>
                <a:gd name="connsiteX5" fmla="*/ 678630 w 3370033"/>
                <a:gd name="connsiteY5" fmla="*/ 0 h 304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0033" h="3049804">
                  <a:moveTo>
                    <a:pt x="678630" y="0"/>
                  </a:moveTo>
                  <a:lnTo>
                    <a:pt x="0" y="0"/>
                  </a:lnTo>
                  <a:cubicBezTo>
                    <a:pt x="0" y="0"/>
                    <a:pt x="0" y="3049804"/>
                    <a:pt x="0" y="3049804"/>
                  </a:cubicBezTo>
                  <a:lnTo>
                    <a:pt x="3370034" y="3049804"/>
                  </a:lnTo>
                  <a:cubicBezTo>
                    <a:pt x="3370034" y="3049804"/>
                    <a:pt x="3370034" y="2691404"/>
                    <a:pt x="3370034" y="2691404"/>
                  </a:cubicBezTo>
                  <a:cubicBezTo>
                    <a:pt x="3370034" y="1211083"/>
                    <a:pt x="2158854" y="0"/>
                    <a:pt x="678630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BD5391-22D2-56B7-1561-4B7441FCF11E}"/>
                </a:ext>
              </a:extLst>
            </p:cNvPr>
            <p:cNvSpPr/>
            <p:nvPr/>
          </p:nvSpPr>
          <p:spPr>
            <a:xfrm>
              <a:off x="8049122" y="1861361"/>
              <a:ext cx="3564094" cy="3225410"/>
            </a:xfrm>
            <a:custGeom>
              <a:avLst/>
              <a:gdLst>
                <a:gd name="connsiteX0" fmla="*/ 717675 w 3564094"/>
                <a:gd name="connsiteY0" fmla="*/ 0 h 3225410"/>
                <a:gd name="connsiteX1" fmla="*/ 0 w 3564094"/>
                <a:gd name="connsiteY1" fmla="*/ 0 h 3225410"/>
                <a:gd name="connsiteX2" fmla="*/ 0 w 3564094"/>
                <a:gd name="connsiteY2" fmla="*/ 3225411 h 3225410"/>
                <a:gd name="connsiteX3" fmla="*/ 3564095 w 3564094"/>
                <a:gd name="connsiteY3" fmla="*/ 3225411 h 3225410"/>
                <a:gd name="connsiteX4" fmla="*/ 3564095 w 3564094"/>
                <a:gd name="connsiteY4" fmla="*/ 2846420 h 3225410"/>
                <a:gd name="connsiteX5" fmla="*/ 717675 w 3564094"/>
                <a:gd name="connsiteY5" fmla="*/ 0 h 3225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094" h="3225410">
                  <a:moveTo>
                    <a:pt x="717675" y="0"/>
                  </a:moveTo>
                  <a:lnTo>
                    <a:pt x="0" y="0"/>
                  </a:lnTo>
                  <a:cubicBezTo>
                    <a:pt x="0" y="0"/>
                    <a:pt x="0" y="3225411"/>
                    <a:pt x="0" y="3225411"/>
                  </a:cubicBezTo>
                  <a:lnTo>
                    <a:pt x="3564095" y="3225411"/>
                  </a:lnTo>
                  <a:cubicBezTo>
                    <a:pt x="3564095" y="3225411"/>
                    <a:pt x="3564095" y="2846420"/>
                    <a:pt x="3564095" y="2846420"/>
                  </a:cubicBezTo>
                  <a:cubicBezTo>
                    <a:pt x="3564095" y="1280918"/>
                    <a:pt x="2283177" y="0"/>
                    <a:pt x="717675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C51AE05-5125-9A0C-2234-D4571A7B8751}"/>
                </a:ext>
              </a:extLst>
            </p:cNvPr>
            <p:cNvSpPr/>
            <p:nvPr/>
          </p:nvSpPr>
          <p:spPr>
            <a:xfrm>
              <a:off x="7968895" y="1764331"/>
              <a:ext cx="3758058" cy="3401017"/>
            </a:xfrm>
            <a:custGeom>
              <a:avLst/>
              <a:gdLst>
                <a:gd name="connsiteX0" fmla="*/ 756721 w 3758058"/>
                <a:gd name="connsiteY0" fmla="*/ 0 h 3401017"/>
                <a:gd name="connsiteX1" fmla="*/ 0 w 3758058"/>
                <a:gd name="connsiteY1" fmla="*/ 0 h 3401017"/>
                <a:gd name="connsiteX2" fmla="*/ 0 w 3758058"/>
                <a:gd name="connsiteY2" fmla="*/ 3401018 h 3401017"/>
                <a:gd name="connsiteX3" fmla="*/ 3758058 w 3758058"/>
                <a:gd name="connsiteY3" fmla="*/ 3401018 h 3401017"/>
                <a:gd name="connsiteX4" fmla="*/ 3758058 w 3758058"/>
                <a:gd name="connsiteY4" fmla="*/ 3001435 h 3401017"/>
                <a:gd name="connsiteX5" fmla="*/ 756721 w 3758058"/>
                <a:gd name="connsiteY5" fmla="*/ 97 h 340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8058" h="3401017">
                  <a:moveTo>
                    <a:pt x="756721" y="0"/>
                  </a:moveTo>
                  <a:lnTo>
                    <a:pt x="0" y="0"/>
                  </a:lnTo>
                  <a:cubicBezTo>
                    <a:pt x="0" y="0"/>
                    <a:pt x="0" y="3401018"/>
                    <a:pt x="0" y="3401018"/>
                  </a:cubicBezTo>
                  <a:lnTo>
                    <a:pt x="3758058" y="3401018"/>
                  </a:lnTo>
                  <a:cubicBezTo>
                    <a:pt x="3758058" y="3401018"/>
                    <a:pt x="3758058" y="3001435"/>
                    <a:pt x="3758058" y="3001435"/>
                  </a:cubicBezTo>
                  <a:cubicBezTo>
                    <a:pt x="3758058" y="1350655"/>
                    <a:pt x="2407403" y="97"/>
                    <a:pt x="756721" y="97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E28954-65CE-131F-B818-C57CE2823510}"/>
                </a:ext>
              </a:extLst>
            </p:cNvPr>
            <p:cNvSpPr/>
            <p:nvPr/>
          </p:nvSpPr>
          <p:spPr>
            <a:xfrm>
              <a:off x="7888667" y="1667300"/>
              <a:ext cx="3952119" cy="3576623"/>
            </a:xfrm>
            <a:custGeom>
              <a:avLst/>
              <a:gdLst>
                <a:gd name="connsiteX0" fmla="*/ 795863 w 3952119"/>
                <a:gd name="connsiteY0" fmla="*/ 97 h 3576623"/>
                <a:gd name="connsiteX1" fmla="*/ 0 w 3952119"/>
                <a:gd name="connsiteY1" fmla="*/ 97 h 3576623"/>
                <a:gd name="connsiteX2" fmla="*/ 0 w 3952119"/>
                <a:gd name="connsiteY2" fmla="*/ 3576624 h 3576623"/>
                <a:gd name="connsiteX3" fmla="*/ 3952119 w 3952119"/>
                <a:gd name="connsiteY3" fmla="*/ 3576624 h 3576623"/>
                <a:gd name="connsiteX4" fmla="*/ 3952119 w 3952119"/>
                <a:gd name="connsiteY4" fmla="*/ 3156353 h 3576623"/>
                <a:gd name="connsiteX5" fmla="*/ 795766 w 3952119"/>
                <a:gd name="connsiteY5" fmla="*/ 0 h 3576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119" h="3576623">
                  <a:moveTo>
                    <a:pt x="795863" y="97"/>
                  </a:moveTo>
                  <a:lnTo>
                    <a:pt x="0" y="97"/>
                  </a:lnTo>
                  <a:cubicBezTo>
                    <a:pt x="0" y="97"/>
                    <a:pt x="0" y="3576624"/>
                    <a:pt x="0" y="3576624"/>
                  </a:cubicBezTo>
                  <a:lnTo>
                    <a:pt x="3952119" y="3576624"/>
                  </a:lnTo>
                  <a:cubicBezTo>
                    <a:pt x="3952119" y="3576624"/>
                    <a:pt x="3952119" y="3156353"/>
                    <a:pt x="3952119" y="3156353"/>
                  </a:cubicBezTo>
                  <a:cubicBezTo>
                    <a:pt x="3952119" y="1420393"/>
                    <a:pt x="2531726" y="0"/>
                    <a:pt x="795766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C51F013-799A-B6B0-F45A-E627BC708A2E}"/>
                </a:ext>
              </a:extLst>
            </p:cNvPr>
            <p:cNvSpPr/>
            <p:nvPr/>
          </p:nvSpPr>
          <p:spPr>
            <a:xfrm>
              <a:off x="7808537" y="1570367"/>
              <a:ext cx="4146179" cy="3752133"/>
            </a:xfrm>
            <a:custGeom>
              <a:avLst/>
              <a:gdLst>
                <a:gd name="connsiteX0" fmla="*/ 834811 w 4146179"/>
                <a:gd name="connsiteY0" fmla="*/ 0 h 3752133"/>
                <a:gd name="connsiteX1" fmla="*/ 0 w 4146179"/>
                <a:gd name="connsiteY1" fmla="*/ 0 h 3752133"/>
                <a:gd name="connsiteX2" fmla="*/ 0 w 4146179"/>
                <a:gd name="connsiteY2" fmla="*/ 3752134 h 3752133"/>
                <a:gd name="connsiteX3" fmla="*/ 4146180 w 4146179"/>
                <a:gd name="connsiteY3" fmla="*/ 3752134 h 3752133"/>
                <a:gd name="connsiteX4" fmla="*/ 4146180 w 4146179"/>
                <a:gd name="connsiteY4" fmla="*/ 3311272 h 3752133"/>
                <a:gd name="connsiteX5" fmla="*/ 834908 w 4146179"/>
                <a:gd name="connsiteY5" fmla="*/ 0 h 375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6179" h="3752133">
                  <a:moveTo>
                    <a:pt x="834811" y="0"/>
                  </a:moveTo>
                  <a:lnTo>
                    <a:pt x="0" y="0"/>
                  </a:lnTo>
                  <a:cubicBezTo>
                    <a:pt x="0" y="0"/>
                    <a:pt x="0" y="3752134"/>
                    <a:pt x="0" y="3752134"/>
                  </a:cubicBezTo>
                  <a:lnTo>
                    <a:pt x="4146180" y="3752134"/>
                  </a:lnTo>
                  <a:cubicBezTo>
                    <a:pt x="4146180" y="3752134"/>
                    <a:pt x="4146180" y="3311272"/>
                    <a:pt x="4146180" y="3311272"/>
                  </a:cubicBezTo>
                  <a:cubicBezTo>
                    <a:pt x="4146180" y="1490034"/>
                    <a:pt x="2656147" y="0"/>
                    <a:pt x="834908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26D6E7-2D9B-14BD-E404-BFE5AE25DAAB}"/>
                </a:ext>
              </a:extLst>
            </p:cNvPr>
            <p:cNvSpPr/>
            <p:nvPr/>
          </p:nvSpPr>
          <p:spPr>
            <a:xfrm>
              <a:off x="7728310" y="1473337"/>
              <a:ext cx="4340143" cy="3927837"/>
            </a:xfrm>
            <a:custGeom>
              <a:avLst/>
              <a:gdLst>
                <a:gd name="connsiteX0" fmla="*/ 873954 w 4340143"/>
                <a:gd name="connsiteY0" fmla="*/ 97 h 3927837"/>
                <a:gd name="connsiteX1" fmla="*/ 0 w 4340143"/>
                <a:gd name="connsiteY1" fmla="*/ 97 h 3927837"/>
                <a:gd name="connsiteX2" fmla="*/ 0 w 4340143"/>
                <a:gd name="connsiteY2" fmla="*/ 3927837 h 3927837"/>
                <a:gd name="connsiteX3" fmla="*/ 4340144 w 4340143"/>
                <a:gd name="connsiteY3" fmla="*/ 3927837 h 3927837"/>
                <a:gd name="connsiteX4" fmla="*/ 4340144 w 4340143"/>
                <a:gd name="connsiteY4" fmla="*/ 3466287 h 3927837"/>
                <a:gd name="connsiteX5" fmla="*/ 873856 w 4340143"/>
                <a:gd name="connsiteY5" fmla="*/ 0 h 3927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40143" h="3927837">
                  <a:moveTo>
                    <a:pt x="873954" y="97"/>
                  </a:moveTo>
                  <a:lnTo>
                    <a:pt x="0" y="97"/>
                  </a:lnTo>
                  <a:cubicBezTo>
                    <a:pt x="0" y="97"/>
                    <a:pt x="0" y="3927837"/>
                    <a:pt x="0" y="3927837"/>
                  </a:cubicBezTo>
                  <a:lnTo>
                    <a:pt x="4340144" y="3927837"/>
                  </a:lnTo>
                  <a:cubicBezTo>
                    <a:pt x="4340144" y="3927837"/>
                    <a:pt x="4340144" y="3466287"/>
                    <a:pt x="4340144" y="3466287"/>
                  </a:cubicBezTo>
                  <a:cubicBezTo>
                    <a:pt x="4340144" y="1559868"/>
                    <a:pt x="2780373" y="0"/>
                    <a:pt x="873856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1A8DCA0-D108-7703-A19B-60B550033138}"/>
                </a:ext>
              </a:extLst>
            </p:cNvPr>
            <p:cNvSpPr/>
            <p:nvPr/>
          </p:nvSpPr>
          <p:spPr>
            <a:xfrm>
              <a:off x="7648082" y="1376403"/>
              <a:ext cx="4534204" cy="4103346"/>
            </a:xfrm>
            <a:custGeom>
              <a:avLst/>
              <a:gdLst>
                <a:gd name="connsiteX0" fmla="*/ 912999 w 4534204"/>
                <a:gd name="connsiteY0" fmla="*/ 0 h 4103346"/>
                <a:gd name="connsiteX1" fmla="*/ 0 w 4534204"/>
                <a:gd name="connsiteY1" fmla="*/ 0 h 4103346"/>
                <a:gd name="connsiteX2" fmla="*/ 0 w 4534204"/>
                <a:gd name="connsiteY2" fmla="*/ 4103347 h 4103346"/>
                <a:gd name="connsiteX3" fmla="*/ 4534205 w 4534204"/>
                <a:gd name="connsiteY3" fmla="*/ 4103347 h 4103346"/>
                <a:gd name="connsiteX4" fmla="*/ 4534205 w 4534204"/>
                <a:gd name="connsiteY4" fmla="*/ 3621206 h 4103346"/>
                <a:gd name="connsiteX5" fmla="*/ 912999 w 4534204"/>
                <a:gd name="connsiteY5" fmla="*/ 0 h 4103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34204" h="4103346">
                  <a:moveTo>
                    <a:pt x="912999" y="0"/>
                  </a:moveTo>
                  <a:lnTo>
                    <a:pt x="0" y="0"/>
                  </a:lnTo>
                  <a:cubicBezTo>
                    <a:pt x="0" y="0"/>
                    <a:pt x="0" y="4103347"/>
                    <a:pt x="0" y="4103347"/>
                  </a:cubicBezTo>
                  <a:lnTo>
                    <a:pt x="4534205" y="4103347"/>
                  </a:lnTo>
                  <a:cubicBezTo>
                    <a:pt x="4534205" y="4103347"/>
                    <a:pt x="4534205" y="3621206"/>
                    <a:pt x="4534205" y="3621206"/>
                  </a:cubicBezTo>
                  <a:cubicBezTo>
                    <a:pt x="4534205" y="1629509"/>
                    <a:pt x="2904696" y="0"/>
                    <a:pt x="912999" y="0"/>
                  </a:cubicBezTo>
                  <a:close/>
                </a:path>
              </a:pathLst>
            </a:custGeom>
            <a:noFill/>
            <a:ln w="22813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0" name="Picture Placeholder 6">
            <a:extLst>
              <a:ext uri="{FF2B5EF4-FFF2-40B4-BE49-F238E27FC236}">
                <a16:creationId xmlns:a16="http://schemas.microsoft.com/office/drawing/2014/main" id="{94A18471-8279-D2BD-A87C-F3929C62AC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59398" y="2246255"/>
            <a:ext cx="3680538" cy="3330822"/>
          </a:xfrm>
          <a:custGeom>
            <a:avLst/>
            <a:gdLst>
              <a:gd name="connsiteX0" fmla="*/ 0 w 3623762"/>
              <a:gd name="connsiteY0" fmla="*/ 0 h 3279440"/>
              <a:gd name="connsiteX1" fmla="*/ 3623762 w 3623762"/>
              <a:gd name="connsiteY1" fmla="*/ 0 h 3279440"/>
              <a:gd name="connsiteX2" fmla="*/ 3623762 w 3623762"/>
              <a:gd name="connsiteY2" fmla="*/ 3279333 h 3279440"/>
              <a:gd name="connsiteX3" fmla="*/ 2894067 w 3623762"/>
              <a:gd name="connsiteY3" fmla="*/ 3279333 h 3279440"/>
              <a:gd name="connsiteX4" fmla="*/ 2894067 w 3623762"/>
              <a:gd name="connsiteY4" fmla="*/ 3279440 h 3279440"/>
              <a:gd name="connsiteX5" fmla="*/ 0 w 3623762"/>
              <a:gd name="connsiteY5" fmla="*/ 385375 h 3279440"/>
              <a:gd name="connsiteX6" fmla="*/ 0 w 3623762"/>
              <a:gd name="connsiteY6" fmla="*/ 0 h 3279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23762" h="3279440">
                <a:moveTo>
                  <a:pt x="0" y="0"/>
                </a:moveTo>
                <a:lnTo>
                  <a:pt x="3623762" y="0"/>
                </a:lnTo>
                <a:cubicBezTo>
                  <a:pt x="3623762" y="0"/>
                  <a:pt x="3623762" y="3279333"/>
                  <a:pt x="3623762" y="3279333"/>
                </a:cubicBezTo>
                <a:lnTo>
                  <a:pt x="2894067" y="3279333"/>
                </a:lnTo>
                <a:lnTo>
                  <a:pt x="2894067" y="3279440"/>
                </a:lnTo>
                <a:cubicBezTo>
                  <a:pt x="1302277" y="3279440"/>
                  <a:pt x="0" y="1977056"/>
                  <a:pt x="0" y="385375"/>
                </a:cubicBezTo>
                <a:cubicBezTo>
                  <a:pt x="0" y="385375"/>
                  <a:pt x="0" y="0"/>
                  <a:pt x="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86BBF8F-B8DC-ADC4-090F-93E56E33656F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6C817E87-37D1-907A-EC0C-17E0A1FD9F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1F2B8BC-7A0A-5981-70EF-5E8172A7D264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3B60EC4-B7E2-0F19-7556-4D251C975D50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5100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e-up of a group of glass containers&#10;&#10;AI-generated content may be incorrect.">
            <a:extLst>
              <a:ext uri="{FF2B5EF4-FFF2-40B4-BE49-F238E27FC236}">
                <a16:creationId xmlns:a16="http://schemas.microsoft.com/office/drawing/2014/main" id="{F1CB07E2-B7B0-E917-3452-6485116468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667001" y="-2667000"/>
            <a:ext cx="6858002" cy="1219200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8F036F-B73B-206A-778C-8CA7CA425315}"/>
              </a:ext>
            </a:extLst>
          </p:cNvPr>
          <p:cNvCxnSpPr/>
          <p:nvPr userDrawn="1"/>
        </p:nvCxnSpPr>
        <p:spPr>
          <a:xfrm>
            <a:off x="10274536" y="6504628"/>
            <a:ext cx="1284051" cy="0"/>
          </a:xfrm>
          <a:prstGeom prst="line">
            <a:avLst/>
          </a:prstGeom>
          <a:ln w="2857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0900D4C8-3F2F-6B7B-1B41-661B4D502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144" y="3264375"/>
            <a:ext cx="4566307" cy="2852737"/>
          </a:xfrm>
        </p:spPr>
        <p:txBody>
          <a:bodyPr anchor="b"/>
          <a:lstStyle>
            <a:lvl1pPr>
              <a:defRPr sz="60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F1FA5D4-834B-B7DB-0D7C-F8B8C92FF4F7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02133ED4-988D-D493-5518-B6B096AEAC2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2C70A3-2629-E214-6F86-4E3AEBCA6518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AB45DD6-2169-C308-D859-B9FCC208DD89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E1CBD87B-A4E1-EB65-94CC-E92F6962B0B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58587" y="6123547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322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6512D8-4A24-7606-C8C8-CB9B880B0DFD}"/>
              </a:ext>
            </a:extLst>
          </p:cNvPr>
          <p:cNvGrpSpPr/>
          <p:nvPr userDrawn="1"/>
        </p:nvGrpSpPr>
        <p:grpSpPr>
          <a:xfrm>
            <a:off x="10095861" y="6117112"/>
            <a:ext cx="1967551" cy="552450"/>
            <a:chOff x="10095861" y="6117112"/>
            <a:chExt cx="1967551" cy="552450"/>
          </a:xfrm>
          <a:solidFill>
            <a:schemeClr val="bg1"/>
          </a:solidFill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702A7DF9-B37B-389F-B4E6-5743B1679C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EB226B-2AD6-AE1D-6396-CF295B80C27D}"/>
                </a:ext>
              </a:extLst>
            </p:cNvPr>
            <p:cNvSpPr txBox="1"/>
            <p:nvPr userDrawn="1"/>
          </p:nvSpPr>
          <p:spPr>
            <a:xfrm>
              <a:off x="10095861" y="6398464"/>
              <a:ext cx="1538292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5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64409FA-1683-078F-E2BC-BE0F2F4A7195}"/>
              </a:ext>
            </a:extLst>
          </p:cNvPr>
          <p:cNvCxnSpPr/>
          <p:nvPr userDrawn="1"/>
        </p:nvCxnSpPr>
        <p:spPr>
          <a:xfrm>
            <a:off x="10274536" y="6504628"/>
            <a:ext cx="1284051" cy="0"/>
          </a:xfrm>
          <a:prstGeom prst="line">
            <a:avLst/>
          </a:prstGeom>
          <a:ln w="28575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FF9474E-02B0-3098-EB0B-DA2342976B4D}"/>
              </a:ext>
            </a:extLst>
          </p:cNvPr>
          <p:cNvCxnSpPr>
            <a:cxnSpLocks/>
          </p:cNvCxnSpPr>
          <p:nvPr userDrawn="1"/>
        </p:nvCxnSpPr>
        <p:spPr>
          <a:xfrm>
            <a:off x="10161224" y="6652380"/>
            <a:ext cx="139736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blue and purple wavy line&#10;&#10;AI-generated content may be incorrect.">
            <a:extLst>
              <a:ext uri="{FF2B5EF4-FFF2-40B4-BE49-F238E27FC236}">
                <a16:creationId xmlns:a16="http://schemas.microsoft.com/office/drawing/2014/main" id="{F82627BD-2194-EE22-0CF0-BD316FB644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C420F0F8-0D58-5C5B-5281-125C1B16ECFD}"/>
              </a:ext>
            </a:extLst>
          </p:cNvPr>
          <p:cNvSpPr txBox="1">
            <a:spLocks/>
          </p:cNvSpPr>
          <p:nvPr userDrawn="1"/>
        </p:nvSpPr>
        <p:spPr>
          <a:xfrm>
            <a:off x="579657" y="483467"/>
            <a:ext cx="5640559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bg1"/>
                </a:solidFill>
                <a:latin typeface="Poppins Medium" panose="00000600000000000000" pitchFamily="2" charset="0"/>
                <a:ea typeface="+mj-ea"/>
                <a:cs typeface="Poppins Medium" panose="00000600000000000000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F2DDD0E-CFBF-2A1A-85C6-78DB4254DEE7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  <a:noFill/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AFB9CBA-BCE5-2DA2-8162-FF8B4C772C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41815C-EFFB-B78F-B4DC-657BFCA333B3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chemeClr val="bg1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A703ED1-E747-0ED8-C498-4334DDA8AF2B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02FAD78F-C794-A499-B33E-7568613E73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0350" y="6139150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398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F324C-8ACB-22A5-D15F-C75A98C4E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22856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A489582-B189-A9E8-8FDE-23D44899C8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31405" y="433633"/>
            <a:ext cx="5553585" cy="5611908"/>
          </a:xfrm>
          <a:prstGeom prst="rect">
            <a:avLst/>
          </a:prstGeom>
        </p:spPr>
      </p:pic>
      <p:sp>
        <p:nvSpPr>
          <p:cNvPr id="4" name="Picture Placeholder 70">
            <a:extLst>
              <a:ext uri="{FF2B5EF4-FFF2-40B4-BE49-F238E27FC236}">
                <a16:creationId xmlns:a16="http://schemas.microsoft.com/office/drawing/2014/main" id="{A29F5D11-F0EB-D315-ACF8-3E612C13B1B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01110" y="1939139"/>
            <a:ext cx="4504697" cy="4553736"/>
          </a:xfrm>
          <a:custGeom>
            <a:avLst/>
            <a:gdLst>
              <a:gd name="connsiteX0" fmla="*/ 2659033 w 3998174"/>
              <a:gd name="connsiteY0" fmla="*/ 0 h 4041699"/>
              <a:gd name="connsiteX1" fmla="*/ 3998174 w 3998174"/>
              <a:gd name="connsiteY1" fmla="*/ 0 h 4041699"/>
              <a:gd name="connsiteX2" fmla="*/ 3998174 w 3998174"/>
              <a:gd name="connsiteY2" fmla="*/ 4041699 h 4041699"/>
              <a:gd name="connsiteX3" fmla="*/ 1090763 w 3998174"/>
              <a:gd name="connsiteY3" fmla="*/ 4041699 h 4041699"/>
              <a:gd name="connsiteX4" fmla="*/ 1085848 w 3998174"/>
              <a:gd name="connsiteY4" fmla="*/ 3822541 h 4041699"/>
              <a:gd name="connsiteX5" fmla="*/ 238552 w 3998174"/>
              <a:gd name="connsiteY5" fmla="*/ 1328646 h 4041699"/>
              <a:gd name="connsiteX6" fmla="*/ 0 w 3998174"/>
              <a:gd name="connsiteY6" fmla="*/ 998002 h 4041699"/>
              <a:gd name="connsiteX7" fmla="*/ 0 w 3998174"/>
              <a:gd name="connsiteY7" fmla="*/ 997999 h 4041699"/>
              <a:gd name="connsiteX8" fmla="*/ 276566 w 3998174"/>
              <a:gd name="connsiteY8" fmla="*/ 776711 h 4041699"/>
              <a:gd name="connsiteX9" fmla="*/ 2659033 w 3998174"/>
              <a:gd name="connsiteY9" fmla="*/ 0 h 404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98174" h="4041699">
                <a:moveTo>
                  <a:pt x="2659033" y="0"/>
                </a:moveTo>
                <a:lnTo>
                  <a:pt x="3998174" y="0"/>
                </a:lnTo>
                <a:lnTo>
                  <a:pt x="3998174" y="4041699"/>
                </a:lnTo>
                <a:lnTo>
                  <a:pt x="1090763" y="4041699"/>
                </a:lnTo>
                <a:lnTo>
                  <a:pt x="1085848" y="3822541"/>
                </a:lnTo>
                <a:cubicBezTo>
                  <a:pt x="1043441" y="2881956"/>
                  <a:pt x="729072" y="2059070"/>
                  <a:pt x="238552" y="1328646"/>
                </a:cubicBezTo>
                <a:lnTo>
                  <a:pt x="0" y="998002"/>
                </a:lnTo>
                <a:lnTo>
                  <a:pt x="0" y="997999"/>
                </a:lnTo>
                <a:lnTo>
                  <a:pt x="276566" y="776711"/>
                </a:lnTo>
                <a:cubicBezTo>
                  <a:pt x="944682" y="288344"/>
                  <a:pt x="1768167" y="0"/>
                  <a:pt x="2659033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8507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435F0B9-D817-FD68-8C37-CB9F7EF8B3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7675" y="-284409"/>
            <a:ext cx="12693303" cy="714240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AACF39A-EA1F-2542-9FB4-61FC33E25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90BFAD0-FB8C-C9FA-E7BD-585D364E45A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 flipV="1">
            <a:off x="6901429" y="1690688"/>
            <a:ext cx="4555281" cy="412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219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594AE8-B731-53ED-A268-E6F75EF93726}"/>
              </a:ext>
            </a:extLst>
          </p:cNvPr>
          <p:cNvSpPr/>
          <p:nvPr userDrawn="1"/>
        </p:nvSpPr>
        <p:spPr>
          <a:xfrm>
            <a:off x="-65975" y="3302000"/>
            <a:ext cx="11597633" cy="355599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58C8F2-88E3-DEF6-7A2E-4B38B6FD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41491"/>
            <a:ext cx="5795193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E7C1990-4C55-516B-A96A-DD2011C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3985247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B9B9FC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5153C4C-5329-992D-9290-5CA19D6C7FF1}"/>
              </a:ext>
            </a:extLst>
          </p:cNvPr>
          <p:cNvSpPr/>
          <p:nvPr userDrawn="1"/>
        </p:nvSpPr>
        <p:spPr>
          <a:xfrm>
            <a:off x="8050998" y="441491"/>
            <a:ext cx="3185827" cy="2883031"/>
          </a:xfrm>
          <a:custGeom>
            <a:avLst/>
            <a:gdLst>
              <a:gd name="connsiteX0" fmla="*/ 641426 w 3185827"/>
              <a:gd name="connsiteY0" fmla="*/ 0 h 2883031"/>
              <a:gd name="connsiteX1" fmla="*/ 0 w 3185827"/>
              <a:gd name="connsiteY1" fmla="*/ 0 h 2883031"/>
              <a:gd name="connsiteX2" fmla="*/ 0 w 3185827"/>
              <a:gd name="connsiteY2" fmla="*/ 2883032 h 2883031"/>
              <a:gd name="connsiteX3" fmla="*/ 3185827 w 3185827"/>
              <a:gd name="connsiteY3" fmla="*/ 2883032 h 2883031"/>
              <a:gd name="connsiteX4" fmla="*/ 3185827 w 3185827"/>
              <a:gd name="connsiteY4" fmla="*/ 2544203 h 2883031"/>
              <a:gd name="connsiteX5" fmla="*/ 641426 w 3185827"/>
              <a:gd name="connsiteY5" fmla="*/ 0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641426" y="0"/>
                </a:moveTo>
                <a:lnTo>
                  <a:pt x="0" y="0"/>
                </a:lnTo>
                <a:cubicBezTo>
                  <a:pt x="0" y="0"/>
                  <a:pt x="0" y="2883032"/>
                  <a:pt x="0" y="2883032"/>
                </a:cubicBezTo>
                <a:lnTo>
                  <a:pt x="3185827" y="2883032"/>
                </a:lnTo>
                <a:cubicBezTo>
                  <a:pt x="3185827" y="2883032"/>
                  <a:pt x="3185827" y="2544203"/>
                  <a:pt x="3185827" y="2544203"/>
                </a:cubicBezTo>
                <a:cubicBezTo>
                  <a:pt x="3185827" y="1144891"/>
                  <a:pt x="2040737" y="0"/>
                  <a:pt x="641426" y="0"/>
                </a:cubicBezTo>
                <a:close/>
              </a:path>
            </a:pathLst>
          </a:custGeom>
          <a:solidFill>
            <a:schemeClr val="accent3">
              <a:alpha val="3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AD1AF69-696E-89D8-3289-AAF624999AE7}"/>
              </a:ext>
            </a:extLst>
          </p:cNvPr>
          <p:cNvSpPr/>
          <p:nvPr userDrawn="1"/>
        </p:nvSpPr>
        <p:spPr>
          <a:xfrm>
            <a:off x="8050798" y="3324522"/>
            <a:ext cx="3185827" cy="2883031"/>
          </a:xfrm>
          <a:custGeom>
            <a:avLst/>
            <a:gdLst>
              <a:gd name="connsiteX0" fmla="*/ 2544402 w 3185827"/>
              <a:gd name="connsiteY0" fmla="*/ 2883032 h 2883031"/>
              <a:gd name="connsiteX1" fmla="*/ 3185827 w 3185827"/>
              <a:gd name="connsiteY1" fmla="*/ 2883032 h 2883031"/>
              <a:gd name="connsiteX2" fmla="*/ 3185827 w 3185827"/>
              <a:gd name="connsiteY2" fmla="*/ 0 h 2883031"/>
              <a:gd name="connsiteX3" fmla="*/ 0 w 3185827"/>
              <a:gd name="connsiteY3" fmla="*/ 0 h 2883031"/>
              <a:gd name="connsiteX4" fmla="*/ 0 w 3185827"/>
              <a:gd name="connsiteY4" fmla="*/ 338829 h 2883031"/>
              <a:gd name="connsiteX5" fmla="*/ 2544203 w 3185827"/>
              <a:gd name="connsiteY5" fmla="*/ 2883032 h 28830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85827" h="2883031">
                <a:moveTo>
                  <a:pt x="2544402" y="2883032"/>
                </a:moveTo>
                <a:lnTo>
                  <a:pt x="3185827" y="2883032"/>
                </a:lnTo>
                <a:lnTo>
                  <a:pt x="3185827" y="0"/>
                </a:lnTo>
                <a:cubicBezTo>
                  <a:pt x="3185827" y="0"/>
                  <a:pt x="0" y="0"/>
                  <a:pt x="0" y="0"/>
                </a:cubicBezTo>
                <a:lnTo>
                  <a:pt x="0" y="338829"/>
                </a:lnTo>
                <a:cubicBezTo>
                  <a:pt x="0" y="1738140"/>
                  <a:pt x="1144891" y="2883032"/>
                  <a:pt x="2544203" y="2883032"/>
                </a:cubicBezTo>
                <a:close/>
              </a:path>
            </a:pathLst>
          </a:custGeom>
          <a:solidFill>
            <a:srgbClr val="0366FF">
              <a:alpha val="3000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Picture Placeholder 12">
            <a:extLst>
              <a:ext uri="{FF2B5EF4-FFF2-40B4-BE49-F238E27FC236}">
                <a16:creationId xmlns:a16="http://schemas.microsoft.com/office/drawing/2014/main" id="{AB21F52B-5140-C1ED-D7EE-AA12A5A454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76617" y="449264"/>
            <a:ext cx="3168653" cy="5765457"/>
          </a:xfrm>
          <a:custGeom>
            <a:avLst/>
            <a:gdLst>
              <a:gd name="connsiteX0" fmla="*/ 200 w 3168653"/>
              <a:gd name="connsiteY0" fmla="*/ 0 h 5765457"/>
              <a:gd name="connsiteX1" fmla="*/ 653525 w 3168653"/>
              <a:gd name="connsiteY1" fmla="*/ 0 h 5765457"/>
              <a:gd name="connsiteX2" fmla="*/ 900800 w 3168653"/>
              <a:gd name="connsiteY2" fmla="*/ 12593 h 5765457"/>
              <a:gd name="connsiteX3" fmla="*/ 3134091 w 3168653"/>
              <a:gd name="connsiteY3" fmla="*/ 2032520 h 5765457"/>
              <a:gd name="connsiteX4" fmla="*/ 3168653 w 3168653"/>
              <a:gd name="connsiteY4" fmla="*/ 2257290 h 5765457"/>
              <a:gd name="connsiteX5" fmla="*/ 3168653 w 3168653"/>
              <a:gd name="connsiteY5" fmla="*/ 5765457 h 5765457"/>
              <a:gd name="connsiteX6" fmla="*/ 2544402 w 3168653"/>
              <a:gd name="connsiteY6" fmla="*/ 5765457 h 5765457"/>
              <a:gd name="connsiteX7" fmla="*/ 2544203 w 3168653"/>
              <a:gd name="connsiteY7" fmla="*/ 5765457 h 5765457"/>
              <a:gd name="connsiteX8" fmla="*/ 0 w 3168653"/>
              <a:gd name="connsiteY8" fmla="*/ 3221254 h 5765457"/>
              <a:gd name="connsiteX9" fmla="*/ 0 w 3168653"/>
              <a:gd name="connsiteY9" fmla="*/ 2882425 h 5765457"/>
              <a:gd name="connsiteX10" fmla="*/ 200 w 3168653"/>
              <a:gd name="connsiteY10" fmla="*/ 2882425 h 5765457"/>
              <a:gd name="connsiteX11" fmla="*/ 200 w 3168653"/>
              <a:gd name="connsiteY11" fmla="*/ 2874156 h 5765457"/>
              <a:gd name="connsiteX12" fmla="*/ 200 w 3168653"/>
              <a:gd name="connsiteY12" fmla="*/ 7161 h 5765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68653" h="5765457">
                <a:moveTo>
                  <a:pt x="200" y="0"/>
                </a:moveTo>
                <a:lnTo>
                  <a:pt x="653525" y="0"/>
                </a:lnTo>
                <a:lnTo>
                  <a:pt x="900800" y="12593"/>
                </a:lnTo>
                <a:cubicBezTo>
                  <a:pt x="2009094" y="126045"/>
                  <a:pt x="2912804" y="958563"/>
                  <a:pt x="3134091" y="2032520"/>
                </a:cubicBezTo>
                <a:lnTo>
                  <a:pt x="3168653" y="2257290"/>
                </a:lnTo>
                <a:lnTo>
                  <a:pt x="3168653" y="5765457"/>
                </a:lnTo>
                <a:lnTo>
                  <a:pt x="2544402" y="5765457"/>
                </a:lnTo>
                <a:lnTo>
                  <a:pt x="2544203" y="5765457"/>
                </a:lnTo>
                <a:cubicBezTo>
                  <a:pt x="1144891" y="5765457"/>
                  <a:pt x="0" y="4620565"/>
                  <a:pt x="0" y="3221254"/>
                </a:cubicBezTo>
                <a:lnTo>
                  <a:pt x="0" y="2882425"/>
                </a:lnTo>
                <a:lnTo>
                  <a:pt x="200" y="2882425"/>
                </a:lnTo>
                <a:lnTo>
                  <a:pt x="200" y="2874156"/>
                </a:lnTo>
                <a:cubicBezTo>
                  <a:pt x="200" y="2710337"/>
                  <a:pt x="200" y="166021"/>
                  <a:pt x="200" y="716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0DA9DE-AC7F-9695-F16F-960DAB5C37D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118C415-1AD3-68CD-3D0E-F7A3C443110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8587" y="6117112"/>
            <a:ext cx="504825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1342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E6F9D-963A-1B9D-98D0-5F6BF0E0C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528285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5">
            <a:extLst>
              <a:ext uri="{FF2B5EF4-FFF2-40B4-BE49-F238E27FC236}">
                <a16:creationId xmlns:a16="http://schemas.microsoft.com/office/drawing/2014/main" id="{290CCC2A-40EB-0D82-E905-FF557D7F8E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9282" y="4396192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" name="Picture Placeholder 12">
            <a:extLst>
              <a:ext uri="{FF2B5EF4-FFF2-40B4-BE49-F238E27FC236}">
                <a16:creationId xmlns:a16="http://schemas.microsoft.com/office/drawing/2014/main" id="{C31E0CB6-4089-9068-93DB-8071DA5E099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29282" y="2340703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0ADACF33-9F9F-E677-EE4F-2D9B8F4B730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29282" y="369206"/>
            <a:ext cx="2989451" cy="1741229"/>
          </a:xfrm>
          <a:custGeom>
            <a:avLst/>
            <a:gdLst>
              <a:gd name="connsiteX0" fmla="*/ 0 w 3443649"/>
              <a:gd name="connsiteY0" fmla="*/ 0 h 2005780"/>
              <a:gd name="connsiteX1" fmla="*/ 3443649 w 3443649"/>
              <a:gd name="connsiteY1" fmla="*/ 0 h 2005780"/>
              <a:gd name="connsiteX2" fmla="*/ 3443649 w 3443649"/>
              <a:gd name="connsiteY2" fmla="*/ 2005780 h 2005780"/>
              <a:gd name="connsiteX3" fmla="*/ 0 w 3443649"/>
              <a:gd name="connsiteY3" fmla="*/ 2005780 h 2005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3649" h="2005780">
                <a:moveTo>
                  <a:pt x="0" y="0"/>
                </a:moveTo>
                <a:lnTo>
                  <a:pt x="3443649" y="0"/>
                </a:lnTo>
                <a:lnTo>
                  <a:pt x="3443649" y="2005780"/>
                </a:lnTo>
                <a:lnTo>
                  <a:pt x="0" y="200578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938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5DBE7676-D194-3757-6C4A-4A8F2EACE5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946570" y="1486885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8DCF1B89-2998-7866-72D7-94D8841756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46570" y="3931313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CFC4595-2E31-2239-8DF7-1CF97AB370A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901326" y="1479028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2F21ADA-893B-C0F3-E52C-6E3BD116BB8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01326" y="3923456"/>
            <a:ext cx="2344103" cy="198648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3997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7653F31-B3AB-430C-AFA3-86D131772CC2}"/>
              </a:ext>
            </a:extLst>
          </p:cNvPr>
          <p:cNvSpPr/>
          <p:nvPr userDrawn="1"/>
        </p:nvSpPr>
        <p:spPr>
          <a:xfrm>
            <a:off x="8494250" y="405676"/>
            <a:ext cx="3200873" cy="4176409"/>
          </a:xfrm>
          <a:prstGeom prst="roundRect">
            <a:avLst/>
          </a:prstGeom>
          <a:solidFill>
            <a:srgbClr val="8C4FF4"/>
          </a:solidFill>
          <a:ln>
            <a:noFill/>
          </a:ln>
          <a:effectLst>
            <a:glow rad="1574800">
              <a:schemeClr val="accent5">
                <a:alpha val="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FE995FE-E141-4F64-7920-7D05438C9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0366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FE8EDE16-1BE2-53C6-6F0B-83CC3E613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9B0702C-6CC6-15E3-0EA3-4B19A8E40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9457D0-2662-53E7-1EC3-61C5B43D47D2}"/>
              </a:ext>
            </a:extLst>
          </p:cNvPr>
          <p:cNvSpPr txBox="1"/>
          <p:nvPr userDrawn="1"/>
        </p:nvSpPr>
        <p:spPr>
          <a:xfrm>
            <a:off x="7806670" y="3910333"/>
            <a:ext cx="28692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i="1">
                <a:solidFill>
                  <a:schemeClr val="accent5"/>
                </a:solidFill>
                <a:latin typeface="+mj-lt"/>
              </a:rPr>
              <a:t>Strategic Planning</a:t>
            </a:r>
            <a:endParaRPr lang="en-US" sz="4400">
              <a:solidFill>
                <a:schemeClr val="accent5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0CB651-754A-63A4-06DE-D4A712935DED}"/>
              </a:ext>
            </a:extLst>
          </p:cNvPr>
          <p:cNvSpPr/>
          <p:nvPr userDrawn="1"/>
        </p:nvSpPr>
        <p:spPr>
          <a:xfrm>
            <a:off x="8223198" y="797541"/>
            <a:ext cx="1467957" cy="39881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  <a:effectLst>
            <a:glow rad="1574800">
              <a:schemeClr val="accent5">
                <a:alpha val="5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1">
                <a:solidFill>
                  <a:schemeClr val="tx1"/>
                </a:solidFill>
                <a:latin typeface="+mj-lt"/>
              </a:rPr>
              <a:t>2025 plan</a:t>
            </a:r>
          </a:p>
        </p:txBody>
      </p:sp>
    </p:spTree>
    <p:extLst>
      <p:ext uri="{BB962C8B-B14F-4D97-AF65-F5344CB8AC3E}">
        <p14:creationId xmlns:p14="http://schemas.microsoft.com/office/powerpoint/2010/main" val="35969710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8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42812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D42D9-B45F-7B82-66BA-5F1D68B0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E24346-FB20-FDDF-119D-352EB36DC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85620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63EC-1D94-4C77-A8A8-C2C4C3B2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40969-8270-FCE7-2A13-B5E47A11700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1644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63EC-1D94-4C77-A8A8-C2C4C3B20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7B2D10B-B544-8D0A-68C3-1B2B488E65A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88042" y="-42042"/>
            <a:ext cx="12368083" cy="6942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8886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52889-721D-8916-BE9E-23C1EAC1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8F7354-5530-3418-27DF-153AF389F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38272-AA8A-84FA-0F3E-0C2B22C8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2F02C-9DD5-133B-3AC7-CE9E23234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F6923-F478-DD29-DBD3-D99F5DE74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877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1E6B-EFFC-575A-8018-B5DB0B15F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8FD77-06B5-0FA0-20F4-9BAD852B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595A3-F755-0DE1-F507-0BB8ED5D2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104EE-022A-B040-1888-E110452F7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597DA-F37F-36EB-CD10-3BD92221B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2002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EAA7F-7002-B702-8D22-D69C3B8DE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C9AC37-B6C8-CA19-E354-1AB5DBAAB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77E27-FB65-6478-1667-F3A7472A9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572D3-02E3-2C06-4945-4ACA0D68E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D5264-87C6-0D17-43E7-3EB9D12DF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299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ABE52-A45C-496D-9AD1-1D6D51486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627E7-0E95-8091-5C25-07C91C2AB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F041C-B74D-80F4-CF2D-D13FD08C0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C5A5CC-2683-0710-BB2A-41D1CCABE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ED98D-9D9B-EB4E-F948-08E22EB5B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264A4-09F9-F679-8A6A-763B16AF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63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C7002-E936-42F7-3C13-350577DD5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287790-CF5D-2071-00E9-56580D768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8A361-2114-8E3B-3E18-AAB6DCCB9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787C69-A8D5-B381-1E8B-00E950CE30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F975A0-E90D-08BF-6B41-A2510E2593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F09C78-EB9C-F95B-620F-8C7AB6C5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AC7CB-D263-7A57-A93F-71D36E175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7E12B0-1238-5700-FACD-1B858A5B2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8298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F05EE-D538-1419-F786-8E9F86EA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167E47-BB84-2EDA-24F0-80F5E5296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D5B48C-D1BF-73B5-3EDD-857EA533C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33E63-E1DA-D263-BB6F-E805AF130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30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DC67F2-3807-FA81-2875-472C2C712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57EB5-3E00-A2E2-D293-BEEA9D7E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7B6A3-0811-995C-296B-B5F421376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53363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0C69F-F2DF-5AA6-41C6-53ADB7EC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0417B-3139-B735-C815-299F7A7B7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CFDBF8-D2C9-EE02-229E-F8ED779C6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C7CF0-E409-37CC-C853-AD62E58C0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BAB41-FF17-65A4-43BE-8E0916F3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0B79EA-5E09-4211-84DF-54B09FC4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835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337C-E527-BEAD-C3E5-D2EAF97E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B13AA7-7898-9DE1-FE26-F276B6D4CD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395A6-2AA1-BC65-B146-62B9C4DA7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CFDBA-A2F4-9FA8-6260-157104C7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0E2F-5C6B-8378-3EB5-56150E0E7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B023A9-F64F-F6C4-6ED0-F9DB9AB9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3917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1AEAF-8B63-88F3-58D6-B73290276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B12C81-ED4B-2E21-EB50-568236911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528AB-3FD6-4455-8B17-EF138205B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67874-31EB-4D12-27FA-CE61B2DAD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BD838-C30D-3E6F-1D9D-039304E9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8889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C99D32-B49C-F15F-B74F-9C5A27A77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E05B1B-F54F-F0A2-BB51-7112D02A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D0CD1-953E-E31F-CF16-647AA2749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269A4-F851-0F8E-B709-E04DCBD7F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9EE52-6A89-226A-D0CD-621718FC0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9840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2.xml"/><Relationship Id="rId13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4C751-9539-11ED-365B-EA245C683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650DF-3132-B144-1B5A-71A6FC10C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E16657-AC1A-3CBB-CB6C-34022BF601F4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A61BCE77-9728-B9DF-A894-E699D54953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34F97B2-799D-7BAB-6412-51072C1437DB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rgbClr val="8C4FF4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5672446-6AA6-264F-4875-1B6A951A3895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619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7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4" r:id="rId10"/>
    <p:sldLayoutId id="2147483669" r:id="rId11"/>
    <p:sldLayoutId id="2147483662" r:id="rId12"/>
    <p:sldLayoutId id="2147483665" r:id="rId13"/>
    <p:sldLayoutId id="2147483663" r:id="rId14"/>
    <p:sldLayoutId id="2147483666" r:id="rId15"/>
    <p:sldLayoutId id="2147483667" r:id="rId16"/>
    <p:sldLayoutId id="2147483668" r:id="rId17"/>
    <p:sldLayoutId id="2147483650" r:id="rId18"/>
    <p:sldLayoutId id="2147483671" r:id="rId19"/>
    <p:sldLayoutId id="2147483670" r:id="rId20"/>
    <p:sldLayoutId id="2147483672" r:id="rId21"/>
    <p:sldLayoutId id="2147483673" r:id="rId22"/>
    <p:sldLayoutId id="2147483651" r:id="rId23"/>
    <p:sldLayoutId id="2147483687" r:id="rId24"/>
    <p:sldLayoutId id="2147483652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oppins SemiBold" panose="00000700000000000000" pitchFamily="2" charset="0"/>
          <a:ea typeface="+mj-ea"/>
          <a:cs typeface="Poppins SemiBold" panose="000007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ppins Medium" panose="00000600000000000000" pitchFamily="2" charset="0"/>
          <a:ea typeface="+mn-ea"/>
          <a:cs typeface="Poppins Medium" panose="000006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127478-957B-8004-0BA6-0B4FE126B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A278C-0DB2-3F92-52B7-08C91A2EC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DF1E4-27AA-7785-4407-D47EF1083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AD420-502B-40EC-812A-7F7534BDDD3A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569371-613E-EBD0-CB8F-C94B1AD343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DA9A1-96CA-EA9A-C07B-B15E72AFAD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927F9-8D5B-4A5D-A4B0-42D409B67E53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5CC2033-7521-C317-3C8D-C9158139320C}"/>
              </a:ext>
            </a:extLst>
          </p:cNvPr>
          <p:cNvGrpSpPr/>
          <p:nvPr userDrawn="1"/>
        </p:nvGrpSpPr>
        <p:grpSpPr>
          <a:xfrm>
            <a:off x="11558587" y="3429000"/>
            <a:ext cx="504825" cy="3240562"/>
            <a:chOff x="11558587" y="3429000"/>
            <a:chExt cx="504825" cy="3240562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E6039C41-FE40-33D9-BF28-46DDD12008D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1558587" y="6117112"/>
              <a:ext cx="504825" cy="5524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93F90A-9E86-6C25-E63C-A0426FB67EE9}"/>
                </a:ext>
              </a:extLst>
            </p:cNvPr>
            <p:cNvSpPr txBox="1"/>
            <p:nvPr userDrawn="1"/>
          </p:nvSpPr>
          <p:spPr>
            <a:xfrm rot="16200000">
              <a:off x="10561658" y="4524452"/>
              <a:ext cx="24986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>
                  <a:solidFill>
                    <a:srgbClr val="8C4FF4"/>
                  </a:solidFill>
                  <a:latin typeface="Poppins" panose="00000500000000000000" pitchFamily="2" charset="0"/>
                  <a:cs typeface="Poppins" panose="00000500000000000000" pitchFamily="2" charset="0"/>
                </a:rPr>
                <a:t>www.flairstech.com</a:t>
              </a:r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DFB403-1619-6C9D-9A9B-569B0DDDCDAD}"/>
              </a:ext>
            </a:extLst>
          </p:cNvPr>
          <p:cNvCxnSpPr/>
          <p:nvPr userDrawn="1"/>
        </p:nvCxnSpPr>
        <p:spPr>
          <a:xfrm flipV="1">
            <a:off x="11937957" y="0"/>
            <a:ext cx="0" cy="5927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12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366FF"/>
          </a:solidFill>
          <a:latin typeface="Poppins" panose="00000500000000000000" pitchFamily="2" charset="0"/>
          <a:ea typeface="+mj-ea"/>
          <a:cs typeface="Poppins" panose="000005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ppins 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ppins 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ppins 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 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ppins 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doptium.net/" TargetMode="External"/><Relationship Id="rId4" Type="http://schemas.openxmlformats.org/officeDocument/2006/relationships/hyperlink" Target="https://www.jetbrains.com/idea/download/" TargetMode="External"/><Relationship Id="rId5" Type="http://schemas.openxmlformats.org/officeDocument/2006/relationships/hyperlink" Target="https://git-scm.com/downloads" TargetMode="External"/><Relationship Id="rId6" Type="http://schemas.openxmlformats.org/officeDocument/2006/relationships/hyperlink" Target="https://start.spring.io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youtube.com/playlist?list=PLCInYL3l2AajYlZGzU_LVrHdoouf8W6ZN" TargetMode="External"/><Relationship Id="rId4" Type="http://schemas.openxmlformats.org/officeDocument/2006/relationships/hyperlink" Target="https://www.youtube.com/playlist?list=PLCInYL3l2AagY7fFlhCrjpLiIFybW3yQv" TargetMode="External"/><Relationship Id="rId5" Type="http://schemas.openxmlformats.org/officeDocument/2006/relationships/hyperlink" Target="https://www.youtube.com/playlist?list=PLnzqK5HvcpwTgEDztQ8y4K4-VoeoK1QCG" TargetMode="External"/><Relationship Id="rId6" Type="http://schemas.openxmlformats.org/officeDocument/2006/relationships/hyperlink" Target="https://www.youtube.com/playlist?list=PLDoPjvoNmBAw4eOj58MZPakHjaO3frVMF" TargetMode="External"/><Relationship Id="rId7" Type="http://schemas.openxmlformats.org/officeDocument/2006/relationships/hyperlink" Target="https://www.youtube.com/playlist?list=PLDoPjvoNmBAz6DT8SzQ1CODJTH-NIA7R9" TargetMode="External"/><Relationship Id="rId8" Type="http://schemas.openxmlformats.org/officeDocument/2006/relationships/hyperlink" Target="https://www.youtube.com/playlist?list=PLzhWJrmO-SPX9CwimKF2-l0e0dcLEiAI2" TargetMode="External"/><Relationship Id="rId9" Type="http://schemas.openxmlformats.org/officeDocument/2006/relationships/hyperlink" Target="https://www.youtube.com/playlist?list=PLzhWJrmO-SPV-yAYiDx7l78zWF4BAtnHt" TargetMode="External"/><Relationship Id="rId10" Type="http://schemas.openxmlformats.org/officeDocument/2006/relationships/hyperlink" Target="https://dev.java/learn/" TargetMode="External"/><Relationship Id="rId11" Type="http://schemas.openxmlformats.org/officeDocument/2006/relationships/hyperlink" Target="https://roadmap.sh/java" TargetMode="External"/><Relationship Id="rId12" Type="http://schemas.openxmlformats.org/officeDocument/2006/relationships/hyperlink" Target="https://spring.io/guides" TargetMode="External"/><Relationship Id="rId13" Type="http://schemas.openxmlformats.org/officeDocument/2006/relationships/hyperlink" Target="https://www.baeldung.com/" TargetMode="External"/><Relationship Id="rId14" Type="http://schemas.openxmlformats.org/officeDocument/2006/relationships/hyperlink" Target="https://www.danvega.dev/blog/spring-boot-crash-course" TargetMode="External"/><Relationship Id="rId15" Type="http://schemas.openxmlformats.org/officeDocument/2006/relationships/hyperlink" Target="https://www.freecodecamp.org/news/spring-boot-tutorial/" TargetMode="External"/><Relationship Id="rId16" Type="http://schemas.openxmlformats.org/officeDocument/2006/relationships/hyperlink" Target="https://github.com/testcontainers/testcontainers-java-spring-boot-quicksta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www.youtube.com/playlist?list=PLCInYL3l2AajYlZGzU_LVrHdoouf8W6ZN" TargetMode="External"/><Relationship Id="rId4" Type="http://schemas.openxmlformats.org/officeDocument/2006/relationships/hyperlink" Target="https://dev.java/learn/" TargetMode="External"/><Relationship Id="rId5" Type="http://schemas.openxmlformats.org/officeDocument/2006/relationships/hyperlink" Target="https://www.youtube.com/playlist?list=PLCInYL3l2AagY7fFlhCrjpLiIFybW3yQv" TargetMode="External"/><Relationship Id="rId6" Type="http://schemas.openxmlformats.org/officeDocument/2006/relationships/hyperlink" Target="https://www.youtube.com/playlist?list=PLDoPjvoNmBAw4eOj58MZPakHjaO3frVMF" TargetMode="External"/><Relationship Id="rId7" Type="http://schemas.openxmlformats.org/officeDocument/2006/relationships/hyperlink" Target="https://roadmap.sh/java" TargetMode="External"/><Relationship Id="rId8" Type="http://schemas.openxmlformats.org/officeDocument/2006/relationships/hyperlink" Target="https://www.youtube.com/playlist?list=PLDoPjvoNmBAz6DT8SzQ1CODJTH-NIA7R9" TargetMode="External"/><Relationship Id="rId9" Type="http://schemas.openxmlformats.org/officeDocument/2006/relationships/hyperlink" Target="https://www.baeldung.com/" TargetMode="External"/><Relationship Id="rId10" Type="http://schemas.openxmlformats.org/officeDocument/2006/relationships/hyperlink" Target="https://www.youtube.com/playlist?list=PLzhWJrmO-SPX9CwimKF2-l0e0dcLEiAI2" TargetMode="External"/><Relationship Id="rId11" Type="http://schemas.openxmlformats.org/officeDocument/2006/relationships/hyperlink" Target="https://spring.io/guides" TargetMode="External"/><Relationship Id="rId12" Type="http://schemas.openxmlformats.org/officeDocument/2006/relationships/hyperlink" Target="https://www.udemy.com/course/spring-data-and-spring-boot-course/" TargetMode="External"/><Relationship Id="rId13" Type="http://schemas.openxmlformats.org/officeDocument/2006/relationships/hyperlink" Target="https://www.youtube.com/watch?v=5mVIpSqRKzM" TargetMode="External"/><Relationship Id="rId14" Type="http://schemas.openxmlformats.org/officeDocument/2006/relationships/hyperlink" Target="https://docs.spring.io/spring-boot/reference/testing/testcontainers.html" TargetMode="External"/><Relationship Id="rId15" Type="http://schemas.openxmlformats.org/officeDocument/2006/relationships/hyperlink" Target="https://www.youtube.com/playlist?list=PLzhWJrmO-SPV-yAYiDx7l78zWF4BAtnH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odingbat.com/java" TargetMode="External"/><Relationship Id="rId4" Type="http://schemas.openxmlformats.org/officeDocument/2006/relationships/hyperlink" Target="https://exercism.org/tracks/java" TargetMode="External"/><Relationship Id="rId5" Type="http://schemas.openxmlformats.org/officeDocument/2006/relationships/hyperlink" Target="https://leetcode.com/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image" Target="../media/image15.sv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2104" y="3246120"/>
            <a:ext cx="6766560" cy="1737360"/>
          </a:xfrm>
        </p:spPr>
        <p:txBody>
          <a:bodyPr wrap="square" anchor="b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Poppins"/>
              </a:rPr>
              <a:t>Java + Spring Boot Internship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7432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DFE2"/>
                </a:solidFill>
                <a:latin typeface="Poppins"/>
              </a:rPr>
              <a:t>COURSE OVERVIEW  ·  8 WEEKS  ·  FULL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074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Poppins"/>
              </a:rPr>
              <a:t>From zero to junior backend developer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What we'll cover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1508760"/>
            <a:ext cx="685800" cy="68580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5648" y="15087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The program at a glance</a:t>
            </a:r>
          </a:p>
        </p:txBody>
      </p:sp>
      <p:sp>
        <p:nvSpPr>
          <p:cNvPr id="6" name="Oval 5"/>
          <p:cNvSpPr/>
          <p:nvPr/>
        </p:nvSpPr>
        <p:spPr>
          <a:xfrm>
            <a:off x="6053328" y="1508760"/>
            <a:ext cx="685800" cy="68580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7728" y="150876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What you'll learn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2606039"/>
            <a:ext cx="685800" cy="68580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5648" y="2606039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How the 8 weeks run</a:t>
            </a:r>
          </a:p>
        </p:txBody>
      </p:sp>
      <p:sp>
        <p:nvSpPr>
          <p:cNvPr id="10" name="Oval 9"/>
          <p:cNvSpPr/>
          <p:nvPr/>
        </p:nvSpPr>
        <p:spPr>
          <a:xfrm>
            <a:off x="6053328" y="2606039"/>
            <a:ext cx="685800" cy="68580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2606039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Projects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3703320"/>
            <a:ext cx="685800" cy="68580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37033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How you're assessed</a:t>
            </a:r>
          </a:p>
        </p:txBody>
      </p:sp>
      <p:sp>
        <p:nvSpPr>
          <p:cNvPr id="14" name="Oval 13"/>
          <p:cNvSpPr/>
          <p:nvPr/>
        </p:nvSpPr>
        <p:spPr>
          <a:xfrm>
            <a:off x="6053328" y="3703320"/>
            <a:ext cx="685800" cy="68580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370332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Tools and resources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4800600"/>
            <a:ext cx="685800" cy="68580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5648" y="480060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Career preparation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The program at a glance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 weeks, full time"/>
          <p:cNvSpPr/>
          <p:nvPr/>
        </p:nvSpPr>
        <p:spPr>
          <a:xfrm>
            <a:off x="841248" y="1600200"/>
            <a:ext cx="1892807" cy="237744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189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926080"/>
            <a:ext cx="16184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weeks, full time</a:t>
            </a:r>
          </a:p>
        </p:txBody>
      </p:sp>
      <p:sp>
        <p:nvSpPr>
          <p:cNvPr id="7" name="Stat hours of learning"/>
          <p:cNvSpPr/>
          <p:nvPr/>
        </p:nvSpPr>
        <p:spPr>
          <a:xfrm>
            <a:off x="2916936" y="1600200"/>
            <a:ext cx="1892807" cy="237744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916936" y="1783080"/>
            <a:ext cx="189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8C4FF4"/>
                </a:solidFill>
                <a:latin typeface="Poppins"/>
              </a:rPr>
              <a:t>320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2926080"/>
            <a:ext cx="16184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hours of learning</a:t>
            </a:r>
          </a:p>
        </p:txBody>
      </p:sp>
      <p:sp>
        <p:nvSpPr>
          <p:cNvPr id="10" name="Stat hours of live sessions"/>
          <p:cNvSpPr/>
          <p:nvPr/>
        </p:nvSpPr>
        <p:spPr>
          <a:xfrm>
            <a:off x="4992624" y="1600200"/>
            <a:ext cx="1892807" cy="2377440"/>
          </a:xfrm>
          <a:prstGeom prst="roundRect">
            <a:avLst>
              <a:gd name="adj" fmla="val 12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92624" y="1783080"/>
            <a:ext cx="189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2926080"/>
            <a:ext cx="16184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hours of live sessions</a:t>
            </a:r>
          </a:p>
        </p:txBody>
      </p:sp>
      <p:sp>
        <p:nvSpPr>
          <p:cNvPr id="13" name="Stat portfolio projects"/>
          <p:cNvSpPr/>
          <p:nvPr/>
        </p:nvSpPr>
        <p:spPr>
          <a:xfrm>
            <a:off x="7068312" y="1600200"/>
            <a:ext cx="1892807" cy="237744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68312" y="1783080"/>
            <a:ext cx="189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8C4FF4"/>
                </a:solidFill>
                <a:latin typeface="Poppi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5472" y="2926080"/>
            <a:ext cx="16184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portfolio projects</a:t>
            </a:r>
          </a:p>
        </p:txBody>
      </p:sp>
      <p:sp>
        <p:nvSpPr>
          <p:cNvPr id="16" name="Stat interview problems"/>
          <p:cNvSpPr/>
          <p:nvPr/>
        </p:nvSpPr>
        <p:spPr>
          <a:xfrm>
            <a:off x="9144000" y="1600200"/>
            <a:ext cx="1892807" cy="237744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0" y="1783080"/>
            <a:ext cx="189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0366FF"/>
                </a:solidFill>
                <a:latin typeface="Poppins"/>
              </a:rPr>
              <a:t>70-110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926080"/>
            <a:ext cx="16184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interview problems</a:t>
            </a:r>
          </a:p>
        </p:txBody>
      </p:sp>
      <p:sp>
        <p:nvSpPr>
          <p:cNvPr id="19" name="Outcome band"/>
          <p:cNvSpPr/>
          <p:nvPr/>
        </p:nvSpPr>
        <p:spPr>
          <a:xfrm>
            <a:off x="841248" y="4343400"/>
            <a:ext cx="10241280" cy="146304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4343400"/>
            <a:ext cx="978408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Goal: </a:t>
            </a:r>
            <a:r>
              <a:rPr sz="1700" b="0" i="0">
                <a:solidFill>
                  <a:srgbClr val="1B2433"/>
                </a:solidFill>
                <a:latin typeface="Poppins"/>
              </a:rPr>
              <a:t>two deployed projects, real team Git experience and interview practice, ready for internships, trainee programs and 0-1 year backend roles.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The stack you will use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ck Java 25"/>
          <p:cNvSpPr/>
          <p:nvPr/>
        </p:nvSpPr>
        <p:spPr>
          <a:xfrm>
            <a:off x="841248" y="155448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9848" y="187451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Java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Language (LTS)</a:t>
            </a:r>
          </a:p>
        </p:txBody>
      </p:sp>
      <p:sp>
        <p:nvSpPr>
          <p:cNvPr id="7" name="Stack Spring Boot 4.1"/>
          <p:cNvSpPr/>
          <p:nvPr/>
        </p:nvSpPr>
        <p:spPr>
          <a:xfrm>
            <a:off x="3447288" y="155448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75887" y="187451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Spring Boot 4.1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Backend framework</a:t>
            </a:r>
          </a:p>
        </p:txBody>
      </p:sp>
      <p:sp>
        <p:nvSpPr>
          <p:cNvPr id="10" name="Stack Maven"/>
          <p:cNvSpPr/>
          <p:nvPr/>
        </p:nvSpPr>
        <p:spPr>
          <a:xfrm>
            <a:off x="6053328" y="155448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1928" y="187451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Maven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Build tool</a:t>
            </a:r>
          </a:p>
        </p:txBody>
      </p:sp>
      <p:sp>
        <p:nvSpPr>
          <p:cNvPr id="13" name="Stack PostgreSQL"/>
          <p:cNvSpPr/>
          <p:nvPr/>
        </p:nvSpPr>
        <p:spPr>
          <a:xfrm>
            <a:off x="8659368" y="155448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87968" y="187451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PostgreSQL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8" y="246888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Database</a:t>
            </a:r>
          </a:p>
        </p:txBody>
      </p:sp>
      <p:sp>
        <p:nvSpPr>
          <p:cNvPr id="16" name="Stack Docker"/>
          <p:cNvSpPr/>
          <p:nvPr/>
        </p:nvSpPr>
        <p:spPr>
          <a:xfrm>
            <a:off x="841248" y="365760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9848" y="397763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57200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Containers</a:t>
            </a:r>
          </a:p>
        </p:txBody>
      </p:sp>
      <p:sp>
        <p:nvSpPr>
          <p:cNvPr id="19" name="Stack Redis"/>
          <p:cNvSpPr/>
          <p:nvPr/>
        </p:nvSpPr>
        <p:spPr>
          <a:xfrm>
            <a:off x="3447288" y="365760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75887" y="397763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Redis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7" y="457200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Caching</a:t>
            </a:r>
          </a:p>
        </p:txBody>
      </p:sp>
      <p:sp>
        <p:nvSpPr>
          <p:cNvPr id="22" name="Stack RabbitMQ"/>
          <p:cNvSpPr/>
          <p:nvPr/>
        </p:nvSpPr>
        <p:spPr>
          <a:xfrm>
            <a:off x="6053328" y="365760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1928" y="397763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RabbitMQ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457200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Events</a:t>
            </a:r>
          </a:p>
        </p:txBody>
      </p:sp>
      <p:sp>
        <p:nvSpPr>
          <p:cNvPr id="25" name="Stack GitHub Actions"/>
          <p:cNvSpPr/>
          <p:nvPr/>
        </p:nvSpPr>
        <p:spPr>
          <a:xfrm>
            <a:off x="8659368" y="3657600"/>
            <a:ext cx="2423160" cy="1828800"/>
          </a:xfrm>
          <a:prstGeom prst="roundRect">
            <a:avLst>
              <a:gd name="adj" fmla="val 14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87968" y="3977639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GitHub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457200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B6475"/>
                </a:solidFill>
                <a:latin typeface="Poppins"/>
              </a:rPr>
              <a:t>CI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89788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Also: IntelliJ IDEA, Git and GitHub, Postman, JUnit 5, Mockito, Testcontainers, Flyway.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What you'll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Outcomes, and what is core versus optional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By Week 8, you can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Java and problem sol"/>
          <p:cNvSpPr/>
          <p:nvPr/>
        </p:nvSpPr>
        <p:spPr>
          <a:xfrm>
            <a:off x="841248" y="1463040"/>
            <a:ext cx="4983480" cy="210312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Java and problem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21408"/>
            <a:ext cx="4581144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Write, debug and test Java with OOP, collections, streams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Solve interview problems by pattern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Apply Builder, Factory, Strategy; explain SOLID</a:t>
            </a:r>
          </a:p>
        </p:txBody>
      </p:sp>
      <p:sp>
        <p:nvSpPr>
          <p:cNvPr id="7" name="Card Data and teamwork"/>
          <p:cNvSpPr/>
          <p:nvPr/>
        </p:nvSpPr>
        <p:spPr>
          <a:xfrm>
            <a:off x="6053328" y="1463040"/>
            <a:ext cx="4983480" cy="210312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5449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Data and teamwork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4496" y="2121408"/>
            <a:ext cx="4581144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Write SQL with JOINs, window functions, indexes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Explain transactions (ACID)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Work with branches, pull requests and reviews</a:t>
            </a:r>
          </a:p>
        </p:txBody>
      </p:sp>
      <p:sp>
        <p:nvSpPr>
          <p:cNvPr id="10" name="Card Spring backends"/>
          <p:cNvSpPr/>
          <p:nvPr/>
        </p:nvSpPr>
        <p:spPr>
          <a:xfrm>
            <a:off x="841248" y="3749039"/>
            <a:ext cx="4983480" cy="210312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42416" y="3950207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E2841"/>
                </a:solidFill>
                <a:latin typeface="Poppins"/>
              </a:rPr>
              <a:t>Spring backends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407407"/>
            <a:ext cx="4581144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Layered REST APIs with DTOs and validation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JPA without N+1, Flyway migrations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JWT security with roles and ownership rules</a:t>
            </a:r>
          </a:p>
        </p:txBody>
      </p:sp>
      <p:sp>
        <p:nvSpPr>
          <p:cNvPr id="13" name="Card Production skills"/>
          <p:cNvSpPr/>
          <p:nvPr/>
        </p:nvSpPr>
        <p:spPr>
          <a:xfrm>
            <a:off x="6053328" y="3749039"/>
            <a:ext cx="4983480" cy="210312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54496" y="3950207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Production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4407407"/>
            <a:ext cx="4581144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Unit, slice and Testcontainers tests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Redis caching and RabbitMQ events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Docker, CI, VPS deployment, Actuator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Core, concept-level and after the course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Core (both interns)"/>
          <p:cNvSpPr/>
          <p:nvPr/>
        </p:nvSpPr>
        <p:spPr>
          <a:xfrm>
            <a:off x="841248" y="1508760"/>
            <a:ext cx="3246120" cy="438912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70992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Core (both interns)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67128"/>
            <a:ext cx="2843784" cy="3529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Java, OOP, collections, modern Java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SQL, JDBC, Git, HTTP, REST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Spring Boot, JPA, Flyway, Docker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Security, JWT, testing, CI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Redis, RabbitMQ, deployment</a:t>
            </a:r>
          </a:p>
        </p:txBody>
      </p:sp>
      <p:sp>
        <p:nvSpPr>
          <p:cNvPr id="7" name="Card Concept level"/>
          <p:cNvSpPr/>
          <p:nvPr/>
        </p:nvSpPr>
        <p:spPr>
          <a:xfrm>
            <a:off x="4315968" y="1508760"/>
            <a:ext cx="3246120" cy="438912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70992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Concept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167128"/>
            <a:ext cx="2843784" cy="3529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Concurrency for Intern A (hands-on for Intern B)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Microservices and API gateways (whiteboard)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Gateway build: optional for Intern B</a:t>
            </a:r>
          </a:p>
        </p:txBody>
      </p:sp>
      <p:sp>
        <p:nvSpPr>
          <p:cNvPr id="10" name="Card After the course"/>
          <p:cNvSpPr/>
          <p:nvPr/>
        </p:nvSpPr>
        <p:spPr>
          <a:xfrm>
            <a:off x="7790688" y="1508760"/>
            <a:ext cx="3246120" cy="438912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91856" y="170992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B6475"/>
                </a:solidFill>
                <a:latin typeface="Poppins"/>
              </a:rPr>
              <a:t>After the 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167128"/>
            <a:ext cx="2843784" cy="3529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Kafka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Kubernetes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GraalVM native images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WebFlux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Gradle, Liquibase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How the 8 weeks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The roadmap, the weekly rhythm and the two tracks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The 8-week roadmap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Week 1"/>
          <p:cNvSpPr/>
          <p:nvPr/>
        </p:nvSpPr>
        <p:spPr>
          <a:xfrm>
            <a:off x="841248" y="146304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276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0116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Java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88036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366FF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Console Calculator</a:t>
            </a:r>
          </a:p>
        </p:txBody>
      </p:sp>
      <p:sp>
        <p:nvSpPr>
          <p:cNvPr id="8" name="Week 2"/>
          <p:cNvSpPr/>
          <p:nvPr/>
        </p:nvSpPr>
        <p:spPr>
          <a:xfrm>
            <a:off x="3447288" y="146304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48456" y="16276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Week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8456" y="20116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Methods, arrays, 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88036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366FF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Grade Manager</a:t>
            </a:r>
          </a:p>
        </p:txBody>
      </p:sp>
      <p:sp>
        <p:nvSpPr>
          <p:cNvPr id="12" name="Week 3"/>
          <p:cNvSpPr/>
          <p:nvPr/>
        </p:nvSpPr>
        <p:spPr>
          <a:xfrm>
            <a:off x="6053328" y="146304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54496" y="16276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Week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0116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OOP, collections, 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88036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366FF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Library System v1</a:t>
            </a:r>
          </a:p>
        </p:txBody>
      </p:sp>
      <p:sp>
        <p:nvSpPr>
          <p:cNvPr id="16" name="Week 4"/>
          <p:cNvSpPr/>
          <p:nvPr/>
        </p:nvSpPr>
        <p:spPr>
          <a:xfrm>
            <a:off x="8659368" y="146304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0536" y="162763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Week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0536" y="201168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Modern Java, SQL,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88036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366FF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Library v2 + checkpoint</a:t>
            </a:r>
          </a:p>
        </p:txBody>
      </p:sp>
      <p:sp>
        <p:nvSpPr>
          <p:cNvPr id="20" name="Week 5"/>
          <p:cNvSpPr/>
          <p:nvPr/>
        </p:nvSpPr>
        <p:spPr>
          <a:xfrm>
            <a:off x="841248" y="370332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42416" y="3867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C4FF4"/>
                </a:solidFill>
                <a:latin typeface="Poppins"/>
              </a:rPr>
              <a:t>Week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425196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Spring Boot 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" y="5120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8C4FF4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Individual project final</a:t>
            </a:r>
          </a:p>
        </p:txBody>
      </p:sp>
      <p:sp>
        <p:nvSpPr>
          <p:cNvPr id="24" name="Week 6"/>
          <p:cNvSpPr/>
          <p:nvPr/>
        </p:nvSpPr>
        <p:spPr>
          <a:xfrm>
            <a:off x="3447288" y="370332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48456" y="3867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C4FF4"/>
                </a:solidFill>
                <a:latin typeface="Poppins"/>
              </a:rPr>
              <a:t>Week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48456" y="425196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JPA, Flyway, Docker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8456" y="5120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8C4FF4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Capstone sprint 1</a:t>
            </a:r>
          </a:p>
        </p:txBody>
      </p:sp>
      <p:sp>
        <p:nvSpPr>
          <p:cNvPr id="28" name="Week 7"/>
          <p:cNvSpPr/>
          <p:nvPr/>
        </p:nvSpPr>
        <p:spPr>
          <a:xfrm>
            <a:off x="6053328" y="370332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54496" y="3867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C4FF4"/>
                </a:solidFill>
                <a:latin typeface="Poppins"/>
              </a:rPr>
              <a:t>Week 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425196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Security, JWT,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496" y="5120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8C4FF4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Capstone sprint 2</a:t>
            </a:r>
          </a:p>
        </p:txBody>
      </p:sp>
      <p:sp>
        <p:nvSpPr>
          <p:cNvPr id="32" name="Week 8"/>
          <p:cNvSpPr/>
          <p:nvPr/>
        </p:nvSpPr>
        <p:spPr>
          <a:xfrm>
            <a:off x="8659368" y="3703320"/>
            <a:ext cx="2423160" cy="20574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860536" y="3867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C4FF4"/>
                </a:solidFill>
                <a:latin typeface="Poppins"/>
              </a:rPr>
              <a:t>Week 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425196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Redis, RabbitMQ,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5120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8C4FF4"/>
                </a:solidFill>
                <a:latin typeface="Poppins"/>
              </a:rPr>
              <a:t>→ </a:t>
            </a:r>
            <a:r>
              <a:rPr sz="1300" b="0" i="0">
                <a:solidFill>
                  <a:srgbClr val="5B6475"/>
                </a:solidFill>
                <a:latin typeface="Poppins"/>
              </a:rPr>
              <a:t>Final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A typical week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ay Sun"/>
          <p:cNvSpPr/>
          <p:nvPr/>
        </p:nvSpPr>
        <p:spPr>
          <a:xfrm>
            <a:off x="841248" y="1600200"/>
            <a:ext cx="1892807" cy="4023360"/>
          </a:xfrm>
          <a:prstGeom prst="roundRect">
            <a:avLst>
              <a:gd name="adj" fmla="val 12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17830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366FF"/>
                </a:solidFill>
                <a:latin typeface="Poppins"/>
              </a:rPr>
              <a:t>Sun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60604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3"/>
                </a:solidFill>
                <a:latin typeface="Poppins"/>
              </a:rPr>
              <a:t>Sprint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429000"/>
            <a:ext cx="1600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Tickets go on the board; study and build</a:t>
            </a:r>
          </a:p>
        </p:txBody>
      </p:sp>
      <p:sp>
        <p:nvSpPr>
          <p:cNvPr id="8" name="Day Mon"/>
          <p:cNvSpPr/>
          <p:nvPr/>
        </p:nvSpPr>
        <p:spPr>
          <a:xfrm>
            <a:off x="2916936" y="1600200"/>
            <a:ext cx="1892807" cy="4023360"/>
          </a:xfrm>
          <a:prstGeom prst="roundRect">
            <a:avLst>
              <a:gd name="adj" fmla="val 12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99816" y="17830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Poppins"/>
              </a:rPr>
              <a:t>Mon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9816" y="260604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Live session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9816" y="3429000"/>
            <a:ext cx="1600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9:00-13:00, then lab on the topic</a:t>
            </a:r>
          </a:p>
        </p:txBody>
      </p:sp>
      <p:sp>
        <p:nvSpPr>
          <p:cNvPr id="12" name="Day Tue"/>
          <p:cNvSpPr/>
          <p:nvPr/>
        </p:nvSpPr>
        <p:spPr>
          <a:xfrm>
            <a:off x="4992624" y="1600200"/>
            <a:ext cx="1892807" cy="4023360"/>
          </a:xfrm>
          <a:prstGeom prst="roundRect">
            <a:avLst>
              <a:gd name="adj" fmla="val 12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175504" y="17830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366FF"/>
                </a:solidFill>
                <a:latin typeface="Poppins"/>
              </a:rPr>
              <a:t>Tue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5504" y="260604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3"/>
                </a:solidFill>
                <a:latin typeface="Poppins"/>
              </a:rPr>
              <a:t>Study and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3429000"/>
            <a:ext cx="1600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Videos, problems, tickets</a:t>
            </a:r>
          </a:p>
        </p:txBody>
      </p:sp>
      <p:sp>
        <p:nvSpPr>
          <p:cNvPr id="16" name="Day Wed"/>
          <p:cNvSpPr/>
          <p:nvPr/>
        </p:nvSpPr>
        <p:spPr>
          <a:xfrm>
            <a:off x="7068312" y="1600200"/>
            <a:ext cx="1892807" cy="4023360"/>
          </a:xfrm>
          <a:prstGeom prst="roundRect">
            <a:avLst>
              <a:gd name="adj" fmla="val 12000"/>
            </a:avLst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51192" y="17830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Poppins"/>
              </a:rPr>
              <a:t>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260604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Live session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3429000"/>
            <a:ext cx="1600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9:00-13:00, then lab on the topic</a:t>
            </a:r>
          </a:p>
        </p:txBody>
      </p:sp>
      <p:sp>
        <p:nvSpPr>
          <p:cNvPr id="20" name="Day Thu"/>
          <p:cNvSpPr/>
          <p:nvPr/>
        </p:nvSpPr>
        <p:spPr>
          <a:xfrm>
            <a:off x="9144000" y="1600200"/>
            <a:ext cx="1892807" cy="4023360"/>
          </a:xfrm>
          <a:prstGeom prst="roundRect">
            <a:avLst>
              <a:gd name="adj" fmla="val 12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17830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E2841"/>
                </a:solidFill>
                <a:latin typeface="Poppins"/>
              </a:rPr>
              <a:t>Thu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606040"/>
            <a:ext cx="1600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3"/>
                </a:solidFill>
                <a:latin typeface="Poppins"/>
              </a:rPr>
              <a:t>Demo 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429000"/>
            <a:ext cx="16002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PR reviews, sprint demo, retro, quiz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A typical day (non-session days)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ot Stand-up"/>
          <p:cNvSpPr/>
          <p:nvPr/>
        </p:nvSpPr>
        <p:spPr>
          <a:xfrm>
            <a:off x="841248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Stand-up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475"/>
                </a:solidFill>
                <a:latin typeface="Poppins"/>
              </a:rPr>
              <a:t>Yesterday, today, blockers</a:t>
            </a:r>
          </a:p>
        </p:txBody>
      </p:sp>
      <p:sp>
        <p:nvSpPr>
          <p:cNvPr id="8" name="Slot Study"/>
          <p:cNvSpPr/>
          <p:nvPr/>
        </p:nvSpPr>
        <p:spPr>
          <a:xfrm>
            <a:off x="2560320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560320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9:15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475"/>
                </a:solidFill>
                <a:latin typeface="Poppins"/>
              </a:rPr>
              <a:t>Videos and docs, Arabic first</a:t>
            </a:r>
          </a:p>
        </p:txBody>
      </p:sp>
      <p:sp>
        <p:nvSpPr>
          <p:cNvPr id="12" name="Slot Problems"/>
          <p:cNvSpPr/>
          <p:nvPr/>
        </p:nvSpPr>
        <p:spPr>
          <a:xfrm>
            <a:off x="4279392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79392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11:30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1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Problems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475"/>
                </a:solidFill>
                <a:latin typeface="Poppins"/>
              </a:rPr>
              <a:t>2-3 from the weekly sheet</a:t>
            </a:r>
          </a:p>
        </p:txBody>
      </p:sp>
      <p:sp>
        <p:nvSpPr>
          <p:cNvPr id="16" name="Slot Break"/>
          <p:cNvSpPr/>
          <p:nvPr/>
        </p:nvSpPr>
        <p:spPr>
          <a:xfrm>
            <a:off x="5998464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98464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5B6475"/>
                </a:solidFill>
                <a:latin typeface="Poppins"/>
              </a:rPr>
              <a:t>13:00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3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Break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</a:p>
        </p:txBody>
      </p:sp>
      <p:sp>
        <p:nvSpPr>
          <p:cNvPr id="20" name="Slot Build"/>
          <p:cNvSpPr/>
          <p:nvPr/>
        </p:nvSpPr>
        <p:spPr>
          <a:xfrm>
            <a:off x="7717536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17536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14:00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8975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7263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475"/>
                </a:solidFill>
                <a:latin typeface="Poppins"/>
              </a:rPr>
              <a:t>Tickets, pull requests, tests</a:t>
            </a:r>
          </a:p>
        </p:txBody>
      </p:sp>
      <p:sp>
        <p:nvSpPr>
          <p:cNvPr id="24" name="Slot Wrap-up"/>
          <p:cNvSpPr/>
          <p:nvPr/>
        </p:nvSpPr>
        <p:spPr>
          <a:xfrm>
            <a:off x="9436607" y="1600200"/>
            <a:ext cx="1572768" cy="274320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436607" y="1783080"/>
            <a:ext cx="1572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16:45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7" y="2331720"/>
            <a:ext cx="13898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B2433"/>
                </a:solidFill>
                <a:latin typeface="Poppins"/>
              </a:rPr>
              <a:t>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46335" y="2880360"/>
            <a:ext cx="135331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B6475"/>
                </a:solidFill>
                <a:latin typeface="Poppins"/>
              </a:rPr>
              <a:t>Push code, 3-line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Hours per week</a:t>
            </a:r>
          </a:p>
        </p:txBody>
      </p:sp>
      <p:sp>
        <p:nvSpPr>
          <p:cNvPr id="29" name="Hours Live"/>
          <p:cNvSpPr/>
          <p:nvPr/>
        </p:nvSpPr>
        <p:spPr>
          <a:xfrm>
            <a:off x="841248" y="5029200"/>
            <a:ext cx="1892807" cy="822960"/>
          </a:xfrm>
          <a:prstGeom prst="roundRect">
            <a:avLst>
              <a:gd name="adj" fmla="val 2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8" y="5029200"/>
            <a:ext cx="18928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8 h 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Live</a:t>
            </a:r>
          </a:p>
        </p:txBody>
      </p:sp>
      <p:sp>
        <p:nvSpPr>
          <p:cNvPr id="31" name="Hours Study"/>
          <p:cNvSpPr/>
          <p:nvPr/>
        </p:nvSpPr>
        <p:spPr>
          <a:xfrm>
            <a:off x="2916936" y="5029200"/>
            <a:ext cx="1892807" cy="822960"/>
          </a:xfrm>
          <a:prstGeom prst="roundRect">
            <a:avLst>
              <a:gd name="adj" fmla="val 2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16936" y="5029200"/>
            <a:ext cx="18928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9 h 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Study</a:t>
            </a:r>
          </a:p>
        </p:txBody>
      </p:sp>
      <p:sp>
        <p:nvSpPr>
          <p:cNvPr id="33" name="Hours Build"/>
          <p:cNvSpPr/>
          <p:nvPr/>
        </p:nvSpPr>
        <p:spPr>
          <a:xfrm>
            <a:off x="4992624" y="5029200"/>
            <a:ext cx="1892807" cy="822960"/>
          </a:xfrm>
          <a:prstGeom prst="roundRect">
            <a:avLst>
              <a:gd name="adj" fmla="val 2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92624" y="5029200"/>
            <a:ext cx="18928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16 h 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Build</a:t>
            </a:r>
          </a:p>
        </p:txBody>
      </p:sp>
      <p:sp>
        <p:nvSpPr>
          <p:cNvPr id="35" name="Hours Problems"/>
          <p:cNvSpPr/>
          <p:nvPr/>
        </p:nvSpPr>
        <p:spPr>
          <a:xfrm>
            <a:off x="7068312" y="5029200"/>
            <a:ext cx="1892807" cy="822960"/>
          </a:xfrm>
          <a:prstGeom prst="roundRect">
            <a:avLst>
              <a:gd name="adj" fmla="val 2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068312" y="5029200"/>
            <a:ext cx="18928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5 h 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Problems</a:t>
            </a:r>
          </a:p>
        </p:txBody>
      </p:sp>
      <p:sp>
        <p:nvSpPr>
          <p:cNvPr id="37" name="Hours Team"/>
          <p:cNvSpPr/>
          <p:nvPr/>
        </p:nvSpPr>
        <p:spPr>
          <a:xfrm>
            <a:off x="9144000" y="5029200"/>
            <a:ext cx="1892807" cy="822960"/>
          </a:xfrm>
          <a:prstGeom prst="roundRect">
            <a:avLst>
              <a:gd name="adj" fmla="val 2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5029200"/>
            <a:ext cx="18928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2 h 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Two tracks, one team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463040"/>
          <a:ext cx="10241280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4297680"/>
              </a:tblGrid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Intern A (non-CS)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Intern B (CS, .NET)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Weeks 1-2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Full plan as written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Java for C# devs in 3-4 days, then OOP and streams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Weeks 3-4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Full plan; extra SQL and JDBC instead of concurrency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Library v1-v3 in Week 3; concurrency, early Spring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Live sessions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All sessions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Weeks 1-2: Java-specific parts; all from Week 3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Weeks 5-8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Pair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Pair capstone + messaging, Docker; optional gateway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Problems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~70, mostly Easy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~110, mostly Medium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62179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First job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Internships, trainee, 0-1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Junior roles, .NET + Java 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Pairing rules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1 hour a day"/>
          <p:cNvSpPr/>
          <p:nvPr/>
        </p:nvSpPr>
        <p:spPr>
          <a:xfrm>
            <a:off x="841248" y="14630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1 hour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21408"/>
            <a:ext cx="458114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Intern B helps for up to an hour daily, by reviewing and asking questions, never by typing A's code.</a:t>
            </a:r>
          </a:p>
        </p:txBody>
      </p:sp>
      <p:sp>
        <p:nvSpPr>
          <p:cNvPr id="7" name="Card A drives"/>
          <p:cNvSpPr/>
          <p:nvPr/>
        </p:nvSpPr>
        <p:spPr>
          <a:xfrm>
            <a:off x="6053328" y="146304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5449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A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4496" y="2121408"/>
            <a:ext cx="458114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In pair programming, Intern A types and Intern B navigates.</a:t>
            </a:r>
          </a:p>
        </p:txBody>
      </p:sp>
      <p:sp>
        <p:nvSpPr>
          <p:cNvPr id="10" name="Card Review each other"/>
          <p:cNvSpPr/>
          <p:nvPr/>
        </p:nvSpPr>
        <p:spPr>
          <a:xfrm>
            <a:off x="841248" y="370332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42416" y="390448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E2841"/>
                </a:solidFill>
                <a:latin typeface="Poppins"/>
              </a:rPr>
              <a:t>Review each other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361688"/>
            <a:ext cx="458114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From Week 3, every pull request needs the other intern's approval.</a:t>
            </a:r>
          </a:p>
        </p:txBody>
      </p:sp>
      <p:sp>
        <p:nvSpPr>
          <p:cNvPr id="13" name="Card Explain-back"/>
          <p:cNvSpPr/>
          <p:nvPr/>
        </p:nvSpPr>
        <p:spPr>
          <a:xfrm>
            <a:off x="6053328" y="3703320"/>
            <a:ext cx="4983480" cy="201168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54496" y="390448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Explain-back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4361688"/>
            <a:ext cx="458114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At each demo, A explains a design decision by B, and B explains a test written by 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Working like a real team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ard To do"/>
          <p:cNvSpPr/>
          <p:nvPr/>
        </p:nvSpPr>
        <p:spPr>
          <a:xfrm>
            <a:off x="841248" y="1554480"/>
            <a:ext cx="1645920" cy="29260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To do</a:t>
            </a:r>
          </a:p>
        </p:txBody>
      </p:sp>
      <p:sp>
        <p:nvSpPr>
          <p:cNvPr id="6" name="Ticket To do0"/>
          <p:cNvSpPr/>
          <p:nvPr/>
        </p:nvSpPr>
        <p:spPr>
          <a:xfrm>
            <a:off x="978408" y="2148840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icket To do1"/>
          <p:cNvSpPr/>
          <p:nvPr/>
        </p:nvSpPr>
        <p:spPr>
          <a:xfrm>
            <a:off x="978408" y="2862072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icket To do2"/>
          <p:cNvSpPr/>
          <p:nvPr/>
        </p:nvSpPr>
        <p:spPr>
          <a:xfrm>
            <a:off x="978408" y="3575304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Board In progress"/>
          <p:cNvSpPr/>
          <p:nvPr/>
        </p:nvSpPr>
        <p:spPr>
          <a:xfrm>
            <a:off x="2670048" y="1554480"/>
            <a:ext cx="1645920" cy="29260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70048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In progress</a:t>
            </a:r>
          </a:p>
        </p:txBody>
      </p:sp>
      <p:sp>
        <p:nvSpPr>
          <p:cNvPr id="11" name="Ticket In progress0"/>
          <p:cNvSpPr/>
          <p:nvPr/>
        </p:nvSpPr>
        <p:spPr>
          <a:xfrm>
            <a:off x="2807208" y="2148840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icket In progress1"/>
          <p:cNvSpPr/>
          <p:nvPr/>
        </p:nvSpPr>
        <p:spPr>
          <a:xfrm>
            <a:off x="2807208" y="2862072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Board In review"/>
          <p:cNvSpPr/>
          <p:nvPr/>
        </p:nvSpPr>
        <p:spPr>
          <a:xfrm>
            <a:off x="4498848" y="1554480"/>
            <a:ext cx="1645920" cy="29260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98848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In review</a:t>
            </a:r>
          </a:p>
        </p:txBody>
      </p:sp>
      <p:sp>
        <p:nvSpPr>
          <p:cNvPr id="15" name="Ticket In review0"/>
          <p:cNvSpPr/>
          <p:nvPr/>
        </p:nvSpPr>
        <p:spPr>
          <a:xfrm>
            <a:off x="4636008" y="2148840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icket In review1"/>
          <p:cNvSpPr/>
          <p:nvPr/>
        </p:nvSpPr>
        <p:spPr>
          <a:xfrm>
            <a:off x="4636008" y="2862072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icket In review2"/>
          <p:cNvSpPr/>
          <p:nvPr/>
        </p:nvSpPr>
        <p:spPr>
          <a:xfrm>
            <a:off x="4636008" y="3575304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Board Done"/>
          <p:cNvSpPr/>
          <p:nvPr/>
        </p:nvSpPr>
        <p:spPr>
          <a:xfrm>
            <a:off x="6327648" y="1554480"/>
            <a:ext cx="1645920" cy="292608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166420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366FF"/>
                </a:solidFill>
                <a:latin typeface="Poppins"/>
              </a:rPr>
              <a:t>Done</a:t>
            </a:r>
          </a:p>
        </p:txBody>
      </p:sp>
      <p:sp>
        <p:nvSpPr>
          <p:cNvPr id="20" name="Ticket Done0"/>
          <p:cNvSpPr/>
          <p:nvPr/>
        </p:nvSpPr>
        <p:spPr>
          <a:xfrm>
            <a:off x="6464808" y="2148840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icket Done1"/>
          <p:cNvSpPr/>
          <p:nvPr/>
        </p:nvSpPr>
        <p:spPr>
          <a:xfrm>
            <a:off x="6464808" y="2862072"/>
            <a:ext cx="137160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6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66344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GitHub Projects board, one-week sprints</a:t>
            </a:r>
          </a:p>
        </p:txBody>
      </p:sp>
      <p:sp>
        <p:nvSpPr>
          <p:cNvPr id="23" name="Card Rules"/>
          <p:cNvSpPr/>
          <p:nvPr/>
        </p:nvSpPr>
        <p:spPr>
          <a:xfrm>
            <a:off x="8275320" y="1554480"/>
            <a:ext cx="2807208" cy="429768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76488" y="1755648"/>
            <a:ext cx="24048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6488" y="2212848"/>
            <a:ext cx="2404872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Protected main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Small pull requests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One approval to merge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Daily commit + log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Thursday demo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One individual project and one pair 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Individual project: the Library System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64208" y="1554480"/>
            <a:ext cx="777240" cy="77724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oppins"/>
              </a:rPr>
              <a:t>v1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32888" y="1938528"/>
            <a:ext cx="1645920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25146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366FF"/>
                </a:solidFill>
                <a:latin typeface="Poppins"/>
              </a:rPr>
              <a:t>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926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Console app, collections, custom exceptions</a:t>
            </a:r>
          </a:p>
        </p:txBody>
      </p:sp>
      <p:sp>
        <p:nvSpPr>
          <p:cNvPr id="8" name="Oval 7"/>
          <p:cNvSpPr/>
          <p:nvPr/>
        </p:nvSpPr>
        <p:spPr>
          <a:xfrm>
            <a:off x="4270248" y="1554480"/>
            <a:ext cx="777240" cy="77724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oppins"/>
              </a:rPr>
              <a:t>v2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1938528"/>
            <a:ext cx="1645920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47288" y="25146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C4FF4"/>
                </a:solidFill>
                <a:latin typeface="Poppins"/>
              </a:rPr>
              <a:t>Week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926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Maven, records, streams, 15+ JUnit tests</a:t>
            </a:r>
          </a:p>
        </p:txBody>
      </p:sp>
      <p:sp>
        <p:nvSpPr>
          <p:cNvPr id="12" name="Oval 11"/>
          <p:cNvSpPr/>
          <p:nvPr/>
        </p:nvSpPr>
        <p:spPr>
          <a:xfrm>
            <a:off x="6876288" y="1554480"/>
            <a:ext cx="777240" cy="77724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oppins"/>
              </a:rPr>
              <a:t>v3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968" y="1938528"/>
            <a:ext cx="1645920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53328" y="25146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366FF"/>
                </a:solidFill>
                <a:latin typeface="Poppins"/>
              </a:rPr>
              <a:t>Week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926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REST API, DTOs, validation, Swagger</a:t>
            </a:r>
          </a:p>
        </p:txBody>
      </p:sp>
      <p:sp>
        <p:nvSpPr>
          <p:cNvPr id="16" name="Oval 15"/>
          <p:cNvSpPr/>
          <p:nvPr/>
        </p:nvSpPr>
        <p:spPr>
          <a:xfrm>
            <a:off x="9482328" y="1554480"/>
            <a:ext cx="777240" cy="77724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oppins"/>
              </a:rPr>
              <a:t>v4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51460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C4FF4"/>
                </a:solidFill>
                <a:latin typeface="Poppins"/>
              </a:rPr>
              <a:t>Week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0808" y="2926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PostgreSQL, JPA, Flyway, Docker Compose</a:t>
            </a:r>
          </a:p>
        </p:txBody>
      </p:sp>
      <p:sp>
        <p:nvSpPr>
          <p:cNvPr id="19" name="Rubric band"/>
          <p:cNvSpPr/>
          <p:nvPr/>
        </p:nvSpPr>
        <p:spPr>
          <a:xfrm>
            <a:off x="841248" y="4572000"/>
            <a:ext cx="10241280" cy="1234440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4572000"/>
            <a:ext cx="978408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366FF"/>
                </a:solidFill>
                <a:latin typeface="Poppins"/>
              </a:rPr>
              <a:t>Graded out of 100: </a:t>
            </a:r>
            <a:r>
              <a:rPr sz="1500" b="0" i="0">
                <a:solidFill>
                  <a:srgbClr val="1B2433"/>
                </a:solidFill>
                <a:latin typeface="Poppins"/>
              </a:rPr>
              <a:t>works as specified 35 · structure 20 · tests 20 · Git and PRs 10 · README 10 · on time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Pair capstone: pick one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ClinicBook"/>
          <p:cNvSpPr/>
          <p:nvPr/>
        </p:nvSpPr>
        <p:spPr>
          <a:xfrm>
            <a:off x="841248" y="1554480"/>
            <a:ext cx="2423160" cy="420624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755648"/>
            <a:ext cx="2020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ClinicBook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212848"/>
            <a:ext cx="2020824" cy="3346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Appointment booking: doctors, patients, time slots, no double booking.</a:t>
            </a:r>
          </a:p>
        </p:txBody>
      </p:sp>
      <p:sp>
        <p:nvSpPr>
          <p:cNvPr id="7" name="Card ShopLite"/>
          <p:cNvSpPr/>
          <p:nvPr/>
        </p:nvSpPr>
        <p:spPr>
          <a:xfrm>
            <a:off x="3447288" y="1554480"/>
            <a:ext cx="2423160" cy="420624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48456" y="1755648"/>
            <a:ext cx="2020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ShopLite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8456" y="2212848"/>
            <a:ext cx="2020824" cy="3346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E-commerce backend: products, cart, orders, stock in one transaction.</a:t>
            </a:r>
          </a:p>
        </p:txBody>
      </p:sp>
      <p:sp>
        <p:nvSpPr>
          <p:cNvPr id="10" name="Card TaskHub"/>
          <p:cNvSpPr/>
          <p:nvPr/>
        </p:nvSpPr>
        <p:spPr>
          <a:xfrm>
            <a:off x="6053328" y="1554480"/>
            <a:ext cx="2423160" cy="420624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54496" y="1755648"/>
            <a:ext cx="2020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366FF"/>
                </a:solidFill>
                <a:latin typeface="Poppins"/>
              </a:rPr>
              <a:t>TaskHub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212848"/>
            <a:ext cx="2020824" cy="3346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Team task manager: workspaces, roles, tasks, comments.</a:t>
            </a:r>
          </a:p>
        </p:txBody>
      </p:sp>
      <p:sp>
        <p:nvSpPr>
          <p:cNvPr id="13" name="Card EventPass"/>
          <p:cNvSpPr/>
          <p:nvPr/>
        </p:nvSpPr>
        <p:spPr>
          <a:xfrm>
            <a:off x="8659368" y="1554480"/>
            <a:ext cx="2423160" cy="420624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0536" y="1755648"/>
            <a:ext cx="20208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8C4FF4"/>
                </a:solidFill>
                <a:latin typeface="Poppins"/>
              </a:rPr>
              <a:t>EventPass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2212848"/>
            <a:ext cx="2020824" cy="3346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Event ticketing: events, ticket types, purchases, capacity limits.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Capstone requirements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q Domain"/>
          <p:cNvSpPr/>
          <p:nvPr/>
        </p:nvSpPr>
        <p:spPr>
          <a:xfrm>
            <a:off x="841248" y="146304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45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4884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6+ entities, one-to-many and many-to-many</a:t>
            </a:r>
          </a:p>
        </p:txBody>
      </p:sp>
      <p:sp>
        <p:nvSpPr>
          <p:cNvPr id="7" name="Req API"/>
          <p:cNvSpPr/>
          <p:nvPr/>
        </p:nvSpPr>
        <p:spPr>
          <a:xfrm>
            <a:off x="3447288" y="146304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48456" y="1645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8456" y="214884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20+ endpoints, DTOs, validation, Swagger</a:t>
            </a:r>
          </a:p>
        </p:txBody>
      </p:sp>
      <p:sp>
        <p:nvSpPr>
          <p:cNvPr id="10" name="Req Data"/>
          <p:cNvSpPr/>
          <p:nvPr/>
        </p:nvSpPr>
        <p:spPr>
          <a:xfrm>
            <a:off x="6053328" y="146304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54496" y="1645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14884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PostgreSQL, 5+ Flyway migrations, pagination</a:t>
            </a:r>
          </a:p>
        </p:txBody>
      </p:sp>
      <p:sp>
        <p:nvSpPr>
          <p:cNvPr id="13" name="Req Security"/>
          <p:cNvSpPr/>
          <p:nvPr/>
        </p:nvSpPr>
        <p:spPr>
          <a:xfrm>
            <a:off x="8659368" y="146304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0536" y="1645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214884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JWT access + refresh, 2 roles, ownership rule</a:t>
            </a:r>
          </a:p>
        </p:txBody>
      </p:sp>
      <p:sp>
        <p:nvSpPr>
          <p:cNvPr id="16" name="Req Caching"/>
          <p:cNvSpPr/>
          <p:nvPr/>
        </p:nvSpPr>
        <p:spPr>
          <a:xfrm>
            <a:off x="841248" y="370332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2416" y="3886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Caching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38912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Redis on a read-heavy endpoint, with eviction</a:t>
            </a:r>
          </a:p>
        </p:txBody>
      </p:sp>
      <p:sp>
        <p:nvSpPr>
          <p:cNvPr id="19" name="Req Events"/>
          <p:cNvSpPr/>
          <p:nvPr/>
        </p:nvSpPr>
        <p:spPr>
          <a:xfrm>
            <a:off x="3447288" y="370332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648456" y="3886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8456" y="438912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RabbitMQ event to a notification module</a:t>
            </a:r>
          </a:p>
        </p:txBody>
      </p:sp>
      <p:sp>
        <p:nvSpPr>
          <p:cNvPr id="22" name="Req Tests"/>
          <p:cNvSpPr/>
          <p:nvPr/>
        </p:nvSpPr>
        <p:spPr>
          <a:xfrm>
            <a:off x="6053328" y="370332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54496" y="3886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8C4FF4"/>
                </a:solidFill>
                <a:latin typeface="Poppins"/>
              </a:rPr>
              <a:t>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438912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30+ tests incl. Testcontainers, CI green</a:t>
            </a:r>
          </a:p>
        </p:txBody>
      </p:sp>
      <p:sp>
        <p:nvSpPr>
          <p:cNvPr id="25" name="Req Delivery"/>
          <p:cNvSpPr/>
          <p:nvPr/>
        </p:nvSpPr>
        <p:spPr>
          <a:xfrm>
            <a:off x="8659368" y="3703320"/>
            <a:ext cx="2423160" cy="2011680"/>
          </a:xfrm>
          <a:prstGeom prst="roundRect">
            <a:avLst>
              <a:gd name="adj" fmla="val 1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0536" y="38862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366FF"/>
                </a:solidFill>
                <a:latin typeface="Poppins"/>
              </a:rPr>
              <a:t>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4389120"/>
            <a:ext cx="2057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Docker Compose on a VPS, public URL, health check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Three sprints, split by feature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print 1"/>
          <p:cNvSpPr/>
          <p:nvPr/>
        </p:nvSpPr>
        <p:spPr>
          <a:xfrm>
            <a:off x="841248" y="1508760"/>
            <a:ext cx="3246120" cy="1600200"/>
          </a:xfrm>
          <a:prstGeom prst="roundRect">
            <a:avLst>
              <a:gd name="adj" fmla="val 12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9848" y="16459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Sprint 1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1488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Entities, migrations, CRUD, Docker Compose</a:t>
            </a:r>
          </a:p>
        </p:txBody>
      </p:sp>
      <p:sp>
        <p:nvSpPr>
          <p:cNvPr id="7" name="Sprint 2"/>
          <p:cNvSpPr/>
          <p:nvPr/>
        </p:nvSpPr>
        <p:spPr>
          <a:xfrm>
            <a:off x="4315968" y="1508760"/>
            <a:ext cx="3246120" cy="1600200"/>
          </a:xfrm>
          <a:prstGeom prst="roundRect">
            <a:avLst>
              <a:gd name="adj" fmla="val 12000"/>
            </a:avLst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4568" y="16459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Sprint 2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21488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Security, refresh tokens, 30+ tests, CI</a:t>
            </a:r>
          </a:p>
        </p:txBody>
      </p:sp>
      <p:sp>
        <p:nvSpPr>
          <p:cNvPr id="10" name="Sprint 3"/>
          <p:cNvSpPr/>
          <p:nvPr/>
        </p:nvSpPr>
        <p:spPr>
          <a:xfrm>
            <a:off x="7790688" y="1508760"/>
            <a:ext cx="3246120" cy="1600200"/>
          </a:xfrm>
          <a:prstGeom prst="roundRect">
            <a:avLst>
              <a:gd name="adj" fmla="val 12000"/>
            </a:avLst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19288" y="16459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Poppins"/>
              </a:rPr>
              <a:t>Sprint 3 ·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14884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Redis, RabbitMQ, VPS deployment, final demo</a:t>
            </a:r>
          </a:p>
        </p:txBody>
      </p:sp>
      <p:sp>
        <p:nvSpPr>
          <p:cNvPr id="13" name="Card Intern A owns"/>
          <p:cNvSpPr/>
          <p:nvPr/>
        </p:nvSpPr>
        <p:spPr>
          <a:xfrm>
            <a:off x="841248" y="3429000"/>
            <a:ext cx="4983480" cy="242316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2416" y="363016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Intern A owns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4087368"/>
            <a:ext cx="4581144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Doctor and Appointment Booking slice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Entities to controller, rules, tests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Its cache</a:t>
            </a:r>
          </a:p>
        </p:txBody>
      </p:sp>
      <p:sp>
        <p:nvSpPr>
          <p:cNvPr id="16" name="Card Intern B owns"/>
          <p:cNvSpPr/>
          <p:nvPr/>
        </p:nvSpPr>
        <p:spPr>
          <a:xfrm>
            <a:off x="6099048" y="3429000"/>
            <a:ext cx="4983480" cy="242316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00216" y="363016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Intern B 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4087368"/>
            <a:ext cx="4581144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Patient and Billing slice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RabbitMQ notification module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500" b="0" i="0">
                <a:solidFill>
                  <a:srgbClr val="1B2433"/>
                </a:solidFill>
                <a:latin typeface="Poppins"/>
              </a:rPr>
              <a:t>Docker setup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How you're assessed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Weights, the capstone rubric and completion tiers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What counts toward your grade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41248" y="1463040"/>
          <a:ext cx="676656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Card How it's measured"/>
          <p:cNvSpPr/>
          <p:nvPr/>
        </p:nvSpPr>
        <p:spPr>
          <a:xfrm>
            <a:off x="7909560" y="1463040"/>
            <a:ext cx="3154680" cy="448056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10728" y="1664208"/>
            <a:ext cx="27523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366FF"/>
                </a:solidFill>
                <a:latin typeface="Poppins"/>
              </a:rPr>
              <a:t>How it's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10728" y="2121408"/>
            <a:ext cx="2752344" cy="3621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300" b="0" i="0">
                <a:solidFill>
                  <a:srgbClr val="1B2433"/>
                </a:solidFill>
                <a:latin typeface="Poppins"/>
              </a:rPr>
              <a:t>Capstone: rubric ± 15% individual adjustment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300" b="0" i="0">
                <a:solidFill>
                  <a:srgbClr val="1B2433"/>
                </a:solidFill>
                <a:latin typeface="Poppins"/>
              </a:rPr>
              <a:t>Process: commits, logs, PR quality, reviews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300" b="0" i="0">
                <a:solidFill>
                  <a:srgbClr val="1B2433"/>
                </a:solidFill>
                <a:latin typeface="Poppins"/>
              </a:rPr>
              <a:t>Mock interviews: Weeks 4, 7, 8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300" b="0" i="0">
                <a:solidFill>
                  <a:srgbClr val="1B2433"/>
                </a:solidFill>
                <a:latin typeface="Poppins"/>
              </a:rPr>
              <a:t>Problems: checked every Thursday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Capstone rubric (100 points)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417320"/>
          <a:ext cx="6949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1371600"/>
              </a:tblGrid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Criterion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Points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Functionality and API design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Testing and CI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Data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Caching and messaging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Architecture and code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Delivery (Docker, VPS, health)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Team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Documentation and demo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Card Individual adjustmen"/>
          <p:cNvSpPr/>
          <p:nvPr/>
        </p:nvSpPr>
        <p:spPr>
          <a:xfrm>
            <a:off x="8092440" y="1417320"/>
            <a:ext cx="2990088" cy="438912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93608" y="1618488"/>
            <a:ext cx="2587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C4FF4"/>
                </a:solidFill>
                <a:latin typeface="Poppins"/>
              </a:rPr>
              <a:t>Individual adjustment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93608" y="2075688"/>
            <a:ext cx="2587752" cy="3529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Up to ±15%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Based on your own pull requests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5-minute oral defense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>
                <a:solidFill>
                  <a:srgbClr val="1B2433"/>
                </a:solidFill>
                <a:latin typeface="Poppins"/>
              </a:rPr>
              <a:t>Explain every line you submit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Completion tiers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er Distinction"/>
          <p:cNvSpPr/>
          <p:nvPr/>
        </p:nvSpPr>
        <p:spPr>
          <a:xfrm>
            <a:off x="841248" y="155448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Poppins"/>
              </a:rPr>
              <a:t>85%+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Poppins"/>
              </a:rPr>
              <a:t>Distinction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200400"/>
            <a:ext cx="2697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Poppins"/>
              </a:rPr>
              <a:t>Recommended for referral to hiring partners</a:t>
            </a:r>
          </a:p>
        </p:txBody>
      </p:sp>
      <p:sp>
        <p:nvSpPr>
          <p:cNvPr id="8" name="Tier Pass"/>
          <p:cNvSpPr/>
          <p:nvPr/>
        </p:nvSpPr>
        <p:spPr>
          <a:xfrm>
            <a:off x="4315968" y="155448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15968" y="178308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8C4FF4"/>
                </a:solidFill>
                <a:latin typeface="Poppins"/>
              </a:rPr>
              <a:t>70-84%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6517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3200400"/>
            <a:ext cx="2697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Certificate plus a personal improvement list</a:t>
            </a:r>
          </a:p>
        </p:txBody>
      </p:sp>
      <p:sp>
        <p:nvSpPr>
          <p:cNvPr id="12" name="Tier Attendance"/>
          <p:cNvSpPr/>
          <p:nvPr/>
        </p:nvSpPr>
        <p:spPr>
          <a:xfrm>
            <a:off x="7790688" y="1554480"/>
            <a:ext cx="3246120" cy="3108960"/>
          </a:xfrm>
          <a:prstGeom prst="roundRect">
            <a:avLst>
              <a:gd name="adj" fmla="val 12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90688" y="178308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0E2841"/>
                </a:solidFill>
                <a:latin typeface="Poppins"/>
              </a:rPr>
              <a:t>&lt;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26517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433"/>
                </a:solidFill>
                <a:latin typeface="Poppins"/>
              </a:rPr>
              <a:t>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3200400"/>
            <a:ext cx="2697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Certificate of attendance plus a 4-week remediation plan</a:t>
            </a:r>
          </a:p>
        </p:txBody>
      </p:sp>
      <p:sp>
        <p:nvSpPr>
          <p:cNvPr id="16" name="Warning band"/>
          <p:cNvSpPr/>
          <p:nvPr/>
        </p:nvSpPr>
        <p:spPr>
          <a:xfrm>
            <a:off x="841248" y="4983480"/>
            <a:ext cx="10241280" cy="86868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97840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Early warning: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below 60% at the Week 4 checkpoint means a 1:1 and a catch-up plan.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Your setup, where to learn, and how to practice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Your setup, in stages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417320"/>
          <a:ext cx="1024128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486400"/>
                <a:gridCol w="2011680"/>
              </a:tblGrid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Tool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Notes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Needed from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JDK 25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Eclipse Temurin 25 or Oracle JDK 25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IntelliJ 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Or VS Code with Java extensions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Git + GitHub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SSH key, cohort GitHub organization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Maven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Through the project's mvnw wrapper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Docker + PostgreSQL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Docker Desktop or Engine; DBeaver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4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Postman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Or Bruno / IntelliJ HTTP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Spring Boot 4.1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From start.spring.io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Redis, RabbitMQ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As containers in compose.yaml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B2433"/>
                          </a:solidFill>
                          <a:latin typeface="Poppins"/>
                        </a:rPr>
                        <a:t>Week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89788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Downloads:  </a:t>
            </a:r>
            <a:r>
              <a:rPr sz="1400" b="0" i="0" u="sng">
                <a:solidFill>
                  <a:srgbClr val="0366FF"/>
                </a:solidFill>
                <a:latin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Temurin JDK</a:t>
            </a:r>
            <a:r>
              <a:rPr sz="1400" b="0" i="0">
                <a:solidFill>
                  <a:srgbClr val="1B2433"/>
                </a:solidFill>
                <a:latin typeface="Poppins"/>
              </a:rPr>
              <a:t>  ·  </a:t>
            </a:r>
            <a:r>
              <a:rPr sz="1400" b="0" i="0" u="sng">
                <a:solidFill>
                  <a:srgbClr val="0366FF"/>
                </a:solidFill>
                <a:latin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IntelliJ IDEA</a:t>
            </a:r>
            <a:r>
              <a:rPr sz="1400" b="0" i="0">
                <a:solidFill>
                  <a:srgbClr val="1B2433"/>
                </a:solidFill>
                <a:latin typeface="Poppins"/>
              </a:rPr>
              <a:t>  ·  </a:t>
            </a:r>
            <a:r>
              <a:rPr sz="1400" b="0" i="0" u="sng">
                <a:solidFill>
                  <a:srgbClr val="0366FF"/>
                </a:solidFill>
                <a:latin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sz="1400" b="0" i="0">
                <a:solidFill>
                  <a:srgbClr val="1B2433"/>
                </a:solidFill>
                <a:latin typeface="Poppins"/>
              </a:rPr>
              <a:t>  ·  </a:t>
            </a:r>
            <a:r>
              <a:rPr sz="1400" b="0" i="0" u="sng">
                <a:solidFill>
                  <a:srgbClr val="0366FF"/>
                </a:solidFill>
                <a:latin typeface="Poppin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Spring Initializr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Where to learn (Arabic first)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Arabic"/>
          <p:cNvSpPr/>
          <p:nvPr/>
        </p:nvSpPr>
        <p:spPr>
          <a:xfrm>
            <a:off x="841248" y="1463040"/>
            <a:ext cx="4983480" cy="36576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366FF"/>
                </a:solidFill>
                <a:latin typeface="Poppins"/>
              </a:rPr>
              <a:t>Arabic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21408"/>
            <a:ext cx="4581144" cy="2798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 Nasim: Java basics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Adel Nasim: OOP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Mohamed Shoshan: Java Level 1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Elzero: Git and GitHub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Elzero: MySQL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Abd AbuGhazaleh: Spring Boot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Abd AbuGhazaleh: Docker</a:t>
            </a:r>
          </a:p>
        </p:txBody>
      </p:sp>
      <p:sp>
        <p:nvSpPr>
          <p:cNvPr id="7" name="Card English"/>
          <p:cNvSpPr/>
          <p:nvPr/>
        </p:nvSpPr>
        <p:spPr>
          <a:xfrm>
            <a:off x="6099048" y="1463040"/>
            <a:ext cx="4983480" cy="365760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0216" y="166420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C4FF4"/>
                </a:solidFill>
                <a:latin typeface="Poppins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216" y="2121408"/>
            <a:ext cx="4581144" cy="2798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dev.java Learn (official)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roadmap.sh: Java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Spring guides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Baeldung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Dan Vega: Spring Boot crash course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Amigoscode on freeCodeCamp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400" b="0" i="0" u="sng">
                <a:solidFill>
                  <a:srgbClr val="0366FF"/>
                </a:solidFill>
                <a:latin typeface="Poppins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Testcontainers quickstart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3492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475"/>
                </a:solidFill>
                <a:latin typeface="Poppins"/>
              </a:rPr>
              <a:t>Every session deck has a Resources slide with the links for that day.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Resource library by week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417320"/>
          <a:ext cx="1024128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4480560"/>
              </a:tblGrid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Week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Arabic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Poppins"/>
                        </a:rPr>
                        <a:t>English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1-2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Adel Nasim: Java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dev.java Learn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Adel Nasim: 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dev.java: Classes, Generics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1-3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Elzero: Git and GitHub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roadmap.sh: Java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Elzero: MySQL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Baeldung: records, streams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Abd AbuGhazaleh: Spring Boot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Spring guide: REST service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Spring Data course (free)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Spring guide: JPA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7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abolkog: Security and JWT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Spring Boot: Testcontainers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47548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0366FF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Abd AbuGhazaleh: Docker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 u="sng">
                          <a:solidFill>
                            <a:srgbClr val="0366FF"/>
                          </a:solidFill>
                          <a:latin typeface="Poppins"/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Spring guides: Docker, RabbitMQ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Practice: quality over volume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1463040"/>
          <a:ext cx="1024128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  <a:gridCol w="2468880"/>
                <a:gridCol w="2468880"/>
              </a:tblGrid>
              <a:tr h="56692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Poppins"/>
                        </a:rPr>
                        <a:t>Weeks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Poppins"/>
                        </a:rPr>
                        <a:t>Focus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Poppins"/>
                        </a:rPr>
                        <a:t>Intern A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Poppins"/>
                        </a:rPr>
                        <a:t>Intern B</a:t>
                      </a:r>
                    </a:p>
                  </a:txBody>
                  <a:tcPr>
                    <a:solidFill>
                      <a:srgbClr val="0366FF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0366FF"/>
                          </a:solidFill>
                          <a:latin typeface="Poppins"/>
                        </a:rPr>
                        <a:t>Weeks 1-2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 u="sng">
                          <a:solidFill>
                            <a:srgbClr val="0366FF"/>
                          </a:solidFill>
                          <a:latin typeface="Poppins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CodingBat</a:t>
                      </a: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, </a:t>
                      </a:r>
                      <a:r>
                        <a:rPr sz="1500" b="0" i="0" u="sng">
                          <a:solidFill>
                            <a:srgbClr val="0366FF"/>
                          </a:solidFill>
                          <a:latin typeface="Poppins"/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Exercism</a:t>
                      </a: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 warm-ups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Daily, not counted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Skipped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0366FF"/>
                          </a:solidFill>
                          <a:latin typeface="Poppins"/>
                        </a:rPr>
                        <a:t>Weeks 2-8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 u="sng">
                          <a:solidFill>
                            <a:srgbClr val="0366FF"/>
                          </a:solidFill>
                          <a:latin typeface="Poppins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LeetCode</a:t>
                      </a: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 by 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~45, mostly Easy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~80, mostly 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 i="0">
                          <a:solidFill>
                            <a:srgbClr val="0366FF"/>
                          </a:solidFill>
                          <a:latin typeface="Poppins"/>
                        </a:rPr>
                        <a:t>Weeks 4-8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 u="sng">
                          <a:solidFill>
                            <a:srgbClr val="0366FF"/>
                          </a:solidFill>
                          <a:latin typeface="Poppins"/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LeetCode</a:t>
                      </a: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 SQL 50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~25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 i="0">
                          <a:solidFill>
                            <a:srgbClr val="1B2433"/>
                          </a:solidFill>
                          <a:latin typeface="Poppins"/>
                        </a:rPr>
                        <a:t>~30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4023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366FF"/>
                </a:solidFill>
                <a:latin typeface="Poppins"/>
              </a:rPr>
              <a:t>Patterns we practice</a:t>
            </a:r>
          </a:p>
        </p:txBody>
      </p:sp>
      <p:sp>
        <p:nvSpPr>
          <p:cNvPr id="6" name="Pattern Hash maps"/>
          <p:cNvSpPr/>
          <p:nvPr/>
        </p:nvSpPr>
        <p:spPr>
          <a:xfrm>
            <a:off x="841248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Hash maps</a:t>
            </a:r>
          </a:p>
        </p:txBody>
      </p:sp>
      <p:sp>
        <p:nvSpPr>
          <p:cNvPr id="8" name="Pattern Two pointers"/>
          <p:cNvSpPr/>
          <p:nvPr/>
        </p:nvSpPr>
        <p:spPr>
          <a:xfrm>
            <a:off x="2560320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560320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Two pointers</a:t>
            </a:r>
          </a:p>
        </p:txBody>
      </p:sp>
      <p:sp>
        <p:nvSpPr>
          <p:cNvPr id="10" name="Pattern Sliding window"/>
          <p:cNvSpPr/>
          <p:nvPr/>
        </p:nvSpPr>
        <p:spPr>
          <a:xfrm>
            <a:off x="4279392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79392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Sliding window</a:t>
            </a:r>
          </a:p>
        </p:txBody>
      </p:sp>
      <p:sp>
        <p:nvSpPr>
          <p:cNvPr id="12" name="Pattern Stack"/>
          <p:cNvSpPr/>
          <p:nvPr/>
        </p:nvSpPr>
        <p:spPr>
          <a:xfrm>
            <a:off x="5998464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98464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Stack</a:t>
            </a:r>
          </a:p>
        </p:txBody>
      </p:sp>
      <p:sp>
        <p:nvSpPr>
          <p:cNvPr id="14" name="Pattern Fast/slow pointers"/>
          <p:cNvSpPr/>
          <p:nvPr/>
        </p:nvSpPr>
        <p:spPr>
          <a:xfrm>
            <a:off x="7717536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17536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Fast/slow pointers</a:t>
            </a:r>
          </a:p>
        </p:txBody>
      </p:sp>
      <p:sp>
        <p:nvSpPr>
          <p:cNvPr id="16" name="Pattern Binary search"/>
          <p:cNvSpPr/>
          <p:nvPr/>
        </p:nvSpPr>
        <p:spPr>
          <a:xfrm>
            <a:off x="9436607" y="4526280"/>
            <a:ext cx="1572768" cy="777240"/>
          </a:xfrm>
          <a:prstGeom prst="roundRect">
            <a:avLst>
              <a:gd name="adj" fmla="val 30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36607" y="4526280"/>
            <a:ext cx="1572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Binary search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12648" y="2514600"/>
            <a:ext cx="5486400" cy="1371600"/>
          </a:xfrm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366FF"/>
                </a:solidFill>
                <a:latin typeface="Poppins"/>
              </a:rPr>
              <a:t>Career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8C4FF4"/>
                </a:solidFill>
                <a:latin typeface="Poppi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977639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475"/>
                </a:solidFill>
                <a:latin typeface="Poppins"/>
              </a:rPr>
              <a:t>What employers want, and how we prepare you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What employers ask for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kill Core Java + "/>
          <p:cNvSpPr/>
          <p:nvPr/>
        </p:nvSpPr>
        <p:spPr>
          <a:xfrm>
            <a:off x="841248" y="1554480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Core Java + OOP</a:t>
            </a:r>
          </a:p>
        </p:txBody>
      </p:sp>
      <p:sp>
        <p:nvSpPr>
          <p:cNvPr id="6" name="Skill Spring Boot"/>
          <p:cNvSpPr/>
          <p:nvPr/>
        </p:nvSpPr>
        <p:spPr>
          <a:xfrm>
            <a:off x="2916936" y="1554480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990088" y="1554480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Spring Boot</a:t>
            </a:r>
          </a:p>
        </p:txBody>
      </p:sp>
      <p:sp>
        <p:nvSpPr>
          <p:cNvPr id="8" name="Skill Spring Data "/>
          <p:cNvSpPr/>
          <p:nvPr/>
        </p:nvSpPr>
        <p:spPr>
          <a:xfrm>
            <a:off x="4992624" y="1554480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65776" y="1554480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Spring Data JPA / Hibernate</a:t>
            </a:r>
          </a:p>
        </p:txBody>
      </p:sp>
      <p:sp>
        <p:nvSpPr>
          <p:cNvPr id="10" name="Skill SQL (Oracle,"/>
          <p:cNvSpPr/>
          <p:nvPr/>
        </p:nvSpPr>
        <p:spPr>
          <a:xfrm>
            <a:off x="7068312" y="1554480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41464" y="1554480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SQL (Oracle, MySQL, PostgreSQL)</a:t>
            </a:r>
          </a:p>
        </p:txBody>
      </p:sp>
      <p:sp>
        <p:nvSpPr>
          <p:cNvPr id="12" name="Skill Git"/>
          <p:cNvSpPr/>
          <p:nvPr/>
        </p:nvSpPr>
        <p:spPr>
          <a:xfrm>
            <a:off x="9144000" y="1554480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17152" y="1554480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Git</a:t>
            </a:r>
          </a:p>
        </p:txBody>
      </p:sp>
      <p:sp>
        <p:nvSpPr>
          <p:cNvPr id="14" name="Skill Maven"/>
          <p:cNvSpPr/>
          <p:nvPr/>
        </p:nvSpPr>
        <p:spPr>
          <a:xfrm>
            <a:off x="841248" y="2606039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6039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Maven</a:t>
            </a:r>
          </a:p>
        </p:txBody>
      </p:sp>
      <p:sp>
        <p:nvSpPr>
          <p:cNvPr id="16" name="Skill JUnit"/>
          <p:cNvSpPr/>
          <p:nvPr/>
        </p:nvSpPr>
        <p:spPr>
          <a:xfrm>
            <a:off x="2916936" y="2606039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990088" y="2606039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JUnit</a:t>
            </a:r>
          </a:p>
        </p:txBody>
      </p:sp>
      <p:sp>
        <p:nvSpPr>
          <p:cNvPr id="18" name="Skill REST APIs"/>
          <p:cNvSpPr/>
          <p:nvPr/>
        </p:nvSpPr>
        <p:spPr>
          <a:xfrm>
            <a:off x="4992624" y="2606039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65776" y="2606039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REST APIs</a:t>
            </a:r>
          </a:p>
        </p:txBody>
      </p:sp>
      <p:sp>
        <p:nvSpPr>
          <p:cNvPr id="20" name="Skill Docker"/>
          <p:cNvSpPr/>
          <p:nvPr/>
        </p:nvSpPr>
        <p:spPr>
          <a:xfrm>
            <a:off x="7068312" y="2606039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41464" y="2606039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Docker</a:t>
            </a:r>
          </a:p>
        </p:txBody>
      </p:sp>
      <p:sp>
        <p:nvSpPr>
          <p:cNvPr id="22" name="Skill Microservice"/>
          <p:cNvSpPr/>
          <p:nvPr/>
        </p:nvSpPr>
        <p:spPr>
          <a:xfrm>
            <a:off x="9144000" y="2606039"/>
            <a:ext cx="1892807" cy="822960"/>
          </a:xfrm>
          <a:prstGeom prst="roundRect">
            <a:avLst>
              <a:gd name="adj" fmla="val 30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17152" y="2606039"/>
            <a:ext cx="17465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B2433"/>
                </a:solidFill>
                <a:latin typeface="Poppins"/>
              </a:rPr>
              <a:t>Microservices awareness</a:t>
            </a:r>
          </a:p>
        </p:txBody>
      </p:sp>
      <p:sp>
        <p:nvSpPr>
          <p:cNvPr id="24" name="Reality band"/>
          <p:cNvSpPr/>
          <p:nvPr/>
        </p:nvSpPr>
        <p:spPr>
          <a:xfrm>
            <a:off x="841248" y="3931920"/>
            <a:ext cx="10241280" cy="1874519"/>
          </a:xfrm>
          <a:prstGeom prst="roundRect">
            <a:avLst>
              <a:gd name="adj" fmla="val 8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7280" y="406908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8C4FF4"/>
                </a:solidFill>
                <a:latin typeface="Poppins"/>
              </a:rPr>
              <a:t>Reality check: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many “junior” ads ask for 1-2 years. Your two deployed projects, team Git history and interview practice are your experience.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366FF"/>
                </a:solidFill>
                <a:latin typeface="Poppins"/>
              </a:rPr>
              <a:t>First targets: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internships, trainee programs and 0-1 year roles.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Career milestones during the course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89888" y="1645920"/>
            <a:ext cx="777240" cy="77724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</a:rPr>
              <a:t>W2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2029968"/>
            <a:ext cx="1207008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2651760"/>
            <a:ext cx="189280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LinkedIn and GitHub profile README</a:t>
            </a:r>
          </a:p>
        </p:txBody>
      </p:sp>
      <p:sp>
        <p:nvSpPr>
          <p:cNvPr id="7" name="Oval 6"/>
          <p:cNvSpPr/>
          <p:nvPr/>
        </p:nvSpPr>
        <p:spPr>
          <a:xfrm>
            <a:off x="3465576" y="1645920"/>
            <a:ext cx="777240" cy="77724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</a:rPr>
              <a:t>W4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88536" y="2029968"/>
            <a:ext cx="1207008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16936" y="2651760"/>
            <a:ext cx="189280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Mock interview 1: Java core</a:t>
            </a:r>
          </a:p>
        </p:txBody>
      </p:sp>
      <p:sp>
        <p:nvSpPr>
          <p:cNvPr id="10" name="Oval 9"/>
          <p:cNvSpPr/>
          <p:nvPr/>
        </p:nvSpPr>
        <p:spPr>
          <a:xfrm>
            <a:off x="5541264" y="1645920"/>
            <a:ext cx="777240" cy="77724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</a:rPr>
              <a:t>W6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64224" y="2029968"/>
            <a:ext cx="1207007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992624" y="2651760"/>
            <a:ext cx="189280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CV draft review; career-change story coaching</a:t>
            </a:r>
          </a:p>
        </p:txBody>
      </p:sp>
      <p:sp>
        <p:nvSpPr>
          <p:cNvPr id="13" name="Oval 12"/>
          <p:cNvSpPr/>
          <p:nvPr/>
        </p:nvSpPr>
        <p:spPr>
          <a:xfrm>
            <a:off x="7616952" y="1645920"/>
            <a:ext cx="777240" cy="777240"/>
          </a:xfrm>
          <a:prstGeom prst="ellipse">
            <a:avLst/>
          </a:prstGeom>
          <a:solidFill>
            <a:srgbClr val="8C4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</a:rPr>
              <a:t>W7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9912" y="2029968"/>
            <a:ext cx="1207008" cy="0"/>
          </a:xfrm>
          <a:prstGeom prst="line">
            <a:avLst/>
          </a:prstGeom>
          <a:ln w="25400">
            <a:solidFill>
              <a:srgbClr val="8D98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068312" y="2651760"/>
            <a:ext cx="189280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Mock interview 2: Spring, JPA, SQL</a:t>
            </a:r>
          </a:p>
        </p:txBody>
      </p:sp>
      <p:sp>
        <p:nvSpPr>
          <p:cNvPr id="16" name="Oval 15"/>
          <p:cNvSpPr/>
          <p:nvPr/>
        </p:nvSpPr>
        <p:spPr>
          <a:xfrm>
            <a:off x="9692640" y="1645920"/>
            <a:ext cx="777240" cy="777240"/>
          </a:xfrm>
          <a:prstGeom prst="ellipse">
            <a:avLst/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Poppins"/>
              </a:rPr>
              <a:t>W8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651760"/>
            <a:ext cx="189280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1B2433"/>
                </a:solidFill>
                <a:latin typeface="Poppins"/>
              </a:rPr>
              <a:t>Mock interview 3, final CV and GitHub review</a:t>
            </a:r>
          </a:p>
        </p:txBody>
      </p:sp>
      <p:sp>
        <p:nvSpPr>
          <p:cNvPr id="18" name="CV band"/>
          <p:cNvSpPr/>
          <p:nvPr/>
        </p:nvSpPr>
        <p:spPr>
          <a:xfrm>
            <a:off x="841248" y="4754880"/>
            <a:ext cx="10241280" cy="105156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78408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366FF"/>
                </a:solidFill>
                <a:latin typeface="Poppins"/>
              </a:rPr>
              <a:t>CV rule: </a:t>
            </a:r>
            <a:r>
              <a:rPr sz="1600" b="0" i="0">
                <a:solidFill>
                  <a:srgbClr val="1B2433"/>
                </a:solidFill>
                <a:latin typeface="Poppins"/>
              </a:rPr>
              <a:t>list this program as an internship, with the capstone under it, and only skills you can defend.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After Week 8: the next 60 days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Days 1-30"/>
          <p:cNvSpPr/>
          <p:nvPr/>
        </p:nvSpPr>
        <p:spPr>
          <a:xfrm>
            <a:off x="841248" y="1508760"/>
            <a:ext cx="4983480" cy="36576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70992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366FF"/>
                </a:solidFill>
                <a:latin typeface="Poppins"/>
              </a:rPr>
              <a:t>Days 1-30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67128"/>
            <a:ext cx="4581144" cy="2798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Apply to 5-10 roles a week (Wuzzuf, LinkedIn, Bayt)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30 more LeetCode problems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Add one feature to the capstone</a:t>
            </a:r>
          </a:p>
        </p:txBody>
      </p:sp>
      <p:sp>
        <p:nvSpPr>
          <p:cNvPr id="7" name="Card Days 31-60"/>
          <p:cNvSpPr/>
          <p:nvPr/>
        </p:nvSpPr>
        <p:spPr>
          <a:xfrm>
            <a:off x="6099048" y="1508760"/>
            <a:ext cx="4983480" cy="365760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0216" y="1709928"/>
            <a:ext cx="45811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8C4FF4"/>
                </a:solidFill>
                <a:latin typeface="Poppins"/>
              </a:rPr>
              <a:t>Days 31-60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216" y="2167128"/>
            <a:ext cx="4581144" cy="2798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A solo project in a new domain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Two mock interviews a week with your peer</a:t>
            </a:r>
          </a:p>
          <a:p>
            <a:pPr algn="l" marL="228600" indent="-201168">
              <a:spcAft>
                <a:spcPts val="400"/>
              </a:spcAft>
              <a:buClr>
                <a:srgbClr val="0366FF"/>
              </a:buClr>
              <a:buChar char="•"/>
            </a:pPr>
            <a:r>
              <a:rPr sz="1600" b="0" i="0">
                <a:solidFill>
                  <a:srgbClr val="1B2433"/>
                </a:solidFill>
                <a:latin typeface="Poppins"/>
              </a:rPr>
              <a:t>Optional: Oracle Java SE certification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384048"/>
            <a:ext cx="10241280" cy="777240"/>
          </a:xfrm>
        </p:spPr>
        <p:txBody>
          <a:bodyPr wrap="square" anchor="ctr"/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366FF"/>
                </a:solidFill>
                <a:latin typeface="Poppins"/>
              </a:rPr>
              <a:t>Ground rules</a:t>
            </a:r>
          </a:p>
        </p:txBody>
      </p:sp>
      <p:sp>
        <p:nvSpPr>
          <p:cNvPr id="3" name="Title pill"/>
          <p:cNvSpPr/>
          <p:nvPr/>
        </p:nvSpPr>
        <p:spPr>
          <a:xfrm>
            <a:off x="548640" y="521207"/>
            <a:ext cx="118872" cy="502920"/>
          </a:xfrm>
          <a:prstGeom prst="roundRect">
            <a:avLst>
              <a:gd name="adj" fmla="val 50000"/>
            </a:avLst>
          </a:prstGeom>
          <a:solidFill>
            <a:srgbClr val="03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 Ask after 45 minutes"/>
          <p:cNvSpPr/>
          <p:nvPr/>
        </p:nvSpPr>
        <p:spPr>
          <a:xfrm>
            <a:off x="841248" y="146304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42416" y="166420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366FF"/>
                </a:solidFill>
                <a:latin typeface="Poppins"/>
              </a:rPr>
              <a:t>Ask after 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" y="212140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Being stuck alone longer wastes a day. Asking is a skill.</a:t>
            </a:r>
          </a:p>
        </p:txBody>
      </p:sp>
      <p:sp>
        <p:nvSpPr>
          <p:cNvPr id="7" name="Card Commit every day"/>
          <p:cNvSpPr/>
          <p:nvPr/>
        </p:nvSpPr>
        <p:spPr>
          <a:xfrm>
            <a:off x="4315968" y="146304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17136" y="166420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C4FF4"/>
                </a:solidFill>
                <a:latin typeface="Poppins"/>
              </a:rPr>
              <a:t>Commit every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12140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Plus a 3-line log: done, next, blockers.</a:t>
            </a:r>
          </a:p>
        </p:txBody>
      </p:sp>
      <p:sp>
        <p:nvSpPr>
          <p:cNvPr id="10" name="Card AI is a tutor, not a"/>
          <p:cNvSpPr/>
          <p:nvPr/>
        </p:nvSpPr>
        <p:spPr>
          <a:xfrm>
            <a:off x="7790688" y="146304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91856" y="166420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AI is a tutor, not an 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12140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Use it to learn; explain every line you submit.</a:t>
            </a:r>
          </a:p>
        </p:txBody>
      </p:sp>
      <p:sp>
        <p:nvSpPr>
          <p:cNvPr id="13" name="Card Read before you ask"/>
          <p:cNvSpPr/>
          <p:nvPr/>
        </p:nvSpPr>
        <p:spPr>
          <a:xfrm>
            <a:off x="841248" y="37033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42416" y="390448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366FF"/>
                </a:solidFill>
                <a:latin typeface="Poppins"/>
              </a:rPr>
              <a:t>Read before you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436168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Error message, docs, then search, then ask.</a:t>
            </a:r>
          </a:p>
        </p:txBody>
      </p:sp>
      <p:sp>
        <p:nvSpPr>
          <p:cNvPr id="16" name="Card Respect the pair"/>
          <p:cNvSpPr/>
          <p:nvPr/>
        </p:nvSpPr>
        <p:spPr>
          <a:xfrm>
            <a:off x="4315968" y="37033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7136" y="390448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C4FF4"/>
                </a:solidFill>
                <a:latin typeface="Poppins"/>
              </a:rPr>
              <a:t>Respect the pair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436168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Review kindly, explain-back honestly, share the credit.</a:t>
            </a:r>
          </a:p>
        </p:txBody>
      </p:sp>
      <p:sp>
        <p:nvSpPr>
          <p:cNvPr id="19" name="Card Protect your energy"/>
          <p:cNvSpPr/>
          <p:nvPr/>
        </p:nvSpPr>
        <p:spPr>
          <a:xfrm>
            <a:off x="7790688" y="37033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E3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91856" y="3904488"/>
            <a:ext cx="2843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E2841"/>
                </a:solidFill>
                <a:latin typeface="Poppins"/>
              </a:rPr>
              <a:t>Protect your energy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4361688"/>
            <a:ext cx="2843784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433"/>
                </a:solidFill>
                <a:latin typeface="Poppins"/>
              </a:rPr>
              <a:t>Thursday afternoons stay light. Struggling is normal.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B18E-043A-284C-2D22-EF36EED1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2B1B022-A5EE-5706-F770-53C12A35A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81600" y="2114550"/>
            <a:ext cx="1828800" cy="2628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7492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Poppins"/>
              </a:rPr>
              <a:t>Let's build. Questions?</a:t>
            </a:r>
          </a:p>
        </p:txBody>
      </p:sp>
    </p:spTree>
    <p:extLst>
      <p:ext uri="{BB962C8B-B14F-4D97-AF65-F5344CB8AC3E}">
        <p14:creationId xmlns:p14="http://schemas.microsoft.com/office/powerpoint/2010/main" val="2688524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lairsTech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366FF"/>
      </a:accent1>
      <a:accent2>
        <a:srgbClr val="8C4FF4"/>
      </a:accent2>
      <a:accent3>
        <a:srgbClr val="6FDFE2"/>
      </a:accent3>
      <a:accent4>
        <a:srgbClr val="8D98FF"/>
      </a:accent4>
      <a:accent5>
        <a:srgbClr val="6FDFE2"/>
      </a:accent5>
      <a:accent6>
        <a:srgbClr val="8D98FF"/>
      </a:accent6>
      <a:hlink>
        <a:srgbClr val="0366FF"/>
      </a:hlink>
      <a:folHlink>
        <a:srgbClr val="0366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Custom 3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366FF"/>
      </a:accent1>
      <a:accent2>
        <a:srgbClr val="8C4FF4"/>
      </a:accent2>
      <a:accent3>
        <a:srgbClr val="8C4FF4"/>
      </a:accent3>
      <a:accent4>
        <a:srgbClr val="8D98FF"/>
      </a:accent4>
      <a:accent5>
        <a:srgbClr val="6FDFE2"/>
      </a:accent5>
      <a:accent6>
        <a:srgbClr val="8D98FF"/>
      </a:accent6>
      <a:hlink>
        <a:srgbClr val="0366FF"/>
      </a:hlink>
      <a:folHlink>
        <a:srgbClr val="0366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554bfa-441c-4d2e-8d7f-5905a154967e">
      <Terms xmlns="http://schemas.microsoft.com/office/infopath/2007/PartnerControls"/>
    </lcf76f155ced4ddcb4097134ff3c332f>
    <TaxCatchAll xmlns="267263e3-1fcf-48fa-b14d-81517c84331f" xsi:nil="true"/>
    <TEST xmlns="0c554bfa-441c-4d2e-8d7f-5905a15496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F8597CAA107D94DBD46465D370C6836" ma:contentTypeVersion="15" ma:contentTypeDescription="Create a new document." ma:contentTypeScope="" ma:versionID="8a2f6d7c6cdf44e3d612298ede818f3f">
  <xsd:schema xmlns:xsd="http://www.w3.org/2001/XMLSchema" xmlns:xs="http://www.w3.org/2001/XMLSchema" xmlns:p="http://schemas.microsoft.com/office/2006/metadata/properties" xmlns:ns2="0c554bfa-441c-4d2e-8d7f-5905a154967e" xmlns:ns3="267263e3-1fcf-48fa-b14d-81517c84331f" targetNamespace="http://schemas.microsoft.com/office/2006/metadata/properties" ma:root="true" ma:fieldsID="50cf253f2fde9752ab1e7d332fc8c9db" ns2:_="" ns3:_="">
    <xsd:import namespace="0c554bfa-441c-4d2e-8d7f-5905a154967e"/>
    <xsd:import namespace="267263e3-1fcf-48fa-b14d-81517c843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TES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554bfa-441c-4d2e-8d7f-5905a15496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f221b6bc-48c5-41a2-80f4-3c758f11516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TEST" ma:index="22" nillable="true" ma:displayName="TEST" ma:format="Thumbnail" ma:internalName="TEST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7263e3-1fcf-48fa-b14d-81517c843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0" nillable="true" ma:displayName="Taxonomy Catch All Column" ma:hidden="true" ma:list="{3c5d7adb-28fd-43b1-89e6-63139f817e49}" ma:internalName="TaxCatchAll" ma:showField="CatchAllData" ma:web="267263e3-1fcf-48fa-b14d-81517c843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4A2C8A-29A8-40EB-B812-08F2A2A15023}">
  <ds:schemaRefs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terms/"/>
    <ds:schemaRef ds:uri="267263e3-1fcf-48fa-b14d-81517c84331f"/>
    <ds:schemaRef ds:uri="http://purl.org/dc/elements/1.1/"/>
    <ds:schemaRef ds:uri="http://schemas.microsoft.com/office/2006/metadata/properties"/>
    <ds:schemaRef ds:uri="http://schemas.microsoft.com/office/infopath/2007/PartnerControls"/>
    <ds:schemaRef ds:uri="0c554bfa-441c-4d2e-8d7f-5905a154967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2F0A244-F1B4-48C8-B90B-FE82002C6D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AD8C1A3-981A-4C7E-A414-9868EA333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554bfa-441c-4d2e-8d7f-5905a154967e"/>
    <ds:schemaRef ds:uri="267263e3-1fcf-48fa-b14d-81517c843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1211</Words>
  <Application>Microsoft Office PowerPoint</Application>
  <PresentationFormat>Widescreen</PresentationFormat>
  <Paragraphs>160</Paragraphs>
  <Slides>55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55</vt:i4>
      </vt:variant>
    </vt:vector>
  </HeadingPairs>
  <TitlesOfParts>
    <vt:vector size="57" baseType="lpstr">
      <vt:lpstr>Office Theme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Aya Ashraf Abubakr</dc:creator>
  <cp:lastModifiedBy>Islam Kamel</cp:lastModifiedBy>
  <cp:revision>2</cp:revision>
  <dcterms:created xsi:type="dcterms:W3CDTF">2025-10-05T10:08:59Z</dcterms:created>
  <dcterms:modified xsi:type="dcterms:W3CDTF">2026-10-05T10:23:19Z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0x0101002F8597CAA107D94DBD46465D370C6836</vt:lpwstr>
  </property>
  <property fmtid="{D5CDD505-2E9C-101B-9397-08002B2CF9AE}" pid="3" name="MediaServiceImageTags">
    <vt:lpwstr/>
  </property>
</Properties>
</file>